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4.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5.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Barlow" panose="00000500000000000000" pitchFamily="2" charset="0"/>
      <p:regular r:id="rId25"/>
      <p:bold r:id="rId26"/>
      <p:italic r:id="rId27"/>
      <p:boldItalic r:id="rId28"/>
    </p:embeddedFont>
    <p:embeddedFont>
      <p:font typeface="Barlow ExtraLight" panose="00000300000000000000" pitchFamily="2" charset="0"/>
      <p:regular r:id="rId29"/>
      <p:bold r:id="rId30"/>
      <p:italic r:id="rId31"/>
      <p:boldItalic r:id="rId32"/>
    </p:embeddedFont>
    <p:embeddedFont>
      <p:font typeface="Barlow Light" panose="00000400000000000000" pitchFamily="2" charset="0"/>
      <p:regular r:id="rId33"/>
      <p:bold r:id="rId34"/>
      <p:italic r:id="rId35"/>
      <p:boldItalic r:id="rId36"/>
    </p:embeddedFont>
    <p:embeddedFont>
      <p:font typeface="Barlow Medium" panose="00000600000000000000" pitchFamily="2" charset="0"/>
      <p:regular r:id="rId37"/>
      <p:bold r:id="rId38"/>
      <p:italic r:id="rId39"/>
      <p:boldItalic r:id="rId40"/>
    </p:embeddedFont>
    <p:embeddedFont>
      <p:font typeface="Hepta Slab" panose="020B0604020202020204" charset="0"/>
      <p:regular r:id="rId41"/>
      <p:bold r:id="rId42"/>
    </p:embeddedFont>
    <p:embeddedFont>
      <p:font typeface="Hepta Slab Medium" panose="020B0604020202020204" charset="0"/>
      <p:regular r:id="rId43"/>
      <p:bold r:id="rId44"/>
    </p:embeddedFont>
    <p:embeddedFont>
      <p:font typeface="Hepta Slab SemiBold" panose="020B0604020202020204" charset="0"/>
      <p:regular r:id="rId45"/>
      <p:bold r:id="rId46"/>
    </p:embeddedFont>
    <p:embeddedFont>
      <p:font typeface="Poppins Light" panose="00000400000000000000" pitchFamily="2" charset="0"/>
      <p:regular r:id="rId47"/>
      <p:bold r:id="rId48"/>
      <p:italic r:id="rId49"/>
      <p:boldItalic r:id="rId50"/>
    </p:embeddedFont>
    <p:embeddedFont>
      <p:font typeface="Roboto Light" panose="02000000000000000000" pitchFamily="2"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Zfmd71RV9aOpJcJsug+K7j0V0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94AD23E-C4EC-43F6-968E-5AFA409B75AE}">
  <a:tblStyle styleId="{194AD23E-C4EC-43F6-968E-5AFA409B75AE}"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0" Type="http://schemas.openxmlformats.org/officeDocument/2006/relationships/font" Target="fonts/font26.fntdata"/><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schemas.openxmlformats.org/officeDocument/2006/relationships/font" Target="fonts/font29.fntdata"/><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48" Type="http://schemas.openxmlformats.org/officeDocument/2006/relationships/font" Target="fonts/font24.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font" Target="fonts/font3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schemas.openxmlformats.org/officeDocument/2006/relationships/font" Target="fonts/font25.fntdata"/><Relationship Id="rId10" Type="http://schemas.openxmlformats.org/officeDocument/2006/relationships/slide" Target="slides/slide9.xml"/><Relationship Id="rId31" Type="http://schemas.openxmlformats.org/officeDocument/2006/relationships/font" Target="fonts/font7.fntdata"/><Relationship Id="rId44" Type="http://schemas.openxmlformats.org/officeDocument/2006/relationships/font" Target="fonts/font20.fntdata"/><Relationship Id="rId52" Type="http://schemas.openxmlformats.org/officeDocument/2006/relationships/font" Target="fonts/font28.fntdata"/><Relationship Id="rId65"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enovo\Desktop\NEWTON\IT%20TICKET%20PROJECT\New%20folder\IT%20Ticket%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enovo\Desktop\NEWTON\IT%20TICKET%20PROJECT\New%20folder\IT%20Ticket%20-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enovo\Desktop\NEWTON\IT%20TICKET%20PROJECT\New%20folder\IT%20Ticket%20-Fin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enovo\Desktop\NEWTON\IT%20TICKET%20PROJECT\New%20folder\IT%20Ticket%20-Fin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lenovo\Desktop\NEWTON\IT%20TICKET%20PROJECT\New%20folder\IT%20Ticket%20-Fina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enovo\Desktop\NEWTON\IT%20TICKET%20PROJECT\New%20folder\IT%20Ticket%20-Fina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lenovo\Desktop\NEWTON\IT%20TICKET%20PROJECT\New%20folder\New%20folder\IT%20Ticket%20_EXCEL_Final.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-Final.xlsx]Q-4 I Objective!PivotTable2</c:name>
    <c:fmtId val="50"/>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Category Distribution</a:t>
            </a:r>
          </a:p>
        </c:rich>
      </c:tx>
      <c:layout>
        <c:manualLayout>
          <c:xMode val="edge"/>
          <c:yMode val="edge"/>
          <c:x val="0.17366318941369652"/>
          <c:y val="2.5350765306122448E-2"/>
        </c:manualLayout>
      </c:layout>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1"/>
        <c:dLbl>
          <c:idx val="0"/>
          <c:layout>
            <c:manualLayout>
              <c:x val="-6.2387296043068342E-2"/>
              <c:y val="0.12259952942775357"/>
            </c:manualLayout>
          </c:layout>
          <c:dLblPos val="bestFit"/>
          <c:showLegendKey val="0"/>
          <c:showVal val="0"/>
          <c:showCatName val="0"/>
          <c:showSerName val="0"/>
          <c:showPercent val="1"/>
          <c:showBubbleSize val="0"/>
          <c:extLst>
            <c:ext xmlns:c15="http://schemas.microsoft.com/office/drawing/2012/chart" uri="{CE6537A1-D6FC-4f65-9D91-7224C49458BB}"/>
          </c:extLst>
        </c:dLbl>
      </c:pivotFmt>
      <c:pivotFmt>
        <c:idx val="2"/>
      </c:pivotFmt>
      <c:pivotFmt>
        <c:idx val="3"/>
      </c:pivotFmt>
      <c:pivotFmt>
        <c:idx val="4"/>
      </c:pivotFmt>
      <c:pivotFmt>
        <c:idx val="5"/>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6"/>
        <c:dLbl>
          <c:idx val="0"/>
          <c:layout>
            <c:manualLayout>
              <c:x val="-6.2387296043068342E-2"/>
              <c:y val="0.12259952942775357"/>
            </c:manualLayout>
          </c:layout>
          <c:dLblPos val="bestFit"/>
          <c:showLegendKey val="0"/>
          <c:showVal val="0"/>
          <c:showCatName val="0"/>
          <c:showSerName val="0"/>
          <c:showPercent val="1"/>
          <c:showBubbleSize val="0"/>
          <c:extLst>
            <c:ext xmlns:c15="http://schemas.microsoft.com/office/drawing/2012/chart" uri="{CE6537A1-D6FC-4f65-9D91-7224C49458BB}"/>
          </c:extLst>
        </c:dLbl>
      </c:pivotFmt>
      <c:pivotFmt>
        <c:idx val="7"/>
      </c:pivotFmt>
      <c:pivotFmt>
        <c:idx val="8"/>
      </c:pivotFmt>
      <c:pivotFmt>
        <c:idx val="9"/>
      </c:pivotFmt>
      <c:pivotFmt>
        <c:idx val="10"/>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11"/>
        <c:dLbl>
          <c:idx val="0"/>
          <c:layout>
            <c:manualLayout>
              <c:x val="-6.2387296043068342E-2"/>
              <c:y val="0.12259952942775357"/>
            </c:manualLayout>
          </c:layout>
          <c:dLblPos val="bestFit"/>
          <c:showLegendKey val="0"/>
          <c:showVal val="0"/>
          <c:showCatName val="0"/>
          <c:showSerName val="0"/>
          <c:showPercent val="1"/>
          <c:showBubbleSize val="0"/>
          <c:extLst>
            <c:ext xmlns:c15="http://schemas.microsoft.com/office/drawing/2012/chart" uri="{CE6537A1-D6FC-4f65-9D91-7224C49458BB}"/>
          </c:extLst>
        </c:dLbl>
      </c:pivotFmt>
      <c:pivotFmt>
        <c:idx val="12"/>
      </c:pivotFmt>
      <c:pivotFmt>
        <c:idx val="13"/>
      </c:pivotFmt>
      <c:pivotFmt>
        <c:idx val="14"/>
      </c:pivotFmt>
      <c:pivotFmt>
        <c:idx val="1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2.4281826225913501E-3"/>
              <c:y val="2.2462877758024965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1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1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2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2.4281826225913501E-3"/>
              <c:y val="2.2462877758024965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2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2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2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dLbl>
          <c:idx val="0"/>
          <c:layout>
            <c:manualLayout>
              <c:x val="-2.4281826225913501E-3"/>
              <c:y val="2.2462877758024965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2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
        <c:idx val="2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'Q-4 I Objective'!$C$18</c:f>
              <c:strCache>
                <c:ptCount val="1"/>
                <c:pt idx="0">
                  <c:v>Total</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14E8-4121-8E34-EB68B97E0845}"/>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14E8-4121-8E34-EB68B97E0845}"/>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14E8-4121-8E34-EB68B97E0845}"/>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14E8-4121-8E34-EB68B97E084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'Q-4 I Objective'!$B$19:$B$23</c:f>
              <c:strCache>
                <c:ptCount val="4"/>
                <c:pt idx="0">
                  <c:v>Hardware</c:v>
                </c:pt>
                <c:pt idx="1">
                  <c:v>Login Access</c:v>
                </c:pt>
                <c:pt idx="2">
                  <c:v>Software</c:v>
                </c:pt>
                <c:pt idx="3">
                  <c:v>System</c:v>
                </c:pt>
              </c:strCache>
            </c:strRef>
          </c:cat>
          <c:val>
            <c:numRef>
              <c:f>'Q-4 I Objective'!$C$19:$C$23</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14E8-4121-8E34-EB68B97E0845}"/>
            </c:ext>
          </c:extLst>
        </c:ser>
        <c:dLbls>
          <c:showLegendKey val="0"/>
          <c:showVal val="0"/>
          <c:showCatName val="0"/>
          <c:showSerName val="0"/>
          <c:showPercent val="1"/>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-Final.xlsx]Q-3 I Subjective !PivotTable2</c:name>
    <c:fmtId val="40"/>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Avg. Resolution Time by Request Category (Quarter-wise) </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'Q-3 I Subjective '!$C$33:$C$34</c:f>
              <c:strCache>
                <c:ptCount val="1"/>
                <c:pt idx="0">
                  <c:v>Hardware</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'Q-3 I Subjective '!$B$35:$B$39</c:f>
              <c:strCache>
                <c:ptCount val="4"/>
                <c:pt idx="0">
                  <c:v>Q1</c:v>
                </c:pt>
                <c:pt idx="1">
                  <c:v>Q2</c:v>
                </c:pt>
                <c:pt idx="2">
                  <c:v>Q3</c:v>
                </c:pt>
                <c:pt idx="3">
                  <c:v>Q4</c:v>
                </c:pt>
              </c:strCache>
            </c:strRef>
          </c:cat>
          <c:val>
            <c:numRef>
              <c:f>'Q-3 I Subjective '!$C$35:$C$39</c:f>
              <c:numCache>
                <c:formatCode>0.00</c:formatCode>
                <c:ptCount val="4"/>
                <c:pt idx="0">
                  <c:v>7.7437185929648242</c:v>
                </c:pt>
                <c:pt idx="1">
                  <c:v>7.6847290640394093</c:v>
                </c:pt>
                <c:pt idx="2">
                  <c:v>7.5285714285714285</c:v>
                </c:pt>
                <c:pt idx="3">
                  <c:v>7.5481903212688088</c:v>
                </c:pt>
              </c:numCache>
            </c:numRef>
          </c:val>
          <c:extLst>
            <c:ext xmlns:c16="http://schemas.microsoft.com/office/drawing/2014/chart" uri="{C3380CC4-5D6E-409C-BE32-E72D297353CC}">
              <c16:uniqueId val="{00000000-BEE0-4C32-A762-128D88DE6DE2}"/>
            </c:ext>
          </c:extLst>
        </c:ser>
        <c:ser>
          <c:idx val="1"/>
          <c:order val="1"/>
          <c:tx>
            <c:strRef>
              <c:f>'Q-3 I Subjective '!$D$33:$D$34</c:f>
              <c:strCache>
                <c:ptCount val="1"/>
                <c:pt idx="0">
                  <c:v>System</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'Q-3 I Subjective '!$B$35:$B$39</c:f>
              <c:strCache>
                <c:ptCount val="4"/>
                <c:pt idx="0">
                  <c:v>Q1</c:v>
                </c:pt>
                <c:pt idx="1">
                  <c:v>Q2</c:v>
                </c:pt>
                <c:pt idx="2">
                  <c:v>Q3</c:v>
                </c:pt>
                <c:pt idx="3">
                  <c:v>Q4</c:v>
                </c:pt>
              </c:strCache>
            </c:strRef>
          </c:cat>
          <c:val>
            <c:numRef>
              <c:f>'Q-3 I Subjective '!$D$35:$D$39</c:f>
              <c:numCache>
                <c:formatCode>0.00</c:formatCode>
                <c:ptCount val="4"/>
                <c:pt idx="0">
                  <c:v>6.6398099146776106</c:v>
                </c:pt>
                <c:pt idx="1">
                  <c:v>6.642100935347929</c:v>
                </c:pt>
                <c:pt idx="2">
                  <c:v>6.5821828076186639</c:v>
                </c:pt>
                <c:pt idx="3">
                  <c:v>6.600733326726786</c:v>
                </c:pt>
              </c:numCache>
            </c:numRef>
          </c:val>
          <c:extLst>
            <c:ext xmlns:c16="http://schemas.microsoft.com/office/drawing/2014/chart" uri="{C3380CC4-5D6E-409C-BE32-E72D297353CC}">
              <c16:uniqueId val="{00000001-BEE0-4C32-A762-128D88DE6DE2}"/>
            </c:ext>
          </c:extLst>
        </c:ser>
        <c:ser>
          <c:idx val="2"/>
          <c:order val="2"/>
          <c:tx>
            <c:strRef>
              <c:f>'Q-3 I Subjective '!$E$33:$E$34</c:f>
              <c:strCache>
                <c:ptCount val="1"/>
                <c:pt idx="0">
                  <c:v>Software</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'Q-3 I Subjective '!$B$35:$B$39</c:f>
              <c:strCache>
                <c:ptCount val="4"/>
                <c:pt idx="0">
                  <c:v>Q1</c:v>
                </c:pt>
                <c:pt idx="1">
                  <c:v>Q2</c:v>
                </c:pt>
                <c:pt idx="2">
                  <c:v>Q3</c:v>
                </c:pt>
                <c:pt idx="3">
                  <c:v>Q4</c:v>
                </c:pt>
              </c:strCache>
            </c:strRef>
          </c:cat>
          <c:val>
            <c:numRef>
              <c:f>'Q-3 I Subjective '!$E$35:$E$39</c:f>
              <c:numCache>
                <c:formatCode>0.00</c:formatCode>
                <c:ptCount val="4"/>
                <c:pt idx="0">
                  <c:v>5.2396186440677965</c:v>
                </c:pt>
                <c:pt idx="1">
                  <c:v>5.2590348861499896</c:v>
                </c:pt>
                <c:pt idx="2">
                  <c:v>5.1592673700975515</c:v>
                </c:pt>
                <c:pt idx="3">
                  <c:v>5.2978174603174599</c:v>
                </c:pt>
              </c:numCache>
            </c:numRef>
          </c:val>
          <c:extLst>
            <c:ext xmlns:c16="http://schemas.microsoft.com/office/drawing/2014/chart" uri="{C3380CC4-5D6E-409C-BE32-E72D297353CC}">
              <c16:uniqueId val="{00000002-BEE0-4C32-A762-128D88DE6DE2}"/>
            </c:ext>
          </c:extLst>
        </c:ser>
        <c:ser>
          <c:idx val="3"/>
          <c:order val="3"/>
          <c:tx>
            <c:strRef>
              <c:f>'Q-3 I Subjective '!$F$33:$F$34</c:f>
              <c:strCache>
                <c:ptCount val="1"/>
                <c:pt idx="0">
                  <c:v>Login Access</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'Q-3 I Subjective '!$B$35:$B$39</c:f>
              <c:strCache>
                <c:ptCount val="4"/>
                <c:pt idx="0">
                  <c:v>Q1</c:v>
                </c:pt>
                <c:pt idx="1">
                  <c:v>Q2</c:v>
                </c:pt>
                <c:pt idx="2">
                  <c:v>Q3</c:v>
                </c:pt>
                <c:pt idx="3">
                  <c:v>Q4</c:v>
                </c:pt>
              </c:strCache>
            </c:strRef>
          </c:cat>
          <c:val>
            <c:numRef>
              <c:f>'Q-3 I Subjective '!$F$35:$F$39</c:f>
              <c:numCache>
                <c:formatCode>0.00</c:formatCode>
                <c:ptCount val="4"/>
                <c:pt idx="0">
                  <c:v>0.30982295830953743</c:v>
                </c:pt>
                <c:pt idx="1">
                  <c:v>0.32385814819925485</c:v>
                </c:pt>
                <c:pt idx="2">
                  <c:v>0.31265239772419401</c:v>
                </c:pt>
                <c:pt idx="3">
                  <c:v>0.30899470899470899</c:v>
                </c:pt>
              </c:numCache>
            </c:numRef>
          </c:val>
          <c:extLst>
            <c:ext xmlns:c16="http://schemas.microsoft.com/office/drawing/2014/chart" uri="{C3380CC4-5D6E-409C-BE32-E72D297353CC}">
              <c16:uniqueId val="{00000003-BEE0-4C32-A762-128D88DE6DE2}"/>
            </c:ext>
          </c:extLst>
        </c:ser>
        <c:dLbls>
          <c:showLegendKey val="0"/>
          <c:showVal val="0"/>
          <c:showCatName val="0"/>
          <c:showSerName val="0"/>
          <c:showPercent val="0"/>
          <c:showBubbleSize val="0"/>
        </c:dLbls>
        <c:gapWidth val="115"/>
        <c:overlap val="-20"/>
        <c:axId val="1786459199"/>
        <c:axId val="1786460159"/>
      </c:barChart>
      <c:catAx>
        <c:axId val="1786459199"/>
        <c:scaling>
          <c:orientation val="minMax"/>
        </c:scaling>
        <c:delete val="0"/>
        <c:axPos val="l"/>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Quater </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786460159"/>
        <c:crosses val="autoZero"/>
        <c:auto val="1"/>
        <c:lblAlgn val="ctr"/>
        <c:lblOffset val="100"/>
        <c:noMultiLvlLbl val="0"/>
      </c:catAx>
      <c:valAx>
        <c:axId val="1786460159"/>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Value</a:t>
                </a:r>
              </a:p>
            </c:rich>
          </c:tx>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78645919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-Final.xlsx]Q-6 I Subjective!PivotTable2</c:name>
    <c:fmtId val="27"/>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a:t>Average Resolution Time by Severity</a:t>
            </a:r>
            <a:endParaRPr lang="en-US"/>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cene3d>
            <a:camera prst="orthographicFront">
              <a:rot lat="0" lon="0" rev="0"/>
            </a:camera>
            <a:lightRig rig="threePt" dir="t">
              <a:rot lat="0" lon="0" rev="1200000"/>
            </a:lightRig>
          </a:scene3d>
          <a:sp3d>
            <a:bevelT w="635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'Q-6 I Subjective'!$C$65</c:f>
              <c:strCache>
                <c:ptCount val="1"/>
                <c:pt idx="0">
                  <c:v>Total</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'Q-6 I Subjective'!$B$66:$B$71</c:f>
              <c:strCache>
                <c:ptCount val="5"/>
                <c:pt idx="0">
                  <c:v>0 - Unclasified</c:v>
                </c:pt>
                <c:pt idx="1">
                  <c:v>1 - Minor</c:v>
                </c:pt>
                <c:pt idx="2">
                  <c:v>2 - Normal</c:v>
                </c:pt>
                <c:pt idx="3">
                  <c:v>3 - Mayor</c:v>
                </c:pt>
                <c:pt idx="4">
                  <c:v>4 - Urgent</c:v>
                </c:pt>
              </c:strCache>
            </c:strRef>
          </c:cat>
          <c:val>
            <c:numRef>
              <c:f>'Q-6 I Subjective'!$C$66:$C$71</c:f>
              <c:numCache>
                <c:formatCode>0.00</c:formatCode>
                <c:ptCount val="5"/>
                <c:pt idx="0">
                  <c:v>2.8764044943820224</c:v>
                </c:pt>
                <c:pt idx="1">
                  <c:v>3.4353410097431354</c:v>
                </c:pt>
                <c:pt idx="2">
                  <c:v>4.6636099079588522</c:v>
                </c:pt>
                <c:pt idx="3">
                  <c:v>3.9079818031430933</c:v>
                </c:pt>
                <c:pt idx="4">
                  <c:v>2.0014367816091956</c:v>
                </c:pt>
              </c:numCache>
            </c:numRef>
          </c:val>
          <c:smooth val="0"/>
          <c:extLst>
            <c:ext xmlns:c16="http://schemas.microsoft.com/office/drawing/2014/chart" uri="{C3380CC4-5D6E-409C-BE32-E72D297353CC}">
              <c16:uniqueId val="{00000000-BF4F-4E37-8D91-44DEAE84F972}"/>
            </c:ext>
          </c:extLst>
        </c:ser>
        <c:dLbls>
          <c:showLegendKey val="0"/>
          <c:showVal val="0"/>
          <c:showCatName val="0"/>
          <c:showSerName val="0"/>
          <c:showPercent val="0"/>
          <c:showBubbleSize val="0"/>
        </c:dLbls>
        <c:smooth val="0"/>
        <c:axId val="1434494704"/>
        <c:axId val="1434480304"/>
      </c:lineChart>
      <c:catAx>
        <c:axId val="1434494704"/>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34480304"/>
        <c:crosses val="autoZero"/>
        <c:auto val="1"/>
        <c:lblAlgn val="ctr"/>
        <c:lblOffset val="100"/>
        <c:noMultiLvlLbl val="0"/>
      </c:catAx>
      <c:valAx>
        <c:axId val="1434480304"/>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34494704"/>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-Final.xlsx]Q-5 I Subjective !PivotTable2</c:name>
    <c:fmtId val="9"/>
  </c:pivotSource>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en-GB"/>
              <a:t>Ticket Volume Trend</a:t>
            </a:r>
            <a:endParaRPr lang="en-US"/>
          </a:p>
          <a:p>
            <a:pPr>
              <a:defRPr/>
            </a:pP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noFill/>
          <a:ln w="9525" cap="flat" cmpd="sng" algn="ctr">
            <a:solidFill>
              <a:schemeClr val="accent2"/>
            </a:solidFill>
            <a:miter lim="800000"/>
          </a:ln>
          <a:effectLst>
            <a:glow rad="63500">
              <a:schemeClr val="accent2">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9525" cap="flat" cmpd="sng" algn="ctr">
            <a:solidFill>
              <a:schemeClr val="accent2"/>
            </a:solidFill>
            <a:miter lim="800000"/>
          </a:ln>
          <a:effectLst>
            <a:glow rad="63500">
              <a:schemeClr val="accent2">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9525" cap="flat" cmpd="sng" algn="ctr">
            <a:solidFill>
              <a:schemeClr val="accent2"/>
            </a:solidFill>
            <a:miter lim="800000"/>
          </a:ln>
          <a:effectLst>
            <a:glow rad="63500">
              <a:schemeClr val="accent2">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'Q-5 I Subjective '!$C$11</c:f>
              <c:strCache>
                <c:ptCount val="1"/>
                <c:pt idx="0">
                  <c:v>Total</c:v>
                </c:pt>
              </c:strCache>
            </c:strRef>
          </c:tx>
          <c:spPr>
            <a:ln w="22225" cap="rnd">
              <a:solidFill>
                <a:schemeClr val="accent2"/>
              </a:solidFill>
            </a:ln>
            <a:effectLst>
              <a:glow rad="139700">
                <a:schemeClr val="accent2">
                  <a:satMod val="175000"/>
                  <a:alpha val="14000"/>
                </a:schemeClr>
              </a:glow>
            </a:effectLst>
          </c:spPr>
          <c:marker>
            <c:symbol val="none"/>
          </c:marker>
          <c:cat>
            <c:strRef>
              <c:f>'Q-5 I Subjective '!$B$12:$B$72</c:f>
              <c:strCache>
                <c:ptCount val="60"/>
                <c:pt idx="0">
                  <c:v>Apr-2016</c:v>
                </c:pt>
                <c:pt idx="1">
                  <c:v>Apr-2017</c:v>
                </c:pt>
                <c:pt idx="2">
                  <c:v>Apr-2018</c:v>
                </c:pt>
                <c:pt idx="3">
                  <c:v>Apr-2019</c:v>
                </c:pt>
                <c:pt idx="4">
                  <c:v>Apr-2020</c:v>
                </c:pt>
                <c:pt idx="5">
                  <c:v>Aug-2016</c:v>
                </c:pt>
                <c:pt idx="6">
                  <c:v>Aug-2017</c:v>
                </c:pt>
                <c:pt idx="7">
                  <c:v>Aug-2018</c:v>
                </c:pt>
                <c:pt idx="8">
                  <c:v>Aug-2019</c:v>
                </c:pt>
                <c:pt idx="9">
                  <c:v>Aug-2020</c:v>
                </c:pt>
                <c:pt idx="10">
                  <c:v>Dec-2016</c:v>
                </c:pt>
                <c:pt idx="11">
                  <c:v>Dec-2017</c:v>
                </c:pt>
                <c:pt idx="12">
                  <c:v>Dec-2018</c:v>
                </c:pt>
                <c:pt idx="13">
                  <c:v>Dec-2019</c:v>
                </c:pt>
                <c:pt idx="14">
                  <c:v>Dec-2020</c:v>
                </c:pt>
                <c:pt idx="15">
                  <c:v>Feb-2016</c:v>
                </c:pt>
                <c:pt idx="16">
                  <c:v>Feb-2017</c:v>
                </c:pt>
                <c:pt idx="17">
                  <c:v>Feb-2018</c:v>
                </c:pt>
                <c:pt idx="18">
                  <c:v>Feb-2019</c:v>
                </c:pt>
                <c:pt idx="19">
                  <c:v>Feb-2020</c:v>
                </c:pt>
                <c:pt idx="20">
                  <c:v>Jan-2016</c:v>
                </c:pt>
                <c:pt idx="21">
                  <c:v>Jan-2017</c:v>
                </c:pt>
                <c:pt idx="22">
                  <c:v>Jan-2018</c:v>
                </c:pt>
                <c:pt idx="23">
                  <c:v>Jan-2019</c:v>
                </c:pt>
                <c:pt idx="24">
                  <c:v>Jan-2020</c:v>
                </c:pt>
                <c:pt idx="25">
                  <c:v>Jul-2016</c:v>
                </c:pt>
                <c:pt idx="26">
                  <c:v>Jul-2017</c:v>
                </c:pt>
                <c:pt idx="27">
                  <c:v>Jul-2018</c:v>
                </c:pt>
                <c:pt idx="28">
                  <c:v>Jul-2019</c:v>
                </c:pt>
                <c:pt idx="29">
                  <c:v>Jul-2020</c:v>
                </c:pt>
                <c:pt idx="30">
                  <c:v>Jun-2016</c:v>
                </c:pt>
                <c:pt idx="31">
                  <c:v>Jun-2017</c:v>
                </c:pt>
                <c:pt idx="32">
                  <c:v>Jun-2018</c:v>
                </c:pt>
                <c:pt idx="33">
                  <c:v>Jun-2019</c:v>
                </c:pt>
                <c:pt idx="34">
                  <c:v>Jun-2020</c:v>
                </c:pt>
                <c:pt idx="35">
                  <c:v>Mar-2016</c:v>
                </c:pt>
                <c:pt idx="36">
                  <c:v>Mar-2017</c:v>
                </c:pt>
                <c:pt idx="37">
                  <c:v>Mar-2018</c:v>
                </c:pt>
                <c:pt idx="38">
                  <c:v>Mar-2019</c:v>
                </c:pt>
                <c:pt idx="39">
                  <c:v>Mar-2020</c:v>
                </c:pt>
                <c:pt idx="40">
                  <c:v>May-2016</c:v>
                </c:pt>
                <c:pt idx="41">
                  <c:v>May-2017</c:v>
                </c:pt>
                <c:pt idx="42">
                  <c:v>May-2018</c:v>
                </c:pt>
                <c:pt idx="43">
                  <c:v>May-2019</c:v>
                </c:pt>
                <c:pt idx="44">
                  <c:v>May-2020</c:v>
                </c:pt>
                <c:pt idx="45">
                  <c:v>Nov-2016</c:v>
                </c:pt>
                <c:pt idx="46">
                  <c:v>Nov-2017</c:v>
                </c:pt>
                <c:pt idx="47">
                  <c:v>Nov-2018</c:v>
                </c:pt>
                <c:pt idx="48">
                  <c:v>Nov-2019</c:v>
                </c:pt>
                <c:pt idx="49">
                  <c:v>Nov-2020</c:v>
                </c:pt>
                <c:pt idx="50">
                  <c:v>Oct-2016</c:v>
                </c:pt>
                <c:pt idx="51">
                  <c:v>Oct-2017</c:v>
                </c:pt>
                <c:pt idx="52">
                  <c:v>Oct-2018</c:v>
                </c:pt>
                <c:pt idx="53">
                  <c:v>Oct-2019</c:v>
                </c:pt>
                <c:pt idx="54">
                  <c:v>Oct-2020</c:v>
                </c:pt>
                <c:pt idx="55">
                  <c:v>Sep-2016</c:v>
                </c:pt>
                <c:pt idx="56">
                  <c:v>Sep-2017</c:v>
                </c:pt>
                <c:pt idx="57">
                  <c:v>Sep-2018</c:v>
                </c:pt>
                <c:pt idx="58">
                  <c:v>Sep-2019</c:v>
                </c:pt>
                <c:pt idx="59">
                  <c:v>Sep-2020</c:v>
                </c:pt>
              </c:strCache>
            </c:strRef>
          </c:cat>
          <c:val>
            <c:numRef>
              <c:f>'Q-5 I Subjective '!$C$12:$C$72</c:f>
              <c:numCache>
                <c:formatCode>General</c:formatCode>
                <c:ptCount val="60"/>
                <c:pt idx="0">
                  <c:v>1054</c:v>
                </c:pt>
                <c:pt idx="1">
                  <c:v>1245</c:v>
                </c:pt>
                <c:pt idx="2">
                  <c:v>1627</c:v>
                </c:pt>
                <c:pt idx="3">
                  <c:v>1598</c:v>
                </c:pt>
                <c:pt idx="4">
                  <c:v>2413</c:v>
                </c:pt>
                <c:pt idx="5">
                  <c:v>1090</c:v>
                </c:pt>
                <c:pt idx="6">
                  <c:v>1259</c:v>
                </c:pt>
                <c:pt idx="7">
                  <c:v>1669</c:v>
                </c:pt>
                <c:pt idx="8">
                  <c:v>1905</c:v>
                </c:pt>
                <c:pt idx="9">
                  <c:v>2566</c:v>
                </c:pt>
                <c:pt idx="10">
                  <c:v>1124</c:v>
                </c:pt>
                <c:pt idx="11">
                  <c:v>1257</c:v>
                </c:pt>
                <c:pt idx="12">
                  <c:v>1539</c:v>
                </c:pt>
                <c:pt idx="13">
                  <c:v>1872</c:v>
                </c:pt>
                <c:pt idx="14">
                  <c:v>2609</c:v>
                </c:pt>
                <c:pt idx="15">
                  <c:v>1056</c:v>
                </c:pt>
                <c:pt idx="16">
                  <c:v>1151</c:v>
                </c:pt>
                <c:pt idx="17">
                  <c:v>1507</c:v>
                </c:pt>
                <c:pt idx="18">
                  <c:v>1746</c:v>
                </c:pt>
                <c:pt idx="19">
                  <c:v>2441</c:v>
                </c:pt>
                <c:pt idx="20">
                  <c:v>1115</c:v>
                </c:pt>
                <c:pt idx="21">
                  <c:v>1125</c:v>
                </c:pt>
                <c:pt idx="22">
                  <c:v>1289</c:v>
                </c:pt>
                <c:pt idx="23">
                  <c:v>1522</c:v>
                </c:pt>
                <c:pt idx="24">
                  <c:v>2191</c:v>
                </c:pt>
                <c:pt idx="25">
                  <c:v>1101</c:v>
                </c:pt>
                <c:pt idx="26">
                  <c:v>1233</c:v>
                </c:pt>
                <c:pt idx="27">
                  <c:v>1620</c:v>
                </c:pt>
                <c:pt idx="28">
                  <c:v>1885</c:v>
                </c:pt>
                <c:pt idx="29">
                  <c:v>2231</c:v>
                </c:pt>
                <c:pt idx="30">
                  <c:v>1051</c:v>
                </c:pt>
                <c:pt idx="31">
                  <c:v>1244</c:v>
                </c:pt>
                <c:pt idx="32">
                  <c:v>1656</c:v>
                </c:pt>
                <c:pt idx="33">
                  <c:v>1820</c:v>
                </c:pt>
                <c:pt idx="34">
                  <c:v>2370</c:v>
                </c:pt>
                <c:pt idx="35">
                  <c:v>1105</c:v>
                </c:pt>
                <c:pt idx="36">
                  <c:v>1283</c:v>
                </c:pt>
                <c:pt idx="37">
                  <c:v>1470</c:v>
                </c:pt>
                <c:pt idx="38">
                  <c:v>1846</c:v>
                </c:pt>
                <c:pt idx="39">
                  <c:v>2524</c:v>
                </c:pt>
                <c:pt idx="40">
                  <c:v>1160</c:v>
                </c:pt>
                <c:pt idx="41">
                  <c:v>1345</c:v>
                </c:pt>
                <c:pt idx="42">
                  <c:v>1653</c:v>
                </c:pt>
                <c:pt idx="43">
                  <c:v>1734</c:v>
                </c:pt>
                <c:pt idx="44">
                  <c:v>2229</c:v>
                </c:pt>
                <c:pt idx="45">
                  <c:v>1046</c:v>
                </c:pt>
                <c:pt idx="46">
                  <c:v>1243</c:v>
                </c:pt>
                <c:pt idx="47">
                  <c:v>1626</c:v>
                </c:pt>
                <c:pt idx="48">
                  <c:v>1831</c:v>
                </c:pt>
                <c:pt idx="49">
                  <c:v>2508</c:v>
                </c:pt>
                <c:pt idx="50">
                  <c:v>1088</c:v>
                </c:pt>
                <c:pt idx="51">
                  <c:v>1305</c:v>
                </c:pt>
                <c:pt idx="52">
                  <c:v>1660</c:v>
                </c:pt>
                <c:pt idx="53">
                  <c:v>1875</c:v>
                </c:pt>
                <c:pt idx="54">
                  <c:v>2567</c:v>
                </c:pt>
                <c:pt idx="55">
                  <c:v>1061</c:v>
                </c:pt>
                <c:pt idx="56">
                  <c:v>1225</c:v>
                </c:pt>
                <c:pt idx="57">
                  <c:v>1638</c:v>
                </c:pt>
                <c:pt idx="58">
                  <c:v>1856</c:v>
                </c:pt>
                <c:pt idx="59">
                  <c:v>2439</c:v>
                </c:pt>
              </c:numCache>
            </c:numRef>
          </c:val>
          <c:smooth val="0"/>
          <c:extLst>
            <c:ext xmlns:c16="http://schemas.microsoft.com/office/drawing/2014/chart" uri="{C3380CC4-5D6E-409C-BE32-E72D297353CC}">
              <c16:uniqueId val="{00000000-B2A8-4DAB-81E6-B15285A5A447}"/>
            </c:ext>
          </c:extLst>
        </c:ser>
        <c:dLbls>
          <c:showLegendKey val="0"/>
          <c:showVal val="0"/>
          <c:showCatName val="0"/>
          <c:showSerName val="0"/>
          <c:showPercent val="0"/>
          <c:showBubbleSize val="0"/>
        </c:dLbls>
        <c:smooth val="0"/>
        <c:axId val="1418602240"/>
        <c:axId val="1418596480"/>
      </c:lineChart>
      <c:catAx>
        <c:axId val="1418602240"/>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a:t>Month-Year</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418596480"/>
        <c:crosses val="autoZero"/>
        <c:auto val="1"/>
        <c:lblAlgn val="ctr"/>
        <c:lblOffset val="100"/>
        <c:noMultiLvlLbl val="0"/>
      </c:catAx>
      <c:valAx>
        <c:axId val="1418596480"/>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en-US"/>
                  <a:t>Count of Ticket </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en-US"/>
          </a:p>
        </c:txPr>
        <c:crossAx val="14186022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-Final.xlsx]Q-9 I Subjective!PivotTable9</c:name>
    <c:fmtId val="44"/>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Ticket Vs Satisfaction Rate </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'Q-9 I Subjective'!$C$26</c:f>
              <c:strCache>
                <c:ptCount val="1"/>
                <c:pt idx="0">
                  <c:v>Count of ID Ticket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'Q-9 I Subjective'!$B$27:$B$87</c:f>
              <c:strCache>
                <c:ptCount val="60"/>
                <c:pt idx="0">
                  <c:v>Apr-2016</c:v>
                </c:pt>
                <c:pt idx="1">
                  <c:v>Apr-2017</c:v>
                </c:pt>
                <c:pt idx="2">
                  <c:v>Apr-2018</c:v>
                </c:pt>
                <c:pt idx="3">
                  <c:v>Apr-2019</c:v>
                </c:pt>
                <c:pt idx="4">
                  <c:v>Apr-2020</c:v>
                </c:pt>
                <c:pt idx="5">
                  <c:v>Aug-2016</c:v>
                </c:pt>
                <c:pt idx="6">
                  <c:v>Aug-2017</c:v>
                </c:pt>
                <c:pt idx="7">
                  <c:v>Aug-2018</c:v>
                </c:pt>
                <c:pt idx="8">
                  <c:v>Aug-2019</c:v>
                </c:pt>
                <c:pt idx="9">
                  <c:v>Aug-2020</c:v>
                </c:pt>
                <c:pt idx="10">
                  <c:v>Dec-2016</c:v>
                </c:pt>
                <c:pt idx="11">
                  <c:v>Dec-2017</c:v>
                </c:pt>
                <c:pt idx="12">
                  <c:v>Dec-2018</c:v>
                </c:pt>
                <c:pt idx="13">
                  <c:v>Dec-2019</c:v>
                </c:pt>
                <c:pt idx="14">
                  <c:v>Dec-2020</c:v>
                </c:pt>
                <c:pt idx="15">
                  <c:v>Feb-2016</c:v>
                </c:pt>
                <c:pt idx="16">
                  <c:v>Feb-2017</c:v>
                </c:pt>
                <c:pt idx="17">
                  <c:v>Feb-2018</c:v>
                </c:pt>
                <c:pt idx="18">
                  <c:v>Feb-2019</c:v>
                </c:pt>
                <c:pt idx="19">
                  <c:v>Feb-2020</c:v>
                </c:pt>
                <c:pt idx="20">
                  <c:v>Jan-2016</c:v>
                </c:pt>
                <c:pt idx="21">
                  <c:v>Jan-2017</c:v>
                </c:pt>
                <c:pt idx="22">
                  <c:v>Jan-2018</c:v>
                </c:pt>
                <c:pt idx="23">
                  <c:v>Jan-2019</c:v>
                </c:pt>
                <c:pt idx="24">
                  <c:v>Jan-2020</c:v>
                </c:pt>
                <c:pt idx="25">
                  <c:v>Jul-2016</c:v>
                </c:pt>
                <c:pt idx="26">
                  <c:v>Jul-2017</c:v>
                </c:pt>
                <c:pt idx="27">
                  <c:v>Jul-2018</c:v>
                </c:pt>
                <c:pt idx="28">
                  <c:v>Jul-2019</c:v>
                </c:pt>
                <c:pt idx="29">
                  <c:v>Jul-2020</c:v>
                </c:pt>
                <c:pt idx="30">
                  <c:v>Jun-2016</c:v>
                </c:pt>
                <c:pt idx="31">
                  <c:v>Jun-2017</c:v>
                </c:pt>
                <c:pt idx="32">
                  <c:v>Jun-2018</c:v>
                </c:pt>
                <c:pt idx="33">
                  <c:v>Jun-2019</c:v>
                </c:pt>
                <c:pt idx="34">
                  <c:v>Jun-2020</c:v>
                </c:pt>
                <c:pt idx="35">
                  <c:v>Mar-2016</c:v>
                </c:pt>
                <c:pt idx="36">
                  <c:v>Mar-2017</c:v>
                </c:pt>
                <c:pt idx="37">
                  <c:v>Mar-2018</c:v>
                </c:pt>
                <c:pt idx="38">
                  <c:v>Mar-2019</c:v>
                </c:pt>
                <c:pt idx="39">
                  <c:v>Mar-2020</c:v>
                </c:pt>
                <c:pt idx="40">
                  <c:v>May-2016</c:v>
                </c:pt>
                <c:pt idx="41">
                  <c:v>May-2017</c:v>
                </c:pt>
                <c:pt idx="42">
                  <c:v>May-2018</c:v>
                </c:pt>
                <c:pt idx="43">
                  <c:v>May-2019</c:v>
                </c:pt>
                <c:pt idx="44">
                  <c:v>May-2020</c:v>
                </c:pt>
                <c:pt idx="45">
                  <c:v>Nov-2016</c:v>
                </c:pt>
                <c:pt idx="46">
                  <c:v>Nov-2017</c:v>
                </c:pt>
                <c:pt idx="47">
                  <c:v>Nov-2018</c:v>
                </c:pt>
                <c:pt idx="48">
                  <c:v>Nov-2019</c:v>
                </c:pt>
                <c:pt idx="49">
                  <c:v>Nov-2020</c:v>
                </c:pt>
                <c:pt idx="50">
                  <c:v>Oct-2016</c:v>
                </c:pt>
                <c:pt idx="51">
                  <c:v>Oct-2017</c:v>
                </c:pt>
                <c:pt idx="52">
                  <c:v>Oct-2018</c:v>
                </c:pt>
                <c:pt idx="53">
                  <c:v>Oct-2019</c:v>
                </c:pt>
                <c:pt idx="54">
                  <c:v>Oct-2020</c:v>
                </c:pt>
                <c:pt idx="55">
                  <c:v>Sep-2016</c:v>
                </c:pt>
                <c:pt idx="56">
                  <c:v>Sep-2017</c:v>
                </c:pt>
                <c:pt idx="57">
                  <c:v>Sep-2018</c:v>
                </c:pt>
                <c:pt idx="58">
                  <c:v>Sep-2019</c:v>
                </c:pt>
                <c:pt idx="59">
                  <c:v>Sep-2020</c:v>
                </c:pt>
              </c:strCache>
            </c:strRef>
          </c:cat>
          <c:val>
            <c:numRef>
              <c:f>'Q-9 I Subjective'!$C$27:$C$87</c:f>
              <c:numCache>
                <c:formatCode>General</c:formatCode>
                <c:ptCount val="60"/>
                <c:pt idx="0">
                  <c:v>1054</c:v>
                </c:pt>
                <c:pt idx="1">
                  <c:v>1245</c:v>
                </c:pt>
                <c:pt idx="2">
                  <c:v>1627</c:v>
                </c:pt>
                <c:pt idx="3">
                  <c:v>1598</c:v>
                </c:pt>
                <c:pt idx="4">
                  <c:v>2413</c:v>
                </c:pt>
                <c:pt idx="5">
                  <c:v>1090</c:v>
                </c:pt>
                <c:pt idx="6">
                  <c:v>1259</c:v>
                </c:pt>
                <c:pt idx="7">
                  <c:v>1669</c:v>
                </c:pt>
                <c:pt idx="8">
                  <c:v>1905</c:v>
                </c:pt>
                <c:pt idx="9">
                  <c:v>2566</c:v>
                </c:pt>
                <c:pt idx="10">
                  <c:v>1124</c:v>
                </c:pt>
                <c:pt idx="11">
                  <c:v>1257</c:v>
                </c:pt>
                <c:pt idx="12">
                  <c:v>1539</c:v>
                </c:pt>
                <c:pt idx="13">
                  <c:v>1872</c:v>
                </c:pt>
                <c:pt idx="14">
                  <c:v>2609</c:v>
                </c:pt>
                <c:pt idx="15">
                  <c:v>1056</c:v>
                </c:pt>
                <c:pt idx="16">
                  <c:v>1151</c:v>
                </c:pt>
                <c:pt idx="17">
                  <c:v>1507</c:v>
                </c:pt>
                <c:pt idx="18">
                  <c:v>1746</c:v>
                </c:pt>
                <c:pt idx="19">
                  <c:v>2441</c:v>
                </c:pt>
                <c:pt idx="20">
                  <c:v>1115</c:v>
                </c:pt>
                <c:pt idx="21">
                  <c:v>1125</c:v>
                </c:pt>
                <c:pt idx="22">
                  <c:v>1289</c:v>
                </c:pt>
                <c:pt idx="23">
                  <c:v>1522</c:v>
                </c:pt>
                <c:pt idx="24">
                  <c:v>2191</c:v>
                </c:pt>
                <c:pt idx="25">
                  <c:v>1101</c:v>
                </c:pt>
                <c:pt idx="26">
                  <c:v>1233</c:v>
                </c:pt>
                <c:pt idx="27">
                  <c:v>1620</c:v>
                </c:pt>
                <c:pt idx="28">
                  <c:v>1885</c:v>
                </c:pt>
                <c:pt idx="29">
                  <c:v>2231</c:v>
                </c:pt>
                <c:pt idx="30">
                  <c:v>1051</c:v>
                </c:pt>
                <c:pt idx="31">
                  <c:v>1244</c:v>
                </c:pt>
                <c:pt idx="32">
                  <c:v>1656</c:v>
                </c:pt>
                <c:pt idx="33">
                  <c:v>1820</c:v>
                </c:pt>
                <c:pt idx="34">
                  <c:v>2370</c:v>
                </c:pt>
                <c:pt idx="35">
                  <c:v>1105</c:v>
                </c:pt>
                <c:pt idx="36">
                  <c:v>1283</c:v>
                </c:pt>
                <c:pt idx="37">
                  <c:v>1470</c:v>
                </c:pt>
                <c:pt idx="38">
                  <c:v>1846</c:v>
                </c:pt>
                <c:pt idx="39">
                  <c:v>2524</c:v>
                </c:pt>
                <c:pt idx="40">
                  <c:v>1160</c:v>
                </c:pt>
                <c:pt idx="41">
                  <c:v>1345</c:v>
                </c:pt>
                <c:pt idx="42">
                  <c:v>1653</c:v>
                </c:pt>
                <c:pt idx="43">
                  <c:v>1734</c:v>
                </c:pt>
                <c:pt idx="44">
                  <c:v>2229</c:v>
                </c:pt>
                <c:pt idx="45">
                  <c:v>1046</c:v>
                </c:pt>
                <c:pt idx="46">
                  <c:v>1243</c:v>
                </c:pt>
                <c:pt idx="47">
                  <c:v>1626</c:v>
                </c:pt>
                <c:pt idx="48">
                  <c:v>1831</c:v>
                </c:pt>
                <c:pt idx="49">
                  <c:v>2508</c:v>
                </c:pt>
                <c:pt idx="50">
                  <c:v>1088</c:v>
                </c:pt>
                <c:pt idx="51">
                  <c:v>1305</c:v>
                </c:pt>
                <c:pt idx="52">
                  <c:v>1660</c:v>
                </c:pt>
                <c:pt idx="53">
                  <c:v>1875</c:v>
                </c:pt>
                <c:pt idx="54">
                  <c:v>2567</c:v>
                </c:pt>
                <c:pt idx="55">
                  <c:v>1061</c:v>
                </c:pt>
                <c:pt idx="56">
                  <c:v>1225</c:v>
                </c:pt>
                <c:pt idx="57">
                  <c:v>1638</c:v>
                </c:pt>
                <c:pt idx="58">
                  <c:v>1856</c:v>
                </c:pt>
                <c:pt idx="59">
                  <c:v>2439</c:v>
                </c:pt>
              </c:numCache>
            </c:numRef>
          </c:val>
          <c:extLst>
            <c:ext xmlns:c16="http://schemas.microsoft.com/office/drawing/2014/chart" uri="{C3380CC4-5D6E-409C-BE32-E72D297353CC}">
              <c16:uniqueId val="{00000000-3C5D-4478-AEA3-4F2ED4F21DA6}"/>
            </c:ext>
          </c:extLst>
        </c:ser>
        <c:dLbls>
          <c:showLegendKey val="0"/>
          <c:showVal val="0"/>
          <c:showCatName val="0"/>
          <c:showSerName val="0"/>
          <c:showPercent val="0"/>
          <c:showBubbleSize val="0"/>
        </c:dLbls>
        <c:gapWidth val="219"/>
        <c:axId val="51146767"/>
        <c:axId val="51131407"/>
      </c:barChart>
      <c:lineChart>
        <c:grouping val="stacked"/>
        <c:varyColors val="0"/>
        <c:ser>
          <c:idx val="1"/>
          <c:order val="1"/>
          <c:tx>
            <c:strRef>
              <c:f>'Q-9 I Subjective'!$D$26</c:f>
              <c:strCache>
                <c:ptCount val="1"/>
                <c:pt idx="0">
                  <c:v>Average of Satisfaction Rate</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'Q-9 I Subjective'!$B$27:$B$87</c:f>
              <c:strCache>
                <c:ptCount val="60"/>
                <c:pt idx="0">
                  <c:v>Apr-2016</c:v>
                </c:pt>
                <c:pt idx="1">
                  <c:v>Apr-2017</c:v>
                </c:pt>
                <c:pt idx="2">
                  <c:v>Apr-2018</c:v>
                </c:pt>
                <c:pt idx="3">
                  <c:v>Apr-2019</c:v>
                </c:pt>
                <c:pt idx="4">
                  <c:v>Apr-2020</c:v>
                </c:pt>
                <c:pt idx="5">
                  <c:v>Aug-2016</c:v>
                </c:pt>
                <c:pt idx="6">
                  <c:v>Aug-2017</c:v>
                </c:pt>
                <c:pt idx="7">
                  <c:v>Aug-2018</c:v>
                </c:pt>
                <c:pt idx="8">
                  <c:v>Aug-2019</c:v>
                </c:pt>
                <c:pt idx="9">
                  <c:v>Aug-2020</c:v>
                </c:pt>
                <c:pt idx="10">
                  <c:v>Dec-2016</c:v>
                </c:pt>
                <c:pt idx="11">
                  <c:v>Dec-2017</c:v>
                </c:pt>
                <c:pt idx="12">
                  <c:v>Dec-2018</c:v>
                </c:pt>
                <c:pt idx="13">
                  <c:v>Dec-2019</c:v>
                </c:pt>
                <c:pt idx="14">
                  <c:v>Dec-2020</c:v>
                </c:pt>
                <c:pt idx="15">
                  <c:v>Feb-2016</c:v>
                </c:pt>
                <c:pt idx="16">
                  <c:v>Feb-2017</c:v>
                </c:pt>
                <c:pt idx="17">
                  <c:v>Feb-2018</c:v>
                </c:pt>
                <c:pt idx="18">
                  <c:v>Feb-2019</c:v>
                </c:pt>
                <c:pt idx="19">
                  <c:v>Feb-2020</c:v>
                </c:pt>
                <c:pt idx="20">
                  <c:v>Jan-2016</c:v>
                </c:pt>
                <c:pt idx="21">
                  <c:v>Jan-2017</c:v>
                </c:pt>
                <c:pt idx="22">
                  <c:v>Jan-2018</c:v>
                </c:pt>
                <c:pt idx="23">
                  <c:v>Jan-2019</c:v>
                </c:pt>
                <c:pt idx="24">
                  <c:v>Jan-2020</c:v>
                </c:pt>
                <c:pt idx="25">
                  <c:v>Jul-2016</c:v>
                </c:pt>
                <c:pt idx="26">
                  <c:v>Jul-2017</c:v>
                </c:pt>
                <c:pt idx="27">
                  <c:v>Jul-2018</c:v>
                </c:pt>
                <c:pt idx="28">
                  <c:v>Jul-2019</c:v>
                </c:pt>
                <c:pt idx="29">
                  <c:v>Jul-2020</c:v>
                </c:pt>
                <c:pt idx="30">
                  <c:v>Jun-2016</c:v>
                </c:pt>
                <c:pt idx="31">
                  <c:v>Jun-2017</c:v>
                </c:pt>
                <c:pt idx="32">
                  <c:v>Jun-2018</c:v>
                </c:pt>
                <c:pt idx="33">
                  <c:v>Jun-2019</c:v>
                </c:pt>
                <c:pt idx="34">
                  <c:v>Jun-2020</c:v>
                </c:pt>
                <c:pt idx="35">
                  <c:v>Mar-2016</c:v>
                </c:pt>
                <c:pt idx="36">
                  <c:v>Mar-2017</c:v>
                </c:pt>
                <c:pt idx="37">
                  <c:v>Mar-2018</c:v>
                </c:pt>
                <c:pt idx="38">
                  <c:v>Mar-2019</c:v>
                </c:pt>
                <c:pt idx="39">
                  <c:v>Mar-2020</c:v>
                </c:pt>
                <c:pt idx="40">
                  <c:v>May-2016</c:v>
                </c:pt>
                <c:pt idx="41">
                  <c:v>May-2017</c:v>
                </c:pt>
                <c:pt idx="42">
                  <c:v>May-2018</c:v>
                </c:pt>
                <c:pt idx="43">
                  <c:v>May-2019</c:v>
                </c:pt>
                <c:pt idx="44">
                  <c:v>May-2020</c:v>
                </c:pt>
                <c:pt idx="45">
                  <c:v>Nov-2016</c:v>
                </c:pt>
                <c:pt idx="46">
                  <c:v>Nov-2017</c:v>
                </c:pt>
                <c:pt idx="47">
                  <c:v>Nov-2018</c:v>
                </c:pt>
                <c:pt idx="48">
                  <c:v>Nov-2019</c:v>
                </c:pt>
                <c:pt idx="49">
                  <c:v>Nov-2020</c:v>
                </c:pt>
                <c:pt idx="50">
                  <c:v>Oct-2016</c:v>
                </c:pt>
                <c:pt idx="51">
                  <c:v>Oct-2017</c:v>
                </c:pt>
                <c:pt idx="52">
                  <c:v>Oct-2018</c:v>
                </c:pt>
                <c:pt idx="53">
                  <c:v>Oct-2019</c:v>
                </c:pt>
                <c:pt idx="54">
                  <c:v>Oct-2020</c:v>
                </c:pt>
                <c:pt idx="55">
                  <c:v>Sep-2016</c:v>
                </c:pt>
                <c:pt idx="56">
                  <c:v>Sep-2017</c:v>
                </c:pt>
                <c:pt idx="57">
                  <c:v>Sep-2018</c:v>
                </c:pt>
                <c:pt idx="58">
                  <c:v>Sep-2019</c:v>
                </c:pt>
                <c:pt idx="59">
                  <c:v>Sep-2020</c:v>
                </c:pt>
              </c:strCache>
            </c:strRef>
          </c:cat>
          <c:val>
            <c:numRef>
              <c:f>'Q-9 I Subjective'!$D$27:$D$87</c:f>
              <c:numCache>
                <c:formatCode>0.00</c:formatCode>
                <c:ptCount val="60"/>
                <c:pt idx="0">
                  <c:v>4.0123339658444026</c:v>
                </c:pt>
                <c:pt idx="1">
                  <c:v>4.0530120481927714</c:v>
                </c:pt>
                <c:pt idx="2">
                  <c:v>4.1001843884449904</c:v>
                </c:pt>
                <c:pt idx="3">
                  <c:v>4.1770963704630786</c:v>
                </c:pt>
                <c:pt idx="4">
                  <c:v>4.1566514711976792</c:v>
                </c:pt>
                <c:pt idx="5">
                  <c:v>3.9990825688073395</c:v>
                </c:pt>
                <c:pt idx="6">
                  <c:v>4.0516282764098488</c:v>
                </c:pt>
                <c:pt idx="7">
                  <c:v>4.0892750149790293</c:v>
                </c:pt>
                <c:pt idx="8">
                  <c:v>4.1396325459317582</c:v>
                </c:pt>
                <c:pt idx="9">
                  <c:v>4.1395167575993765</c:v>
                </c:pt>
                <c:pt idx="10">
                  <c:v>4.0569395017793592</c:v>
                </c:pt>
                <c:pt idx="11">
                  <c:v>4.0755767700875101</c:v>
                </c:pt>
                <c:pt idx="12">
                  <c:v>4.0929174788823914</c:v>
                </c:pt>
                <c:pt idx="13">
                  <c:v>4.0737179487179489</c:v>
                </c:pt>
                <c:pt idx="14">
                  <c:v>4.1556151782292066</c:v>
                </c:pt>
                <c:pt idx="15">
                  <c:v>3.9346590909090908</c:v>
                </c:pt>
                <c:pt idx="16">
                  <c:v>4.0208514335360555</c:v>
                </c:pt>
                <c:pt idx="17">
                  <c:v>4.0570670205706705</c:v>
                </c:pt>
                <c:pt idx="18">
                  <c:v>4.0784650630011452</c:v>
                </c:pt>
                <c:pt idx="19">
                  <c:v>4.1593609176566977</c:v>
                </c:pt>
                <c:pt idx="20">
                  <c:v>3.9605381165919282</c:v>
                </c:pt>
                <c:pt idx="21">
                  <c:v>4.1431111111111107</c:v>
                </c:pt>
                <c:pt idx="22">
                  <c:v>4.2265321955003881</c:v>
                </c:pt>
                <c:pt idx="23">
                  <c:v>4.2056504599211566</c:v>
                </c:pt>
                <c:pt idx="24">
                  <c:v>4.1716111364673667</c:v>
                </c:pt>
                <c:pt idx="25">
                  <c:v>3.9509536784741144</c:v>
                </c:pt>
                <c:pt idx="26">
                  <c:v>4.0819140308191404</c:v>
                </c:pt>
                <c:pt idx="27">
                  <c:v>4.0790123456790122</c:v>
                </c:pt>
                <c:pt idx="28">
                  <c:v>4.1161803713527849</c:v>
                </c:pt>
                <c:pt idx="29">
                  <c:v>4.2720753025549083</c:v>
                </c:pt>
                <c:pt idx="30">
                  <c:v>3.955280685061846</c:v>
                </c:pt>
                <c:pt idx="31">
                  <c:v>4.102090032154341</c:v>
                </c:pt>
                <c:pt idx="32">
                  <c:v>4.0609903381642516</c:v>
                </c:pt>
                <c:pt idx="33">
                  <c:v>4.0840659340659338</c:v>
                </c:pt>
                <c:pt idx="34">
                  <c:v>4.176793248945148</c:v>
                </c:pt>
                <c:pt idx="35">
                  <c:v>3.949321266968326</c:v>
                </c:pt>
                <c:pt idx="36">
                  <c:v>4.0366328916601715</c:v>
                </c:pt>
                <c:pt idx="37">
                  <c:v>4.1149659863945578</c:v>
                </c:pt>
                <c:pt idx="38">
                  <c:v>4.1213434452871072</c:v>
                </c:pt>
                <c:pt idx="39">
                  <c:v>4.0879556259904914</c:v>
                </c:pt>
                <c:pt idx="40">
                  <c:v>3.9336206896551724</c:v>
                </c:pt>
                <c:pt idx="41">
                  <c:v>4.0289962825278813</c:v>
                </c:pt>
                <c:pt idx="42">
                  <c:v>4.0568663036902599</c:v>
                </c:pt>
                <c:pt idx="43">
                  <c:v>4.1695501730103803</c:v>
                </c:pt>
                <c:pt idx="44">
                  <c:v>4.2462987886944816</c:v>
                </c:pt>
                <c:pt idx="45">
                  <c:v>4.0430210325047797</c:v>
                </c:pt>
                <c:pt idx="46">
                  <c:v>4.0667739340305715</c:v>
                </c:pt>
                <c:pt idx="47">
                  <c:v>4.1033210332103325</c:v>
                </c:pt>
                <c:pt idx="48">
                  <c:v>4.0988530857454943</c:v>
                </c:pt>
                <c:pt idx="49">
                  <c:v>4.1172248803827749</c:v>
                </c:pt>
                <c:pt idx="50">
                  <c:v>3.9595588235294117</c:v>
                </c:pt>
                <c:pt idx="51">
                  <c:v>4.0980842911877398</c:v>
                </c:pt>
                <c:pt idx="52">
                  <c:v>4.0560240963855421</c:v>
                </c:pt>
                <c:pt idx="53">
                  <c:v>4.1024000000000003</c:v>
                </c:pt>
                <c:pt idx="54">
                  <c:v>4.1254382547721073</c:v>
                </c:pt>
                <c:pt idx="55">
                  <c:v>4.0047125353440149</c:v>
                </c:pt>
                <c:pt idx="56">
                  <c:v>4.0653061224489795</c:v>
                </c:pt>
                <c:pt idx="57">
                  <c:v>4.0946275946275943</c:v>
                </c:pt>
                <c:pt idx="58">
                  <c:v>4.1239224137931032</c:v>
                </c:pt>
                <c:pt idx="59">
                  <c:v>4.1521115211152111</c:v>
                </c:pt>
              </c:numCache>
            </c:numRef>
          </c:val>
          <c:smooth val="1"/>
          <c:extLst>
            <c:ext xmlns:c16="http://schemas.microsoft.com/office/drawing/2014/chart" uri="{C3380CC4-5D6E-409C-BE32-E72D297353CC}">
              <c16:uniqueId val="{00000001-3C5D-4478-AEA3-4F2ED4F21DA6}"/>
            </c:ext>
          </c:extLst>
        </c:ser>
        <c:dLbls>
          <c:showLegendKey val="0"/>
          <c:showVal val="0"/>
          <c:showCatName val="0"/>
          <c:showSerName val="0"/>
          <c:showPercent val="0"/>
          <c:showBubbleSize val="0"/>
        </c:dLbls>
        <c:marker val="1"/>
        <c:smooth val="0"/>
        <c:axId val="2024157727"/>
        <c:axId val="2024156767"/>
      </c:lineChart>
      <c:catAx>
        <c:axId val="51146767"/>
        <c:scaling>
          <c:orientation val="minMax"/>
        </c:scaling>
        <c:delete val="0"/>
        <c:axPos val="b"/>
        <c:title>
          <c:tx>
            <c:rich>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Month -Year</a:t>
                </a:r>
              </a:p>
            </c:rich>
          </c:tx>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1131407"/>
        <c:crosses val="autoZero"/>
        <c:auto val="1"/>
        <c:lblAlgn val="ctr"/>
        <c:lblOffset val="100"/>
        <c:noMultiLvlLbl val="0"/>
      </c:catAx>
      <c:valAx>
        <c:axId val="51131407"/>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Count of Ticket </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1146767"/>
        <c:crosses val="autoZero"/>
        <c:crossBetween val="between"/>
      </c:valAx>
      <c:valAx>
        <c:axId val="2024156767"/>
        <c:scaling>
          <c:orientation val="minMax"/>
        </c:scaling>
        <c:delete val="0"/>
        <c:axPos val="r"/>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Satisfaction Rate </a:t>
                </a:r>
              </a:p>
            </c:rich>
          </c:tx>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2024157727"/>
        <c:crosses val="max"/>
        <c:crossBetween val="between"/>
      </c:valAx>
      <c:catAx>
        <c:axId val="2024157727"/>
        <c:scaling>
          <c:orientation val="minMax"/>
        </c:scaling>
        <c:delete val="1"/>
        <c:axPos val="b"/>
        <c:numFmt formatCode="General" sourceLinked="1"/>
        <c:majorTickMark val="none"/>
        <c:minorTickMark val="none"/>
        <c:tickLblPos val="nextTo"/>
        <c:crossAx val="2024156767"/>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-Final.xlsx]Q-8 I Subjective!PivotTable4</c:name>
    <c:fmtId val="50"/>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GB"/>
              <a:t>Average Satisfaction Rate by Age Group</a:t>
            </a:r>
            <a:endParaRPr lang="en-US"/>
          </a:p>
        </c:rich>
      </c:tx>
      <c:layout>
        <c:manualLayout>
          <c:xMode val="edge"/>
          <c:yMode val="edge"/>
          <c:x val="0.12640002198030434"/>
          <c:y val="6.0727584825267494E-2"/>
        </c:manualLayout>
      </c:layout>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alpha val="85000"/>
            </a:schemeClr>
          </a:solidFill>
          <a:ln w="9525" cap="flat" cmpd="sng" algn="ctr">
            <a:solidFill>
              <a:schemeClr val="lt1">
                <a:alpha val="5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'Q-8 I Subjective'!$C$10</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elete val="1"/>
          </c:dLbls>
          <c:cat>
            <c:strRef>
              <c:f>'Q-8 I Subjective'!$B$11:$B$15</c:f>
              <c:strCache>
                <c:ptCount val="4"/>
                <c:pt idx="0">
                  <c:v>30-39</c:v>
                </c:pt>
                <c:pt idx="1">
                  <c:v>40-49</c:v>
                </c:pt>
                <c:pt idx="2">
                  <c:v>50+</c:v>
                </c:pt>
                <c:pt idx="3">
                  <c:v>Under 30</c:v>
                </c:pt>
              </c:strCache>
            </c:strRef>
          </c:cat>
          <c:val>
            <c:numRef>
              <c:f>'Q-8 I Subjective'!$C$11:$C$15</c:f>
              <c:numCache>
                <c:formatCode>0.00</c:formatCode>
                <c:ptCount val="4"/>
                <c:pt idx="0">
                  <c:v>4.5789473684210522</c:v>
                </c:pt>
                <c:pt idx="1">
                  <c:v>4.4090909090909092</c:v>
                </c:pt>
                <c:pt idx="2">
                  <c:v>5</c:v>
                </c:pt>
                <c:pt idx="3">
                  <c:v>4.1004114972960215</c:v>
                </c:pt>
              </c:numCache>
            </c:numRef>
          </c:val>
          <c:extLst>
            <c:ext xmlns:c16="http://schemas.microsoft.com/office/drawing/2014/chart" uri="{C3380CC4-5D6E-409C-BE32-E72D297353CC}">
              <c16:uniqueId val="{00000000-D033-4F5C-9528-B82E357F4AD8}"/>
            </c:ext>
          </c:extLst>
        </c:ser>
        <c:dLbls>
          <c:dLblPos val="inEnd"/>
          <c:showLegendKey val="0"/>
          <c:showVal val="1"/>
          <c:showCatName val="0"/>
          <c:showSerName val="0"/>
          <c:showPercent val="0"/>
          <c:showBubbleSize val="0"/>
        </c:dLbls>
        <c:gapWidth val="100"/>
        <c:overlap val="-24"/>
        <c:axId val="51142927"/>
        <c:axId val="51124687"/>
      </c:barChart>
      <c:catAx>
        <c:axId val="51142927"/>
        <c:scaling>
          <c:orientation val="minMax"/>
        </c:scaling>
        <c:delete val="0"/>
        <c:axPos val="b"/>
        <c:title>
          <c:tx>
            <c:rich>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Age Group</a:t>
                </a:r>
              </a:p>
            </c:rich>
          </c:tx>
          <c:layout>
            <c:manualLayout>
              <c:xMode val="edge"/>
              <c:yMode val="edge"/>
              <c:x val="0.45805394208841771"/>
              <c:y val="0.91345558104789182"/>
            </c:manualLayout>
          </c:layout>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1124687"/>
        <c:crosses val="autoZero"/>
        <c:auto val="1"/>
        <c:lblAlgn val="ctr"/>
        <c:lblOffset val="100"/>
        <c:noMultiLvlLbl val="0"/>
      </c:catAx>
      <c:valAx>
        <c:axId val="51124687"/>
        <c:scaling>
          <c:orientation val="minMax"/>
          <c:max val="6"/>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r>
                  <a:rPr lang="en-US"/>
                  <a:t>Avg of Satisfaction Rate </a:t>
                </a:r>
              </a:p>
            </c:rich>
          </c:tx>
          <c:layout>
            <c:manualLayout>
              <c:xMode val="edge"/>
              <c:yMode val="edge"/>
              <c:x val="1.6666663021289801E-2"/>
              <c:y val="0.25425016229341807"/>
            </c:manualLayout>
          </c:layout>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51142927"/>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_EXCEL_Final.xlsx] Dashboard!PivotTable8</c:name>
    <c:fmtId val="30"/>
  </c:pivotSource>
  <c:chart>
    <c:title>
      <c:tx>
        <c:rich>
          <a:bodyPr rot="0" spcFirstLastPara="1" vertOverflow="ellipsis" vert="horz" wrap="square" anchor="ctr" anchorCtr="1"/>
          <a:lstStyle/>
          <a:p>
            <a:pPr>
              <a:defRPr sz="1400" b="0" i="0" u="none" strike="noStrike" kern="1200" spc="0" baseline="0">
                <a:solidFill>
                  <a:schemeClr val="lt1">
                    <a:lumMod val="85000"/>
                  </a:schemeClr>
                </a:solidFill>
                <a:latin typeface="+mn-lt"/>
                <a:ea typeface="+mn-ea"/>
                <a:cs typeface="+mn-cs"/>
              </a:defRPr>
            </a:pPr>
            <a:r>
              <a:rPr lang="en-GB" sz="1800" b="1" i="0" u="none" strike="noStrike" kern="1200" baseline="0">
                <a:solidFill>
                  <a:schemeClr val="lt1">
                    <a:lumMod val="95000"/>
                  </a:schemeClr>
                </a:solidFill>
                <a:effectLst>
                  <a:outerShdw blurRad="50800" dist="38100" dir="5400000" algn="t" rotWithShape="0">
                    <a:prstClr val="black">
                      <a:alpha val="40000"/>
                    </a:prstClr>
                  </a:outerShdw>
                </a:effectLst>
              </a:rPr>
              <a:t>Ticket Distribution by Severity</a:t>
            </a:r>
            <a:endParaRPr lang="en-US" sz="1800" b="1" i="0" u="none" strike="noStrike" kern="1200" baseline="0">
              <a:solidFill>
                <a:schemeClr val="lt1">
                  <a:lumMod val="95000"/>
                </a:schemeClr>
              </a:solidFill>
            </a:endParaRPr>
          </a:p>
        </c:rich>
      </c:tx>
      <c:layout>
        <c:manualLayout>
          <c:xMode val="edge"/>
          <c:yMode val="edge"/>
          <c:x val="0.37333705537092438"/>
          <c:y val="1.783734294939425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lt1">
                  <a:lumMod val="8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767528479182919"/>
          <c:y val="0.12417672790901137"/>
          <c:w val="0.83340414904072835"/>
          <c:h val="0.73746876640419945"/>
        </c:manualLayout>
      </c:layout>
      <c:barChart>
        <c:barDir val="col"/>
        <c:grouping val="clustered"/>
        <c:varyColors val="0"/>
        <c:ser>
          <c:idx val="0"/>
          <c:order val="0"/>
          <c:tx>
            <c:strRef>
              <c:f>' Dashboard'!$E$398</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lt1">
                        <a:lumMod val="7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 Dashboard'!$D$399:$D$404</c:f>
              <c:strCache>
                <c:ptCount val="5"/>
                <c:pt idx="0">
                  <c:v>0 - Unclassified</c:v>
                </c:pt>
                <c:pt idx="1">
                  <c:v>1 - Minor</c:v>
                </c:pt>
                <c:pt idx="2">
                  <c:v>2 - Normal</c:v>
                </c:pt>
                <c:pt idx="3">
                  <c:v>3 - Major</c:v>
                </c:pt>
                <c:pt idx="4">
                  <c:v>4 - Urgent</c:v>
                </c:pt>
              </c:strCache>
            </c:strRef>
          </c:cat>
          <c:val>
            <c:numRef>
              <c:f>' Dashboard'!$E$399:$E$404</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D389-4985-9C56-9D68FAF97E5C}"/>
            </c:ext>
          </c:extLst>
        </c:ser>
        <c:dLbls>
          <c:showLegendKey val="0"/>
          <c:showVal val="0"/>
          <c:showCatName val="0"/>
          <c:showSerName val="0"/>
          <c:showPercent val="0"/>
          <c:showBubbleSize val="0"/>
        </c:dLbls>
        <c:gapWidth val="219"/>
        <c:overlap val="-27"/>
        <c:axId val="131781632"/>
        <c:axId val="131788352"/>
      </c:barChart>
      <c:catAx>
        <c:axId val="13178163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r>
                  <a:rPr lang="en-US" sz="1400" b="0" i="0" u="none" strike="noStrike" kern="1200" baseline="0">
                    <a:solidFill>
                      <a:schemeClr val="lt1">
                        <a:lumMod val="95000"/>
                      </a:schemeClr>
                    </a:solidFill>
                  </a:rPr>
                  <a:t>Severity </a:t>
                </a:r>
              </a:p>
            </c:rich>
          </c:tx>
          <c:layout>
            <c:manualLayout>
              <c:xMode val="edge"/>
              <c:yMode val="edge"/>
              <c:x val="0.51573695141056397"/>
              <c:y val="0.9184923013867853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95000"/>
                <a:alpha val="25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131788352"/>
        <c:crosses val="autoZero"/>
        <c:auto val="1"/>
        <c:lblAlgn val="ctr"/>
        <c:lblOffset val="100"/>
        <c:noMultiLvlLbl val="0"/>
      </c:catAx>
      <c:valAx>
        <c:axId val="131788352"/>
        <c:scaling>
          <c:orientation val="minMax"/>
        </c:scaling>
        <c:delete val="0"/>
        <c:axPos val="l"/>
        <c:majorGridlines>
          <c:spPr>
            <a:ln w="9525" cap="flat" cmpd="sng" algn="ctr">
              <a:solidFill>
                <a:schemeClr val="lt1">
                  <a:lumMod val="95000"/>
                  <a:alpha val="2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r>
                  <a:rPr lang="en-US" sz="1400" b="0" i="0" u="none" strike="noStrike" kern="1200" baseline="0">
                    <a:solidFill>
                      <a:schemeClr val="lt1">
                        <a:lumMod val="90000"/>
                      </a:schemeClr>
                    </a:solidFill>
                  </a:rPr>
                  <a:t>Count of ID Ticket</a:t>
                </a:r>
              </a:p>
            </c:rich>
          </c:tx>
          <c:layout>
            <c:manualLayout>
              <c:xMode val="edge"/>
              <c:yMode val="edge"/>
              <c:x val="1.2870123864360039E-2"/>
              <c:y val="0.3590687718016043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1317816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tx2">
        <a:lumMod val="7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1: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2: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3: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4: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5: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8" name="Google Shape;388;p5: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6: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6: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7: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p7: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8: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8: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9: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9: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0: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10: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1: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11: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12: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p12: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14: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14: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9: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4" name="Google Shape;484;p19: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0: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2" name="Google Shape;492;p20: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21: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21: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2: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9" name="Google Shape;519;p22: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23: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p23: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4: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24: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0: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9" name="Google Shape;569;p30: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29: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29: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31:notes"/>
          <p:cNvSpPr>
            <a:spLocks noGrp="1" noRot="1" noChangeAspect="1"/>
          </p:cNvSpPr>
          <p:nvPr>
            <p:ph type="sldImg" idx="2"/>
          </p:nvPr>
        </p:nvSpPr>
        <p:spPr>
          <a:xfrm>
            <a:off x="508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p31:notes"/>
          <p:cNvSpPr txBox="1">
            <a:spLocks noGrp="1"/>
          </p:cNvSpPr>
          <p:nvPr>
            <p:ph type="body" idx="1"/>
          </p:nvPr>
        </p:nvSpPr>
        <p:spPr>
          <a:xfrm>
            <a:off x="914400" y="5791200"/>
            <a:ext cx="7315200" cy="548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67"/>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36B3F-575B-628F-B83C-02C4EB1C4C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480E8-E414-FD02-C161-16F15307DA13}"/>
              </a:ext>
            </a:extLst>
          </p:cNvPr>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95FB50-134B-BDEE-E203-D639900A5585}"/>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a:extLst>
              <a:ext uri="{FF2B5EF4-FFF2-40B4-BE49-F238E27FC236}">
                <a16:creationId xmlns:a16="http://schemas.microsoft.com/office/drawing/2014/main" id="{D4A70170-800B-801E-3C7A-0D400925855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E091E3-38C4-CAFE-A300-179A34A9D86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304576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D3BB-D7AD-32BE-1818-3DDCDFA65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F5DB25-735A-C432-D12E-8718D9E365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E7539-5EFD-816C-71C2-B56A9D28C4ED}"/>
              </a:ext>
            </a:extLst>
          </p:cNvPr>
          <p:cNvSpPr>
            <a:spLocks noGrp="1"/>
          </p:cNvSpPr>
          <p:nvPr>
            <p:ph type="dt" sz="half" idx="10"/>
          </p:nvPr>
        </p:nvSpPr>
        <p:spPr/>
        <p:txBody>
          <a:bodyPr/>
          <a:lstStyle/>
          <a:p>
            <a:fld id="{52647F38-B617-4D2F-AE0A-013F0C4D2C57}" type="datetimeFigureOut">
              <a:rPr lang="en-US" smtClean="0"/>
              <a:t>9/11/2026</a:t>
            </a:fld>
            <a:endParaRPr lang="en-US" dirty="0"/>
          </a:p>
        </p:txBody>
      </p:sp>
      <p:sp>
        <p:nvSpPr>
          <p:cNvPr id="5" name="Footer Placeholder 4">
            <a:extLst>
              <a:ext uri="{FF2B5EF4-FFF2-40B4-BE49-F238E27FC236}">
                <a16:creationId xmlns:a16="http://schemas.microsoft.com/office/drawing/2014/main" id="{919EFA22-1D0B-5CE8-F292-C7AE08F651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4E78F1B-FD18-0D40-2177-4A2E4943094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617990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CE764-ACB7-6EEF-2D8D-C845D908B8F4}"/>
              </a:ext>
            </a:extLst>
          </p:cNvPr>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4CDE21-9AED-8687-1041-760CE6B0BAD8}"/>
              </a:ext>
            </a:extLst>
          </p:cNvPr>
          <p:cNvSpPr>
            <a:spLocks noGrp="1"/>
          </p:cNvSpPr>
          <p:nvPr>
            <p:ph type="body" idx="1"/>
          </p:nvPr>
        </p:nvSpPr>
        <p:spPr>
          <a:xfrm>
            <a:off x="831851" y="4589464"/>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B2FF3E-3E7D-7B39-65B2-5C2A555583E7}"/>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a:extLst>
              <a:ext uri="{FF2B5EF4-FFF2-40B4-BE49-F238E27FC236}">
                <a16:creationId xmlns:a16="http://schemas.microsoft.com/office/drawing/2014/main" id="{2DBD33FC-6764-A7F4-FBA7-E68E2FAF2B0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349E2B-3EE2-DD0F-822C-417329A41C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86864569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8A72-3DC6-28E7-E056-7F2B39B85D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3C920F-4BAD-DBFF-61D9-E905BA107290}"/>
              </a:ext>
            </a:extLst>
          </p:cNvPr>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D91FD3-0376-86E1-5050-46958707898E}"/>
              </a:ext>
            </a:extLst>
          </p:cNvPr>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6641F3-A637-EA4C-E996-3622A554673E}"/>
              </a:ext>
            </a:extLst>
          </p:cNvPr>
          <p:cNvSpPr>
            <a:spLocks noGrp="1"/>
          </p:cNvSpPr>
          <p:nvPr>
            <p:ph type="dt" sz="half" idx="10"/>
          </p:nvPr>
        </p:nvSpPr>
        <p:spPr/>
        <p:txBody>
          <a:bodyPr/>
          <a:lstStyle/>
          <a:p>
            <a:fld id="{05BFA754-D5C3-4E66-96A6-867B257F58DC}" type="datetimeFigureOut">
              <a:rPr lang="en-US" smtClean="0"/>
              <a:t>9/11/2026</a:t>
            </a:fld>
            <a:endParaRPr lang="en-US" dirty="0"/>
          </a:p>
        </p:txBody>
      </p:sp>
      <p:sp>
        <p:nvSpPr>
          <p:cNvPr id="6" name="Footer Placeholder 5">
            <a:extLst>
              <a:ext uri="{FF2B5EF4-FFF2-40B4-BE49-F238E27FC236}">
                <a16:creationId xmlns:a16="http://schemas.microsoft.com/office/drawing/2014/main" id="{CA34699F-EB90-A9E9-776B-1FF467D1E0A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A5BCE41-55D0-D58C-F867-FB56981554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793712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5B57-ECBC-6C60-9E99-89BBB92D69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99A344-E67A-F0C7-7095-52E85A44E4E2}"/>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9D4987-B768-9FC0-B6C7-8A813B6CC68A}"/>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E1D016-03A6-E48A-2834-8A28CB37C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2C8DF7-077A-C8D3-B023-24B2E91471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2FD725-55DD-AD3F-1E52-9C2CBE3E5F51}"/>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8" name="Footer Placeholder 7">
            <a:extLst>
              <a:ext uri="{FF2B5EF4-FFF2-40B4-BE49-F238E27FC236}">
                <a16:creationId xmlns:a16="http://schemas.microsoft.com/office/drawing/2014/main" id="{8B6C9DEA-4BEF-6DC9-5C0F-12BC0A6C5A5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39E3F09-0F75-8E90-90F1-9D30B53F6BD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0080208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92C0D-C69B-A477-B48E-27B7F78383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2E4D29-3C3C-CBB5-6E5D-0C1AC65260A6}"/>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4" name="Footer Placeholder 3">
            <a:extLst>
              <a:ext uri="{FF2B5EF4-FFF2-40B4-BE49-F238E27FC236}">
                <a16:creationId xmlns:a16="http://schemas.microsoft.com/office/drawing/2014/main" id="{505EA88F-62A6-F33A-E84D-99765E5FC5C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7BAF9D5-0B5B-C3D3-5FAF-57CB0B47C45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4516236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A71BF3-E0DC-0CC4-94B3-9E0E6704817E}"/>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3" name="Footer Placeholder 2">
            <a:extLst>
              <a:ext uri="{FF2B5EF4-FFF2-40B4-BE49-F238E27FC236}">
                <a16:creationId xmlns:a16="http://schemas.microsoft.com/office/drawing/2014/main" id="{95BD3D5B-D5B6-9446-E7E4-A63E5DBCA8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F0E2AB6-65B1-DA5E-B6DF-733D37D9629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7421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D6E66-7667-9CBF-FDFC-389C54F148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AF34DD-B189-12C9-B4F1-578288A2A5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F5C73FD-EDDA-0830-D034-1372BF2A7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0BA5B2-4EC2-EF1B-0E21-E970802D0AA1}"/>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6" name="Footer Placeholder 5">
            <a:extLst>
              <a:ext uri="{FF2B5EF4-FFF2-40B4-BE49-F238E27FC236}">
                <a16:creationId xmlns:a16="http://schemas.microsoft.com/office/drawing/2014/main" id="{38D1403B-BBDF-DE50-0D76-DFC08E6447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AFFA7C8-9AAF-9E24-821A-3A2970F7003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09097527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C6C8C-6828-92CD-7CB9-3B4473676D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CF2493-5E7A-78C6-688B-425A35071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A12B5B-D423-D4E5-294D-66C22525D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D566E5-77D9-9E1B-507C-7B81823D94C3}"/>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6" name="Footer Placeholder 5">
            <a:extLst>
              <a:ext uri="{FF2B5EF4-FFF2-40B4-BE49-F238E27FC236}">
                <a16:creationId xmlns:a16="http://schemas.microsoft.com/office/drawing/2014/main" id="{E9594B46-4173-332A-8198-395BCFAED23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6C3048-146A-0FD2-A3E8-F02A0A82FB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7053733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0281-CBC6-0536-6104-28B69E3B9B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24F4A-C61B-B7BC-CE12-F3C7F06E0E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FB0AD4-0525-9674-8AC6-F86F7EBA9596}"/>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a:extLst>
              <a:ext uri="{FF2B5EF4-FFF2-40B4-BE49-F238E27FC236}">
                <a16:creationId xmlns:a16="http://schemas.microsoft.com/office/drawing/2014/main" id="{4DAB1913-BE57-5D96-1BF3-911AE67A778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8ED4E7-50EC-2510-69FB-130879CE744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8702375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09FC5-0D2C-A055-C345-EFA70F46843B}"/>
              </a:ext>
            </a:extLst>
          </p:cNvPr>
          <p:cNvSpPr>
            <a:spLocks noGrp="1"/>
          </p:cNvSpPr>
          <p:nvPr>
            <p:ph type="title" orient="vert"/>
          </p:nvPr>
        </p:nvSpPr>
        <p:spPr>
          <a:xfrm>
            <a:off x="8724900" y="365125"/>
            <a:ext cx="2628900" cy="581183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8CB721-5768-99A7-A67B-01E8D3893D08}"/>
              </a:ext>
            </a:extLst>
          </p:cNvPr>
          <p:cNvSpPr>
            <a:spLocks noGrp="1"/>
          </p:cNvSpPr>
          <p:nvPr>
            <p:ph type="body" orient="vert" idx="1"/>
          </p:nvPr>
        </p:nvSpPr>
        <p:spPr>
          <a:xfrm>
            <a:off x="838200" y="365125"/>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F505B5-13DE-EC7D-FCAF-AA0A4C734846}"/>
              </a:ext>
            </a:extLst>
          </p:cNvPr>
          <p:cNvSpPr>
            <a:spLocks noGrp="1"/>
          </p:cNvSpPr>
          <p:nvPr>
            <p:ph type="dt" sz="half" idx="10"/>
          </p:nvPr>
        </p:nvSpPr>
        <p:spPr/>
        <p:txBody>
          <a:bodyPr/>
          <a:lstStyle/>
          <a:p>
            <a:fld id="{B61BEF0D-F0BB-DE4B-95CE-6DB70DBA9567}" type="datetimeFigureOut">
              <a:rPr lang="en-US" smtClean="0"/>
              <a:pPr/>
              <a:t>9/11/2026</a:t>
            </a:fld>
            <a:endParaRPr lang="en-US" dirty="0"/>
          </a:p>
        </p:txBody>
      </p:sp>
      <p:sp>
        <p:nvSpPr>
          <p:cNvPr id="5" name="Footer Placeholder 4">
            <a:extLst>
              <a:ext uri="{FF2B5EF4-FFF2-40B4-BE49-F238E27FC236}">
                <a16:creationId xmlns:a16="http://schemas.microsoft.com/office/drawing/2014/main" id="{B0964E32-A342-F6AC-FB0A-0652F7B2ED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6527BA-5155-A486-95DF-0569A8A0B85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8347412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secHead">
  <p:cSld name="1_Title Slide">
    <p:spTree>
      <p:nvGrpSpPr>
        <p:cNvPr id="1" name="Shape 9"/>
        <p:cNvGrpSpPr/>
        <p:nvPr/>
      </p:nvGrpSpPr>
      <p:grpSpPr>
        <a:xfrm>
          <a:off x="0" y="0"/>
          <a:ext cx="0" cy="0"/>
          <a:chOff x="0" y="0"/>
          <a:chExt cx="0" cy="0"/>
        </a:xfrm>
      </p:grpSpPr>
      <p:sp>
        <p:nvSpPr>
          <p:cNvPr id="10" name="Google Shape;10;p33"/>
          <p:cNvSpPr txBox="1">
            <a:spLocks noGrp="1"/>
          </p:cNvSpPr>
          <p:nvPr>
            <p:ph type="title"/>
          </p:nvPr>
        </p:nvSpPr>
        <p:spPr>
          <a:xfrm>
            <a:off x="843800" y="1499600"/>
            <a:ext cx="10504400" cy="2322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7200"/>
              <a:buFont typeface="Hepta Slab"/>
              <a:buNone/>
              <a:defRPr sz="7200"/>
            </a:lvl1pPr>
            <a:lvl2pPr lvl="1" algn="l">
              <a:lnSpc>
                <a:spcPct val="100000"/>
              </a:lnSpc>
              <a:spcBef>
                <a:spcPts val="0"/>
              </a:spcBef>
              <a:spcAft>
                <a:spcPts val="0"/>
              </a:spcAft>
              <a:buSzPts val="1867"/>
              <a:buNone/>
              <a:defRPr/>
            </a:lvl2pPr>
            <a:lvl3pPr lvl="2" algn="l">
              <a:lnSpc>
                <a:spcPct val="100000"/>
              </a:lnSpc>
              <a:spcBef>
                <a:spcPts val="0"/>
              </a:spcBef>
              <a:spcAft>
                <a:spcPts val="0"/>
              </a:spcAft>
              <a:buSzPts val="1867"/>
              <a:buNone/>
              <a:defRPr/>
            </a:lvl3pPr>
            <a:lvl4pPr lvl="3" algn="l">
              <a:lnSpc>
                <a:spcPct val="100000"/>
              </a:lnSpc>
              <a:spcBef>
                <a:spcPts val="0"/>
              </a:spcBef>
              <a:spcAft>
                <a:spcPts val="0"/>
              </a:spcAft>
              <a:buSzPts val="1867"/>
              <a:buNone/>
              <a:defRPr/>
            </a:lvl4pPr>
            <a:lvl5pPr lvl="4" algn="l">
              <a:lnSpc>
                <a:spcPct val="100000"/>
              </a:lnSpc>
              <a:spcBef>
                <a:spcPts val="0"/>
              </a:spcBef>
              <a:spcAft>
                <a:spcPts val="0"/>
              </a:spcAft>
              <a:buSzPts val="1867"/>
              <a:buNone/>
              <a:defRPr/>
            </a:lvl5pPr>
            <a:lvl6pPr lvl="5" algn="l">
              <a:lnSpc>
                <a:spcPct val="100000"/>
              </a:lnSpc>
              <a:spcBef>
                <a:spcPts val="0"/>
              </a:spcBef>
              <a:spcAft>
                <a:spcPts val="0"/>
              </a:spcAft>
              <a:buSzPts val="1867"/>
              <a:buNone/>
              <a:defRPr/>
            </a:lvl6pPr>
            <a:lvl7pPr lvl="6" algn="l">
              <a:lnSpc>
                <a:spcPct val="100000"/>
              </a:lnSpc>
              <a:spcBef>
                <a:spcPts val="0"/>
              </a:spcBef>
              <a:spcAft>
                <a:spcPts val="0"/>
              </a:spcAft>
              <a:buSzPts val="1867"/>
              <a:buNone/>
              <a:defRPr/>
            </a:lvl7pPr>
            <a:lvl8pPr lvl="7" algn="l">
              <a:lnSpc>
                <a:spcPct val="100000"/>
              </a:lnSpc>
              <a:spcBef>
                <a:spcPts val="0"/>
              </a:spcBef>
              <a:spcAft>
                <a:spcPts val="0"/>
              </a:spcAft>
              <a:buSzPts val="1867"/>
              <a:buNone/>
              <a:defRPr/>
            </a:lvl8pPr>
            <a:lvl9pPr lvl="8" algn="l">
              <a:lnSpc>
                <a:spcPct val="100000"/>
              </a:lnSpc>
              <a:spcBef>
                <a:spcPts val="0"/>
              </a:spcBef>
              <a:spcAft>
                <a:spcPts val="0"/>
              </a:spcAft>
              <a:buSzPts val="1867"/>
              <a:buNone/>
              <a:defRPr/>
            </a:lvl9pPr>
          </a:lstStyle>
          <a:p>
            <a:endParaRPr/>
          </a:p>
        </p:txBody>
      </p:sp>
      <p:sp>
        <p:nvSpPr>
          <p:cNvPr id="11" name="Google Shape;11;p33"/>
          <p:cNvSpPr txBox="1">
            <a:spLocks noGrp="1"/>
          </p:cNvSpPr>
          <p:nvPr>
            <p:ph type="body" idx="1"/>
          </p:nvPr>
        </p:nvSpPr>
        <p:spPr>
          <a:xfrm>
            <a:off x="5418800" y="5780267"/>
            <a:ext cx="1354400" cy="354800"/>
          </a:xfrm>
          <a:prstGeom prst="rect">
            <a:avLst/>
          </a:prstGeom>
          <a:noFill/>
          <a:ln w="12700" cap="flat" cmpd="sng">
            <a:solidFill>
              <a:schemeClr val="dk1"/>
            </a:solidFill>
            <a:prstDash val="solid"/>
            <a:round/>
            <a:headEnd type="none" w="sm" len="sm"/>
            <a:tailEnd type="none" w="sm" len="sm"/>
          </a:ln>
        </p:spPr>
        <p:txBody>
          <a:bodyPr spcFirstLastPara="1" wrap="square" lIns="0" tIns="0" rIns="0" bIns="0" anchor="ctr" anchorCtr="0">
            <a:noAutofit/>
          </a:bodyPr>
          <a:lstStyle>
            <a:lvl1pPr marL="609600" lvl="0"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1pPr>
            <a:lvl2pPr marL="1219200" lvl="1"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2pPr>
            <a:lvl3pPr marL="1828800" lvl="2"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3pPr>
            <a:lvl4pPr marL="2438400" lvl="3"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4pPr>
            <a:lvl5pPr marL="3048000" lvl="4" indent="-397933" algn="l">
              <a:lnSpc>
                <a:spcPct val="100000"/>
              </a:lnSpc>
              <a:spcBef>
                <a:spcPts val="0"/>
              </a:spcBef>
              <a:spcAft>
                <a:spcPts val="0"/>
              </a:spcAft>
              <a:buSzPts val="1467"/>
              <a:buFont typeface="Barlow Medium"/>
              <a:buChar char="○"/>
              <a:defRPr>
                <a:latin typeface="Barlow Medium"/>
                <a:ea typeface="Barlow Medium"/>
                <a:cs typeface="Barlow Medium"/>
                <a:sym typeface="Barlow Medium"/>
              </a:defRPr>
            </a:lvl5pPr>
            <a:lvl6pPr marL="3657600" lvl="5"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6pPr>
            <a:lvl7pPr marL="4267200" lvl="6"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7pPr>
            <a:lvl8pPr marL="4876800" lvl="7"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8pPr>
            <a:lvl9pPr marL="5486400" lvl="8" indent="-397933" algn="l">
              <a:lnSpc>
                <a:spcPct val="100000"/>
              </a:lnSpc>
              <a:spcBef>
                <a:spcPts val="0"/>
              </a:spcBef>
              <a:spcAft>
                <a:spcPts val="0"/>
              </a:spcAft>
              <a:buSzPts val="1467"/>
              <a:buFont typeface="Barlow Medium"/>
              <a:buChar char="■"/>
              <a:defRPr sz="1467">
                <a:latin typeface="Barlow Medium"/>
                <a:ea typeface="Barlow Medium"/>
                <a:cs typeface="Barlow Medium"/>
                <a:sym typeface="Barlow Medium"/>
              </a:defRPr>
            </a:lvl9pPr>
          </a:lstStyle>
          <a:p>
            <a:endParaRPr/>
          </a:p>
        </p:txBody>
      </p:sp>
      <p:sp>
        <p:nvSpPr>
          <p:cNvPr id="12" name="Google Shape;12;p33"/>
          <p:cNvSpPr txBox="1">
            <a:spLocks noGrp="1"/>
          </p:cNvSpPr>
          <p:nvPr>
            <p:ph type="subTitle" idx="2"/>
          </p:nvPr>
        </p:nvSpPr>
        <p:spPr>
          <a:xfrm>
            <a:off x="3810000" y="3869333"/>
            <a:ext cx="5020800" cy="1246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2"/>
              </a:buClr>
              <a:buSzPts val="3467"/>
              <a:buNone/>
              <a:defRPr sz="3467">
                <a:solidFill>
                  <a:schemeClr val="dk2"/>
                </a:solidFill>
              </a:defRPr>
            </a:lvl1pPr>
            <a:lvl2pPr lvl="1" algn="l">
              <a:lnSpc>
                <a:spcPct val="100000"/>
              </a:lnSpc>
              <a:spcBef>
                <a:spcPts val="0"/>
              </a:spcBef>
              <a:spcAft>
                <a:spcPts val="0"/>
              </a:spcAft>
              <a:buSzPts val="1867"/>
              <a:buNone/>
              <a:defRPr>
                <a:latin typeface="Barlow Light"/>
                <a:ea typeface="Barlow Light"/>
                <a:cs typeface="Barlow Light"/>
                <a:sym typeface="Barlow Light"/>
              </a:defRPr>
            </a:lvl2pPr>
            <a:lvl3pPr lvl="2" algn="l">
              <a:lnSpc>
                <a:spcPct val="100000"/>
              </a:lnSpc>
              <a:spcBef>
                <a:spcPts val="0"/>
              </a:spcBef>
              <a:spcAft>
                <a:spcPts val="0"/>
              </a:spcAft>
              <a:buSzPts val="1867"/>
              <a:buNone/>
              <a:defRPr>
                <a:latin typeface="Barlow Light"/>
                <a:ea typeface="Barlow Light"/>
                <a:cs typeface="Barlow Light"/>
                <a:sym typeface="Barlow Light"/>
              </a:defRPr>
            </a:lvl3pPr>
            <a:lvl4pPr lvl="3" algn="l">
              <a:lnSpc>
                <a:spcPct val="100000"/>
              </a:lnSpc>
              <a:spcBef>
                <a:spcPts val="0"/>
              </a:spcBef>
              <a:spcAft>
                <a:spcPts val="0"/>
              </a:spcAft>
              <a:buSzPts val="1867"/>
              <a:buNone/>
              <a:defRPr>
                <a:latin typeface="Barlow Light"/>
                <a:ea typeface="Barlow Light"/>
                <a:cs typeface="Barlow Light"/>
                <a:sym typeface="Barlow Light"/>
              </a:defRPr>
            </a:lvl4pPr>
            <a:lvl5pPr lvl="4" algn="l">
              <a:lnSpc>
                <a:spcPct val="100000"/>
              </a:lnSpc>
              <a:spcBef>
                <a:spcPts val="0"/>
              </a:spcBef>
              <a:spcAft>
                <a:spcPts val="0"/>
              </a:spcAft>
              <a:buSzPts val="1867"/>
              <a:buNone/>
              <a:defRPr>
                <a:latin typeface="Barlow Light"/>
                <a:ea typeface="Barlow Light"/>
                <a:cs typeface="Barlow Light"/>
                <a:sym typeface="Barlow Light"/>
              </a:defRPr>
            </a:lvl5pPr>
            <a:lvl6pPr lvl="5" algn="l">
              <a:lnSpc>
                <a:spcPct val="100000"/>
              </a:lnSpc>
              <a:spcBef>
                <a:spcPts val="0"/>
              </a:spcBef>
              <a:spcAft>
                <a:spcPts val="0"/>
              </a:spcAft>
              <a:buSzPts val="1867"/>
              <a:buNone/>
              <a:defRPr>
                <a:latin typeface="Barlow Light"/>
                <a:ea typeface="Barlow Light"/>
                <a:cs typeface="Barlow Light"/>
                <a:sym typeface="Barlow Light"/>
              </a:defRPr>
            </a:lvl6pPr>
            <a:lvl7pPr lvl="6" algn="l">
              <a:lnSpc>
                <a:spcPct val="100000"/>
              </a:lnSpc>
              <a:spcBef>
                <a:spcPts val="0"/>
              </a:spcBef>
              <a:spcAft>
                <a:spcPts val="0"/>
              </a:spcAft>
              <a:buSzPts val="1867"/>
              <a:buNone/>
              <a:defRPr>
                <a:latin typeface="Barlow Light"/>
                <a:ea typeface="Barlow Light"/>
                <a:cs typeface="Barlow Light"/>
                <a:sym typeface="Barlow Light"/>
              </a:defRPr>
            </a:lvl7pPr>
            <a:lvl8pPr lvl="7" algn="l">
              <a:lnSpc>
                <a:spcPct val="100000"/>
              </a:lnSpc>
              <a:spcBef>
                <a:spcPts val="0"/>
              </a:spcBef>
              <a:spcAft>
                <a:spcPts val="0"/>
              </a:spcAft>
              <a:buSzPts val="1867"/>
              <a:buNone/>
              <a:defRPr>
                <a:latin typeface="Barlow Light"/>
                <a:ea typeface="Barlow Light"/>
                <a:cs typeface="Barlow Light"/>
                <a:sym typeface="Barlow Light"/>
              </a:defRPr>
            </a:lvl8pPr>
            <a:lvl9pPr lvl="8" algn="l">
              <a:lnSpc>
                <a:spcPct val="100000"/>
              </a:lnSpc>
              <a:spcBef>
                <a:spcPts val="0"/>
              </a:spcBef>
              <a:spcAft>
                <a:spcPts val="0"/>
              </a:spcAft>
              <a:buSzPts val="1867"/>
              <a:buNone/>
              <a:defRPr>
                <a:latin typeface="Barlow Light"/>
                <a:ea typeface="Barlow Light"/>
                <a:cs typeface="Barlow Light"/>
                <a:sym typeface="Barlow Light"/>
              </a:defRPr>
            </a:lvl9pPr>
          </a:lstStyle>
          <a:p>
            <a:endParaRPr/>
          </a:p>
        </p:txBody>
      </p:sp>
      <p:sp>
        <p:nvSpPr>
          <p:cNvPr id="13" name="Google Shape;13;p33"/>
          <p:cNvSpPr txBox="1">
            <a:spLocks noGrp="1"/>
          </p:cNvSpPr>
          <p:nvPr>
            <p:ph type="sldNum" idx="12"/>
          </p:nvPr>
        </p:nvSpPr>
        <p:spPr>
          <a:xfrm>
            <a:off x="11409045" y="6333135"/>
            <a:ext cx="731600" cy="5248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1pPr>
            <a:lvl2pPr marL="0" marR="0" lvl="1"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2pPr>
            <a:lvl3pPr marL="0" marR="0" lvl="2"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3pPr>
            <a:lvl4pPr marL="0" marR="0" lvl="3"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4pPr>
            <a:lvl5pPr marL="0" marR="0" lvl="4"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5pPr>
            <a:lvl6pPr marL="0" marR="0" lvl="5"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6pPr>
            <a:lvl7pPr marL="0" marR="0" lvl="6"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7pPr>
            <a:lvl8pPr marL="0" marR="0" lvl="7"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8pPr>
            <a:lvl9pPr marL="0" marR="0" lvl="8"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Medium"/>
                <a:ea typeface="Barlow Medium"/>
                <a:cs typeface="Barlow Medium"/>
                <a:sym typeface="Barlow Medium"/>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319614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14"/>
        <p:cNvGrpSpPr/>
        <p:nvPr/>
      </p:nvGrpSpPr>
      <p:grpSpPr>
        <a:xfrm>
          <a:off x="0" y="0"/>
          <a:ext cx="0" cy="0"/>
          <a:chOff x="0" y="0"/>
          <a:chExt cx="0" cy="0"/>
        </a:xfrm>
      </p:grpSpPr>
      <p:sp>
        <p:nvSpPr>
          <p:cNvPr id="15" name="Google Shape;15;p34"/>
          <p:cNvSpPr txBox="1">
            <a:spLocks noGrp="1"/>
          </p:cNvSpPr>
          <p:nvPr>
            <p:ph type="title"/>
          </p:nvPr>
        </p:nvSpPr>
        <p:spPr>
          <a:xfrm>
            <a:off x="929800" y="3910067"/>
            <a:ext cx="10332400" cy="135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48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7067"/>
              <a:buFont typeface="Hepta Slab Medium"/>
              <a:buNone/>
              <a:defRPr sz="17067">
                <a:solidFill>
                  <a:schemeClr val="dk1"/>
                </a:solidFill>
                <a:latin typeface="Hepta Slab Medium"/>
                <a:ea typeface="Hepta Slab Medium"/>
                <a:cs typeface="Hepta Slab Medium"/>
                <a:sym typeface="Hepta Slab Medium"/>
              </a:defRPr>
            </a:lvl9pPr>
          </a:lstStyle>
          <a:p>
            <a:endParaRPr/>
          </a:p>
        </p:txBody>
      </p:sp>
      <p:sp>
        <p:nvSpPr>
          <p:cNvPr id="16" name="Google Shape;16;p34"/>
          <p:cNvSpPr txBox="1">
            <a:spLocks noGrp="1"/>
          </p:cNvSpPr>
          <p:nvPr>
            <p:ph type="title" idx="2"/>
          </p:nvPr>
        </p:nvSpPr>
        <p:spPr>
          <a:xfrm>
            <a:off x="4371000" y="1592600"/>
            <a:ext cx="3450000" cy="265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accent4"/>
              </a:buClr>
              <a:buSzPts val="17067"/>
              <a:buNone/>
              <a:defRPr sz="17067">
                <a:solidFill>
                  <a:schemeClr val="accent4"/>
                </a:solidFill>
              </a:defRPr>
            </a:lvl1pPr>
            <a:lvl2pPr lvl="1"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2pPr>
            <a:lvl3pPr lvl="2"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3pPr>
            <a:lvl4pPr lvl="3"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4pPr>
            <a:lvl5pPr lvl="4"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5pPr>
            <a:lvl6pPr lvl="5"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6pPr>
            <a:lvl7pPr lvl="6"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7pPr>
            <a:lvl8pPr lvl="7"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8pPr>
            <a:lvl9pPr lvl="8" algn="ctr">
              <a:lnSpc>
                <a:spcPct val="100000"/>
              </a:lnSpc>
              <a:spcBef>
                <a:spcPts val="0"/>
              </a:spcBef>
              <a:spcAft>
                <a:spcPts val="0"/>
              </a:spcAft>
              <a:buClr>
                <a:schemeClr val="accent3"/>
              </a:buClr>
              <a:buSzPts val="17067"/>
              <a:buNone/>
              <a:defRPr sz="17067">
                <a:solidFill>
                  <a:schemeClr val="accent3"/>
                </a:solidFill>
                <a:latin typeface="Barlow Light"/>
                <a:ea typeface="Barlow Light"/>
                <a:cs typeface="Barlow Light"/>
                <a:sym typeface="Barlow Light"/>
              </a:defRPr>
            </a:lvl9pPr>
          </a:lstStyle>
          <a:p>
            <a:endParaRPr/>
          </a:p>
        </p:txBody>
      </p:sp>
      <p:sp>
        <p:nvSpPr>
          <p:cNvPr id="17" name="Google Shape;17;p34"/>
          <p:cNvSpPr txBox="1">
            <a:spLocks noGrp="1"/>
          </p:cNvSpPr>
          <p:nvPr>
            <p:ph type="sldNum" idx="12"/>
          </p:nvPr>
        </p:nvSpPr>
        <p:spPr>
          <a:xfrm>
            <a:off x="11409045" y="6333135"/>
            <a:ext cx="731600" cy="5248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1pPr>
            <a:lvl2pPr marL="0" marR="0" lvl="1"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2pPr>
            <a:lvl3pPr marL="0" marR="0" lvl="2"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3pPr>
            <a:lvl4pPr marL="0" marR="0" lvl="3"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4pPr>
            <a:lvl5pPr marL="0" marR="0" lvl="4"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5pPr>
            <a:lvl6pPr marL="0" marR="0" lvl="5"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6pPr>
            <a:lvl7pPr marL="0" marR="0" lvl="6"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7pPr>
            <a:lvl8pPr marL="0" marR="0" lvl="7"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8pPr>
            <a:lvl9pPr marL="0" marR="0" lvl="8"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5619644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 Content" type="tx">
  <p:cSld name="Agenda / Content">
    <p:bg>
      <p:bgPr>
        <a:solidFill>
          <a:schemeClr val="accent4"/>
        </a:solidFill>
        <a:effectLst/>
      </p:bgPr>
    </p:bg>
    <p:spTree>
      <p:nvGrpSpPr>
        <p:cNvPr id="1" name="Shape 18"/>
        <p:cNvGrpSpPr/>
        <p:nvPr/>
      </p:nvGrpSpPr>
      <p:grpSpPr>
        <a:xfrm>
          <a:off x="0" y="0"/>
          <a:ext cx="0" cy="0"/>
          <a:chOff x="0" y="0"/>
          <a:chExt cx="0" cy="0"/>
        </a:xfrm>
      </p:grpSpPr>
      <p:sp>
        <p:nvSpPr>
          <p:cNvPr id="19" name="Google Shape;19;p35"/>
          <p:cNvSpPr txBox="1">
            <a:spLocks noGrp="1"/>
          </p:cNvSpPr>
          <p:nvPr>
            <p:ph type="subTitle" idx="1"/>
          </p:nvPr>
        </p:nvSpPr>
        <p:spPr>
          <a:xfrm>
            <a:off x="633433" y="412300"/>
            <a:ext cx="4873600" cy="476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accent3"/>
              </a:buClr>
              <a:buSzPts val="1867"/>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2pPr>
            <a:lvl3pPr lvl="2"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3pPr>
            <a:lvl4pPr lvl="3"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4pPr>
            <a:lvl5pPr lvl="4"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5pPr>
            <a:lvl6pPr lvl="5"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6pPr>
            <a:lvl7pPr lvl="6"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7pPr>
            <a:lvl8pPr lvl="7"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8pPr>
            <a:lvl9pPr lvl="8" algn="l">
              <a:lnSpc>
                <a:spcPct val="100000"/>
              </a:lnSpc>
              <a:spcBef>
                <a:spcPts val="0"/>
              </a:spcBef>
              <a:spcAft>
                <a:spcPts val="0"/>
              </a:spcAft>
              <a:buClr>
                <a:schemeClr val="accent3"/>
              </a:buClr>
              <a:buSzPts val="1867"/>
              <a:buNone/>
              <a:defRPr>
                <a:solidFill>
                  <a:schemeClr val="accent3"/>
                </a:solidFill>
                <a:latin typeface="Barlow Light"/>
                <a:ea typeface="Barlow Light"/>
                <a:cs typeface="Barlow Light"/>
                <a:sym typeface="Barlow Light"/>
              </a:defRPr>
            </a:lvl9pPr>
          </a:lstStyle>
          <a:p>
            <a:endParaRPr/>
          </a:p>
        </p:txBody>
      </p:sp>
      <p:sp>
        <p:nvSpPr>
          <p:cNvPr id="20" name="Google Shape;20;p35"/>
          <p:cNvSpPr txBox="1">
            <a:spLocks noGrp="1"/>
          </p:cNvSpPr>
          <p:nvPr>
            <p:ph type="body" idx="2"/>
          </p:nvPr>
        </p:nvSpPr>
        <p:spPr>
          <a:xfrm>
            <a:off x="948129" y="1307405"/>
            <a:ext cx="1234800" cy="632000"/>
          </a:xfrm>
          <a:prstGeom prst="rect">
            <a:avLst/>
          </a:prstGeom>
          <a:noFill/>
          <a:ln>
            <a:noFill/>
          </a:ln>
        </p:spPr>
        <p:txBody>
          <a:bodyPr spcFirstLastPara="1" wrap="square" lIns="91425" tIns="91425" rIns="91425" bIns="91425" anchor="t" anchorCtr="0">
            <a:noAutofit/>
          </a:bodyPr>
          <a:lstStyle>
            <a:lvl1pPr marL="609600" lvl="0" indent="-541867" algn="r">
              <a:lnSpc>
                <a:spcPct val="80000"/>
              </a:lnSpc>
              <a:spcBef>
                <a:spcPts val="0"/>
              </a:spcBef>
              <a:spcAft>
                <a:spcPts val="0"/>
              </a:spcAft>
              <a:buClr>
                <a:schemeClr val="accent3"/>
              </a:buClr>
              <a:buSzPts val="3733"/>
              <a:buFont typeface="Barlow ExtraLight"/>
              <a:buChar char="●"/>
              <a:defRPr sz="3733">
                <a:solidFill>
                  <a:schemeClr val="accent3"/>
                </a:solidFill>
                <a:latin typeface="Barlow ExtraLight"/>
                <a:ea typeface="Barlow ExtraLight"/>
                <a:cs typeface="Barlow ExtraLight"/>
                <a:sym typeface="Barlow ExtraLight"/>
              </a:defRPr>
            </a:lvl1pPr>
            <a:lvl2pPr marL="1219200" lvl="1" indent="-423333" algn="l">
              <a:lnSpc>
                <a:spcPct val="80000"/>
              </a:lnSpc>
              <a:spcBef>
                <a:spcPts val="0"/>
              </a:spcBef>
              <a:spcAft>
                <a:spcPts val="0"/>
              </a:spcAft>
              <a:buClr>
                <a:schemeClr val="accent3"/>
              </a:buClr>
              <a:buSzPts val="1867"/>
              <a:buFont typeface="Barlow ExtraLight"/>
              <a:buChar char="○"/>
              <a:defRPr>
                <a:solidFill>
                  <a:schemeClr val="accent3"/>
                </a:solidFill>
                <a:latin typeface="Barlow ExtraLight"/>
                <a:ea typeface="Barlow ExtraLight"/>
                <a:cs typeface="Barlow ExtraLight"/>
                <a:sym typeface="Barlow ExtraLight"/>
              </a:defRPr>
            </a:lvl2pPr>
            <a:lvl3pPr marL="1828800" lvl="2" indent="-414867" algn="l">
              <a:lnSpc>
                <a:spcPct val="80000"/>
              </a:lnSpc>
              <a:spcBef>
                <a:spcPts val="0"/>
              </a:spcBef>
              <a:spcAft>
                <a:spcPts val="0"/>
              </a:spcAft>
              <a:buClr>
                <a:schemeClr val="accent3"/>
              </a:buClr>
              <a:buSzPts val="1733"/>
              <a:buFont typeface="Barlow ExtraLight"/>
              <a:buChar char="■"/>
              <a:defRPr>
                <a:solidFill>
                  <a:schemeClr val="accent3"/>
                </a:solidFill>
                <a:latin typeface="Barlow ExtraLight"/>
                <a:ea typeface="Barlow ExtraLight"/>
                <a:cs typeface="Barlow ExtraLight"/>
                <a:sym typeface="Barlow ExtraLight"/>
              </a:defRPr>
            </a:lvl3pPr>
            <a:lvl4pPr marL="2438400" lvl="3" indent="-406400" algn="l">
              <a:lnSpc>
                <a:spcPct val="80000"/>
              </a:lnSpc>
              <a:spcBef>
                <a:spcPts val="0"/>
              </a:spcBef>
              <a:spcAft>
                <a:spcPts val="0"/>
              </a:spcAft>
              <a:buClr>
                <a:schemeClr val="accent3"/>
              </a:buClr>
              <a:buSzPts val="1600"/>
              <a:buFont typeface="Barlow ExtraLight"/>
              <a:buChar char="●"/>
              <a:defRPr>
                <a:solidFill>
                  <a:schemeClr val="accent3"/>
                </a:solidFill>
                <a:latin typeface="Barlow ExtraLight"/>
                <a:ea typeface="Barlow ExtraLight"/>
                <a:cs typeface="Barlow ExtraLight"/>
                <a:sym typeface="Barlow ExtraLight"/>
              </a:defRPr>
            </a:lvl4pPr>
            <a:lvl5pPr marL="3048000" lvl="4" indent="-397933" algn="l">
              <a:lnSpc>
                <a:spcPct val="80000"/>
              </a:lnSpc>
              <a:spcBef>
                <a:spcPts val="0"/>
              </a:spcBef>
              <a:spcAft>
                <a:spcPts val="0"/>
              </a:spcAft>
              <a:buClr>
                <a:schemeClr val="accent3"/>
              </a:buClr>
              <a:buSzPts val="1467"/>
              <a:buFont typeface="Barlow ExtraLight"/>
              <a:buChar char="○"/>
              <a:defRPr>
                <a:solidFill>
                  <a:schemeClr val="accent3"/>
                </a:solidFill>
                <a:latin typeface="Barlow ExtraLight"/>
                <a:ea typeface="Barlow ExtraLight"/>
                <a:cs typeface="Barlow ExtraLight"/>
                <a:sym typeface="Barlow ExtraLight"/>
              </a:defRPr>
            </a:lvl5pPr>
            <a:lvl6pPr marL="3657600" lvl="5" indent="-389467" algn="l">
              <a:lnSpc>
                <a:spcPct val="80000"/>
              </a:lnSpc>
              <a:spcBef>
                <a:spcPts val="0"/>
              </a:spcBef>
              <a:spcAft>
                <a:spcPts val="0"/>
              </a:spcAft>
              <a:buClr>
                <a:schemeClr val="accent3"/>
              </a:buClr>
              <a:buSzPts val="1333"/>
              <a:buFont typeface="Barlow ExtraLight"/>
              <a:buChar char="■"/>
              <a:defRPr>
                <a:solidFill>
                  <a:schemeClr val="accent3"/>
                </a:solidFill>
                <a:latin typeface="Barlow ExtraLight"/>
                <a:ea typeface="Barlow ExtraLight"/>
                <a:cs typeface="Barlow ExtraLight"/>
                <a:sym typeface="Barlow ExtraLight"/>
              </a:defRPr>
            </a:lvl6pPr>
            <a:lvl7pPr marL="4267200" lvl="6" indent="-3810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7pPr>
            <a:lvl8pPr marL="4876800" lvl="7" indent="-372533" algn="l">
              <a:lnSpc>
                <a:spcPct val="80000"/>
              </a:lnSpc>
              <a:spcBef>
                <a:spcPts val="0"/>
              </a:spcBef>
              <a:spcAft>
                <a:spcPts val="0"/>
              </a:spcAft>
              <a:buClr>
                <a:schemeClr val="accent3"/>
              </a:buClr>
              <a:buSzPts val="1067"/>
              <a:buFont typeface="Barlow ExtraLight"/>
              <a:buChar char="○"/>
              <a:defRPr>
                <a:solidFill>
                  <a:schemeClr val="accent3"/>
                </a:solidFill>
                <a:latin typeface="Barlow ExtraLight"/>
                <a:ea typeface="Barlow ExtraLight"/>
                <a:cs typeface="Barlow ExtraLight"/>
                <a:sym typeface="Barlow ExtraLight"/>
              </a:defRPr>
            </a:lvl8pPr>
            <a:lvl9pPr marL="5486400" lvl="8" indent="-364067" algn="l">
              <a:lnSpc>
                <a:spcPct val="80000"/>
              </a:lnSpc>
              <a:spcBef>
                <a:spcPts val="0"/>
              </a:spcBef>
              <a:spcAft>
                <a:spcPts val="0"/>
              </a:spcAft>
              <a:buClr>
                <a:schemeClr val="accent3"/>
              </a:buClr>
              <a:buSzPts val="933"/>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1" name="Google Shape;21;p35"/>
          <p:cNvSpPr txBox="1">
            <a:spLocks noGrp="1"/>
          </p:cNvSpPr>
          <p:nvPr>
            <p:ph type="subTitle" idx="3"/>
          </p:nvPr>
        </p:nvSpPr>
        <p:spPr>
          <a:xfrm>
            <a:off x="2265628" y="1307039"/>
            <a:ext cx="3149600" cy="63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22" name="Google Shape;22;p35"/>
          <p:cNvSpPr txBox="1">
            <a:spLocks noGrp="1"/>
          </p:cNvSpPr>
          <p:nvPr>
            <p:ph type="body" idx="4"/>
          </p:nvPr>
        </p:nvSpPr>
        <p:spPr>
          <a:xfrm>
            <a:off x="3047729" y="1634739"/>
            <a:ext cx="2367600" cy="14780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23" name="Google Shape;23;p35"/>
          <p:cNvSpPr txBox="1">
            <a:spLocks noGrp="1"/>
          </p:cNvSpPr>
          <p:nvPr>
            <p:ph type="body" idx="5"/>
          </p:nvPr>
        </p:nvSpPr>
        <p:spPr>
          <a:xfrm>
            <a:off x="948129" y="2963555"/>
            <a:ext cx="1234800" cy="632000"/>
          </a:xfrm>
          <a:prstGeom prst="rect">
            <a:avLst/>
          </a:prstGeom>
          <a:noFill/>
          <a:ln>
            <a:noFill/>
          </a:ln>
        </p:spPr>
        <p:txBody>
          <a:bodyPr spcFirstLastPara="1" wrap="square" lIns="91425" tIns="91425" rIns="91425" bIns="91425" anchor="t" anchorCtr="0">
            <a:noAutofit/>
          </a:bodyPr>
          <a:lstStyle>
            <a:lvl1pPr marL="609600" lvl="0" indent="-541867" algn="r">
              <a:lnSpc>
                <a:spcPct val="80000"/>
              </a:lnSpc>
              <a:spcBef>
                <a:spcPts val="0"/>
              </a:spcBef>
              <a:spcAft>
                <a:spcPts val="0"/>
              </a:spcAft>
              <a:buClr>
                <a:schemeClr val="accent3"/>
              </a:buClr>
              <a:buSzPts val="3733"/>
              <a:buFont typeface="Barlow ExtraLight"/>
              <a:buChar char="●"/>
              <a:defRPr sz="3733">
                <a:solidFill>
                  <a:schemeClr val="accent3"/>
                </a:solidFill>
                <a:latin typeface="Barlow ExtraLight"/>
                <a:ea typeface="Barlow ExtraLight"/>
                <a:cs typeface="Barlow ExtraLight"/>
                <a:sym typeface="Barlow ExtraLight"/>
              </a:defRPr>
            </a:lvl1pPr>
            <a:lvl2pPr marL="1219200" lvl="1" indent="-423333" algn="l">
              <a:lnSpc>
                <a:spcPct val="80000"/>
              </a:lnSpc>
              <a:spcBef>
                <a:spcPts val="0"/>
              </a:spcBef>
              <a:spcAft>
                <a:spcPts val="0"/>
              </a:spcAft>
              <a:buClr>
                <a:schemeClr val="accent3"/>
              </a:buClr>
              <a:buSzPts val="1867"/>
              <a:buFont typeface="Barlow ExtraLight"/>
              <a:buChar char="○"/>
              <a:defRPr>
                <a:solidFill>
                  <a:schemeClr val="accent3"/>
                </a:solidFill>
                <a:latin typeface="Barlow ExtraLight"/>
                <a:ea typeface="Barlow ExtraLight"/>
                <a:cs typeface="Barlow ExtraLight"/>
                <a:sym typeface="Barlow ExtraLight"/>
              </a:defRPr>
            </a:lvl2pPr>
            <a:lvl3pPr marL="1828800" lvl="2" indent="-414867" algn="l">
              <a:lnSpc>
                <a:spcPct val="80000"/>
              </a:lnSpc>
              <a:spcBef>
                <a:spcPts val="0"/>
              </a:spcBef>
              <a:spcAft>
                <a:spcPts val="0"/>
              </a:spcAft>
              <a:buClr>
                <a:schemeClr val="accent3"/>
              </a:buClr>
              <a:buSzPts val="1733"/>
              <a:buFont typeface="Barlow ExtraLight"/>
              <a:buChar char="■"/>
              <a:defRPr>
                <a:solidFill>
                  <a:schemeClr val="accent3"/>
                </a:solidFill>
                <a:latin typeface="Barlow ExtraLight"/>
                <a:ea typeface="Barlow ExtraLight"/>
                <a:cs typeface="Barlow ExtraLight"/>
                <a:sym typeface="Barlow ExtraLight"/>
              </a:defRPr>
            </a:lvl3pPr>
            <a:lvl4pPr marL="2438400" lvl="3" indent="-406400" algn="l">
              <a:lnSpc>
                <a:spcPct val="80000"/>
              </a:lnSpc>
              <a:spcBef>
                <a:spcPts val="0"/>
              </a:spcBef>
              <a:spcAft>
                <a:spcPts val="0"/>
              </a:spcAft>
              <a:buClr>
                <a:schemeClr val="accent3"/>
              </a:buClr>
              <a:buSzPts val="1600"/>
              <a:buFont typeface="Barlow ExtraLight"/>
              <a:buChar char="●"/>
              <a:defRPr>
                <a:solidFill>
                  <a:schemeClr val="accent3"/>
                </a:solidFill>
                <a:latin typeface="Barlow ExtraLight"/>
                <a:ea typeface="Barlow ExtraLight"/>
                <a:cs typeface="Barlow ExtraLight"/>
                <a:sym typeface="Barlow ExtraLight"/>
              </a:defRPr>
            </a:lvl4pPr>
            <a:lvl5pPr marL="3048000" lvl="4" indent="-397933" algn="l">
              <a:lnSpc>
                <a:spcPct val="80000"/>
              </a:lnSpc>
              <a:spcBef>
                <a:spcPts val="0"/>
              </a:spcBef>
              <a:spcAft>
                <a:spcPts val="0"/>
              </a:spcAft>
              <a:buClr>
                <a:schemeClr val="accent3"/>
              </a:buClr>
              <a:buSzPts val="1467"/>
              <a:buFont typeface="Barlow ExtraLight"/>
              <a:buChar char="○"/>
              <a:defRPr>
                <a:solidFill>
                  <a:schemeClr val="accent3"/>
                </a:solidFill>
                <a:latin typeface="Barlow ExtraLight"/>
                <a:ea typeface="Barlow ExtraLight"/>
                <a:cs typeface="Barlow ExtraLight"/>
                <a:sym typeface="Barlow ExtraLight"/>
              </a:defRPr>
            </a:lvl5pPr>
            <a:lvl6pPr marL="3657600" lvl="5" indent="-389467" algn="l">
              <a:lnSpc>
                <a:spcPct val="80000"/>
              </a:lnSpc>
              <a:spcBef>
                <a:spcPts val="0"/>
              </a:spcBef>
              <a:spcAft>
                <a:spcPts val="0"/>
              </a:spcAft>
              <a:buClr>
                <a:schemeClr val="accent3"/>
              </a:buClr>
              <a:buSzPts val="1333"/>
              <a:buFont typeface="Barlow ExtraLight"/>
              <a:buChar char="■"/>
              <a:defRPr>
                <a:solidFill>
                  <a:schemeClr val="accent3"/>
                </a:solidFill>
                <a:latin typeface="Barlow ExtraLight"/>
                <a:ea typeface="Barlow ExtraLight"/>
                <a:cs typeface="Barlow ExtraLight"/>
                <a:sym typeface="Barlow ExtraLight"/>
              </a:defRPr>
            </a:lvl6pPr>
            <a:lvl7pPr marL="4267200" lvl="6" indent="-3810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7pPr>
            <a:lvl8pPr marL="4876800" lvl="7" indent="-372533" algn="l">
              <a:lnSpc>
                <a:spcPct val="80000"/>
              </a:lnSpc>
              <a:spcBef>
                <a:spcPts val="0"/>
              </a:spcBef>
              <a:spcAft>
                <a:spcPts val="0"/>
              </a:spcAft>
              <a:buClr>
                <a:schemeClr val="accent3"/>
              </a:buClr>
              <a:buSzPts val="1067"/>
              <a:buFont typeface="Barlow ExtraLight"/>
              <a:buChar char="○"/>
              <a:defRPr>
                <a:solidFill>
                  <a:schemeClr val="accent3"/>
                </a:solidFill>
                <a:latin typeface="Barlow ExtraLight"/>
                <a:ea typeface="Barlow ExtraLight"/>
                <a:cs typeface="Barlow ExtraLight"/>
                <a:sym typeface="Barlow ExtraLight"/>
              </a:defRPr>
            </a:lvl8pPr>
            <a:lvl9pPr marL="5486400" lvl="8" indent="-364067" algn="l">
              <a:lnSpc>
                <a:spcPct val="80000"/>
              </a:lnSpc>
              <a:spcBef>
                <a:spcPts val="0"/>
              </a:spcBef>
              <a:spcAft>
                <a:spcPts val="0"/>
              </a:spcAft>
              <a:buClr>
                <a:schemeClr val="accent3"/>
              </a:buClr>
              <a:buSzPts val="933"/>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4" name="Google Shape;24;p35"/>
          <p:cNvSpPr txBox="1">
            <a:spLocks noGrp="1"/>
          </p:cNvSpPr>
          <p:nvPr>
            <p:ph type="subTitle" idx="6"/>
          </p:nvPr>
        </p:nvSpPr>
        <p:spPr>
          <a:xfrm>
            <a:off x="2265628" y="2963188"/>
            <a:ext cx="3149600" cy="63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25" name="Google Shape;25;p35"/>
          <p:cNvSpPr txBox="1">
            <a:spLocks noGrp="1"/>
          </p:cNvSpPr>
          <p:nvPr>
            <p:ph type="body" idx="7"/>
          </p:nvPr>
        </p:nvSpPr>
        <p:spPr>
          <a:xfrm>
            <a:off x="3047729" y="3290888"/>
            <a:ext cx="2367600" cy="11240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26" name="Google Shape;26;p35"/>
          <p:cNvSpPr txBox="1">
            <a:spLocks noGrp="1"/>
          </p:cNvSpPr>
          <p:nvPr>
            <p:ph type="body" idx="8"/>
          </p:nvPr>
        </p:nvSpPr>
        <p:spPr>
          <a:xfrm>
            <a:off x="948129" y="4292124"/>
            <a:ext cx="1234800" cy="632000"/>
          </a:xfrm>
          <a:prstGeom prst="rect">
            <a:avLst/>
          </a:prstGeom>
          <a:noFill/>
          <a:ln>
            <a:noFill/>
          </a:ln>
        </p:spPr>
        <p:txBody>
          <a:bodyPr spcFirstLastPara="1" wrap="square" lIns="91425" tIns="91425" rIns="91425" bIns="91425" anchor="t" anchorCtr="0">
            <a:noAutofit/>
          </a:bodyPr>
          <a:lstStyle>
            <a:lvl1pPr marL="609600" lvl="0" indent="-541867" algn="r">
              <a:lnSpc>
                <a:spcPct val="80000"/>
              </a:lnSpc>
              <a:spcBef>
                <a:spcPts val="0"/>
              </a:spcBef>
              <a:spcAft>
                <a:spcPts val="0"/>
              </a:spcAft>
              <a:buClr>
                <a:schemeClr val="accent3"/>
              </a:buClr>
              <a:buSzPts val="3733"/>
              <a:buFont typeface="Barlow ExtraLight"/>
              <a:buChar char="●"/>
              <a:defRPr sz="3733">
                <a:solidFill>
                  <a:schemeClr val="accent3"/>
                </a:solidFill>
                <a:latin typeface="Barlow ExtraLight"/>
                <a:ea typeface="Barlow ExtraLight"/>
                <a:cs typeface="Barlow ExtraLight"/>
                <a:sym typeface="Barlow ExtraLight"/>
              </a:defRPr>
            </a:lvl1pPr>
            <a:lvl2pPr marL="1219200" lvl="1" indent="-423333" algn="l">
              <a:lnSpc>
                <a:spcPct val="80000"/>
              </a:lnSpc>
              <a:spcBef>
                <a:spcPts val="0"/>
              </a:spcBef>
              <a:spcAft>
                <a:spcPts val="0"/>
              </a:spcAft>
              <a:buClr>
                <a:schemeClr val="accent3"/>
              </a:buClr>
              <a:buSzPts val="1867"/>
              <a:buFont typeface="Barlow ExtraLight"/>
              <a:buChar char="○"/>
              <a:defRPr>
                <a:solidFill>
                  <a:schemeClr val="accent3"/>
                </a:solidFill>
                <a:latin typeface="Barlow ExtraLight"/>
                <a:ea typeface="Barlow ExtraLight"/>
                <a:cs typeface="Barlow ExtraLight"/>
                <a:sym typeface="Barlow ExtraLight"/>
              </a:defRPr>
            </a:lvl2pPr>
            <a:lvl3pPr marL="1828800" lvl="2" indent="-414867" algn="l">
              <a:lnSpc>
                <a:spcPct val="80000"/>
              </a:lnSpc>
              <a:spcBef>
                <a:spcPts val="0"/>
              </a:spcBef>
              <a:spcAft>
                <a:spcPts val="0"/>
              </a:spcAft>
              <a:buClr>
                <a:schemeClr val="accent3"/>
              </a:buClr>
              <a:buSzPts val="1733"/>
              <a:buFont typeface="Barlow ExtraLight"/>
              <a:buChar char="■"/>
              <a:defRPr>
                <a:solidFill>
                  <a:schemeClr val="accent3"/>
                </a:solidFill>
                <a:latin typeface="Barlow ExtraLight"/>
                <a:ea typeface="Barlow ExtraLight"/>
                <a:cs typeface="Barlow ExtraLight"/>
                <a:sym typeface="Barlow ExtraLight"/>
              </a:defRPr>
            </a:lvl3pPr>
            <a:lvl4pPr marL="2438400" lvl="3" indent="-406400" algn="l">
              <a:lnSpc>
                <a:spcPct val="80000"/>
              </a:lnSpc>
              <a:spcBef>
                <a:spcPts val="0"/>
              </a:spcBef>
              <a:spcAft>
                <a:spcPts val="0"/>
              </a:spcAft>
              <a:buClr>
                <a:schemeClr val="accent3"/>
              </a:buClr>
              <a:buSzPts val="1600"/>
              <a:buFont typeface="Barlow ExtraLight"/>
              <a:buChar char="●"/>
              <a:defRPr>
                <a:solidFill>
                  <a:schemeClr val="accent3"/>
                </a:solidFill>
                <a:latin typeface="Barlow ExtraLight"/>
                <a:ea typeface="Barlow ExtraLight"/>
                <a:cs typeface="Barlow ExtraLight"/>
                <a:sym typeface="Barlow ExtraLight"/>
              </a:defRPr>
            </a:lvl4pPr>
            <a:lvl5pPr marL="3048000" lvl="4" indent="-397933" algn="l">
              <a:lnSpc>
                <a:spcPct val="80000"/>
              </a:lnSpc>
              <a:spcBef>
                <a:spcPts val="0"/>
              </a:spcBef>
              <a:spcAft>
                <a:spcPts val="0"/>
              </a:spcAft>
              <a:buClr>
                <a:schemeClr val="accent3"/>
              </a:buClr>
              <a:buSzPts val="1467"/>
              <a:buFont typeface="Barlow ExtraLight"/>
              <a:buChar char="○"/>
              <a:defRPr>
                <a:solidFill>
                  <a:schemeClr val="accent3"/>
                </a:solidFill>
                <a:latin typeface="Barlow ExtraLight"/>
                <a:ea typeface="Barlow ExtraLight"/>
                <a:cs typeface="Barlow ExtraLight"/>
                <a:sym typeface="Barlow ExtraLight"/>
              </a:defRPr>
            </a:lvl5pPr>
            <a:lvl6pPr marL="3657600" lvl="5" indent="-389467" algn="l">
              <a:lnSpc>
                <a:spcPct val="80000"/>
              </a:lnSpc>
              <a:spcBef>
                <a:spcPts val="0"/>
              </a:spcBef>
              <a:spcAft>
                <a:spcPts val="0"/>
              </a:spcAft>
              <a:buClr>
                <a:schemeClr val="accent3"/>
              </a:buClr>
              <a:buSzPts val="1333"/>
              <a:buFont typeface="Barlow ExtraLight"/>
              <a:buChar char="■"/>
              <a:defRPr>
                <a:solidFill>
                  <a:schemeClr val="accent3"/>
                </a:solidFill>
                <a:latin typeface="Barlow ExtraLight"/>
                <a:ea typeface="Barlow ExtraLight"/>
                <a:cs typeface="Barlow ExtraLight"/>
                <a:sym typeface="Barlow ExtraLight"/>
              </a:defRPr>
            </a:lvl6pPr>
            <a:lvl7pPr marL="4267200" lvl="6" indent="-3810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7pPr>
            <a:lvl8pPr marL="4876800" lvl="7" indent="-372533" algn="l">
              <a:lnSpc>
                <a:spcPct val="80000"/>
              </a:lnSpc>
              <a:spcBef>
                <a:spcPts val="0"/>
              </a:spcBef>
              <a:spcAft>
                <a:spcPts val="0"/>
              </a:spcAft>
              <a:buClr>
                <a:schemeClr val="accent3"/>
              </a:buClr>
              <a:buSzPts val="1067"/>
              <a:buFont typeface="Barlow ExtraLight"/>
              <a:buChar char="○"/>
              <a:defRPr>
                <a:solidFill>
                  <a:schemeClr val="accent3"/>
                </a:solidFill>
                <a:latin typeface="Barlow ExtraLight"/>
                <a:ea typeface="Barlow ExtraLight"/>
                <a:cs typeface="Barlow ExtraLight"/>
                <a:sym typeface="Barlow ExtraLight"/>
              </a:defRPr>
            </a:lvl8pPr>
            <a:lvl9pPr marL="5486400" lvl="8" indent="-364067" algn="l">
              <a:lnSpc>
                <a:spcPct val="80000"/>
              </a:lnSpc>
              <a:spcBef>
                <a:spcPts val="0"/>
              </a:spcBef>
              <a:spcAft>
                <a:spcPts val="0"/>
              </a:spcAft>
              <a:buClr>
                <a:schemeClr val="accent3"/>
              </a:buClr>
              <a:buSzPts val="933"/>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27" name="Google Shape;27;p35"/>
          <p:cNvSpPr txBox="1">
            <a:spLocks noGrp="1"/>
          </p:cNvSpPr>
          <p:nvPr>
            <p:ph type="subTitle" idx="9"/>
          </p:nvPr>
        </p:nvSpPr>
        <p:spPr>
          <a:xfrm>
            <a:off x="2265628" y="4291757"/>
            <a:ext cx="3149600" cy="63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28" name="Google Shape;28;p35"/>
          <p:cNvSpPr txBox="1">
            <a:spLocks noGrp="1"/>
          </p:cNvSpPr>
          <p:nvPr>
            <p:ph type="body" idx="13"/>
          </p:nvPr>
        </p:nvSpPr>
        <p:spPr>
          <a:xfrm>
            <a:off x="3047729" y="4619457"/>
            <a:ext cx="2367600" cy="11240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29" name="Google Shape;29;p35"/>
          <p:cNvSpPr txBox="1">
            <a:spLocks noGrp="1"/>
          </p:cNvSpPr>
          <p:nvPr>
            <p:ph type="body" idx="14"/>
          </p:nvPr>
        </p:nvSpPr>
        <p:spPr>
          <a:xfrm>
            <a:off x="6328775" y="1307405"/>
            <a:ext cx="1234800" cy="632000"/>
          </a:xfrm>
          <a:prstGeom prst="rect">
            <a:avLst/>
          </a:prstGeom>
          <a:noFill/>
          <a:ln>
            <a:noFill/>
          </a:ln>
        </p:spPr>
        <p:txBody>
          <a:bodyPr spcFirstLastPara="1" wrap="square" lIns="91425" tIns="91425" rIns="91425" bIns="91425" anchor="t" anchorCtr="0">
            <a:noAutofit/>
          </a:bodyPr>
          <a:lstStyle>
            <a:lvl1pPr marL="609600" lvl="0" indent="-541867" algn="r">
              <a:lnSpc>
                <a:spcPct val="80000"/>
              </a:lnSpc>
              <a:spcBef>
                <a:spcPts val="0"/>
              </a:spcBef>
              <a:spcAft>
                <a:spcPts val="0"/>
              </a:spcAft>
              <a:buClr>
                <a:schemeClr val="accent3"/>
              </a:buClr>
              <a:buSzPts val="3733"/>
              <a:buFont typeface="Barlow ExtraLight"/>
              <a:buChar char="●"/>
              <a:defRPr sz="3733">
                <a:solidFill>
                  <a:schemeClr val="accent3"/>
                </a:solidFill>
                <a:latin typeface="Barlow ExtraLight"/>
                <a:ea typeface="Barlow ExtraLight"/>
                <a:cs typeface="Barlow ExtraLight"/>
                <a:sym typeface="Barlow ExtraLight"/>
              </a:defRPr>
            </a:lvl1pPr>
            <a:lvl2pPr marL="1219200" lvl="1" indent="-423333" algn="l">
              <a:lnSpc>
                <a:spcPct val="80000"/>
              </a:lnSpc>
              <a:spcBef>
                <a:spcPts val="0"/>
              </a:spcBef>
              <a:spcAft>
                <a:spcPts val="0"/>
              </a:spcAft>
              <a:buClr>
                <a:schemeClr val="accent3"/>
              </a:buClr>
              <a:buSzPts val="1867"/>
              <a:buFont typeface="Barlow ExtraLight"/>
              <a:buChar char="○"/>
              <a:defRPr>
                <a:solidFill>
                  <a:schemeClr val="accent3"/>
                </a:solidFill>
                <a:latin typeface="Barlow ExtraLight"/>
                <a:ea typeface="Barlow ExtraLight"/>
                <a:cs typeface="Barlow ExtraLight"/>
                <a:sym typeface="Barlow ExtraLight"/>
              </a:defRPr>
            </a:lvl2pPr>
            <a:lvl3pPr marL="1828800" lvl="2" indent="-414867" algn="l">
              <a:lnSpc>
                <a:spcPct val="80000"/>
              </a:lnSpc>
              <a:spcBef>
                <a:spcPts val="0"/>
              </a:spcBef>
              <a:spcAft>
                <a:spcPts val="0"/>
              </a:spcAft>
              <a:buClr>
                <a:schemeClr val="accent3"/>
              </a:buClr>
              <a:buSzPts val="1733"/>
              <a:buFont typeface="Barlow ExtraLight"/>
              <a:buChar char="■"/>
              <a:defRPr>
                <a:solidFill>
                  <a:schemeClr val="accent3"/>
                </a:solidFill>
                <a:latin typeface="Barlow ExtraLight"/>
                <a:ea typeface="Barlow ExtraLight"/>
                <a:cs typeface="Barlow ExtraLight"/>
                <a:sym typeface="Barlow ExtraLight"/>
              </a:defRPr>
            </a:lvl3pPr>
            <a:lvl4pPr marL="2438400" lvl="3" indent="-406400" algn="l">
              <a:lnSpc>
                <a:spcPct val="80000"/>
              </a:lnSpc>
              <a:spcBef>
                <a:spcPts val="0"/>
              </a:spcBef>
              <a:spcAft>
                <a:spcPts val="0"/>
              </a:spcAft>
              <a:buClr>
                <a:schemeClr val="accent3"/>
              </a:buClr>
              <a:buSzPts val="1600"/>
              <a:buFont typeface="Barlow ExtraLight"/>
              <a:buChar char="●"/>
              <a:defRPr>
                <a:solidFill>
                  <a:schemeClr val="accent3"/>
                </a:solidFill>
                <a:latin typeface="Barlow ExtraLight"/>
                <a:ea typeface="Barlow ExtraLight"/>
                <a:cs typeface="Barlow ExtraLight"/>
                <a:sym typeface="Barlow ExtraLight"/>
              </a:defRPr>
            </a:lvl4pPr>
            <a:lvl5pPr marL="3048000" lvl="4" indent="-397933" algn="l">
              <a:lnSpc>
                <a:spcPct val="80000"/>
              </a:lnSpc>
              <a:spcBef>
                <a:spcPts val="0"/>
              </a:spcBef>
              <a:spcAft>
                <a:spcPts val="0"/>
              </a:spcAft>
              <a:buClr>
                <a:schemeClr val="accent3"/>
              </a:buClr>
              <a:buSzPts val="1467"/>
              <a:buFont typeface="Barlow ExtraLight"/>
              <a:buChar char="○"/>
              <a:defRPr>
                <a:solidFill>
                  <a:schemeClr val="accent3"/>
                </a:solidFill>
                <a:latin typeface="Barlow ExtraLight"/>
                <a:ea typeface="Barlow ExtraLight"/>
                <a:cs typeface="Barlow ExtraLight"/>
                <a:sym typeface="Barlow ExtraLight"/>
              </a:defRPr>
            </a:lvl5pPr>
            <a:lvl6pPr marL="3657600" lvl="5" indent="-389467" algn="l">
              <a:lnSpc>
                <a:spcPct val="80000"/>
              </a:lnSpc>
              <a:spcBef>
                <a:spcPts val="0"/>
              </a:spcBef>
              <a:spcAft>
                <a:spcPts val="0"/>
              </a:spcAft>
              <a:buClr>
                <a:schemeClr val="accent3"/>
              </a:buClr>
              <a:buSzPts val="1333"/>
              <a:buFont typeface="Barlow ExtraLight"/>
              <a:buChar char="■"/>
              <a:defRPr>
                <a:solidFill>
                  <a:schemeClr val="accent3"/>
                </a:solidFill>
                <a:latin typeface="Barlow ExtraLight"/>
                <a:ea typeface="Barlow ExtraLight"/>
                <a:cs typeface="Barlow ExtraLight"/>
                <a:sym typeface="Barlow ExtraLight"/>
              </a:defRPr>
            </a:lvl6pPr>
            <a:lvl7pPr marL="4267200" lvl="6" indent="-3810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7pPr>
            <a:lvl8pPr marL="4876800" lvl="7" indent="-372533" algn="l">
              <a:lnSpc>
                <a:spcPct val="80000"/>
              </a:lnSpc>
              <a:spcBef>
                <a:spcPts val="0"/>
              </a:spcBef>
              <a:spcAft>
                <a:spcPts val="0"/>
              </a:spcAft>
              <a:buClr>
                <a:schemeClr val="accent3"/>
              </a:buClr>
              <a:buSzPts val="1067"/>
              <a:buFont typeface="Barlow ExtraLight"/>
              <a:buChar char="○"/>
              <a:defRPr>
                <a:solidFill>
                  <a:schemeClr val="accent3"/>
                </a:solidFill>
                <a:latin typeface="Barlow ExtraLight"/>
                <a:ea typeface="Barlow ExtraLight"/>
                <a:cs typeface="Barlow ExtraLight"/>
                <a:sym typeface="Barlow ExtraLight"/>
              </a:defRPr>
            </a:lvl8pPr>
            <a:lvl9pPr marL="5486400" lvl="8" indent="-364067" algn="l">
              <a:lnSpc>
                <a:spcPct val="80000"/>
              </a:lnSpc>
              <a:spcBef>
                <a:spcPts val="0"/>
              </a:spcBef>
              <a:spcAft>
                <a:spcPts val="0"/>
              </a:spcAft>
              <a:buClr>
                <a:schemeClr val="accent3"/>
              </a:buClr>
              <a:buSzPts val="933"/>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30" name="Google Shape;30;p35"/>
          <p:cNvSpPr txBox="1">
            <a:spLocks noGrp="1"/>
          </p:cNvSpPr>
          <p:nvPr>
            <p:ph type="subTitle" idx="15"/>
          </p:nvPr>
        </p:nvSpPr>
        <p:spPr>
          <a:xfrm>
            <a:off x="7646273" y="1307039"/>
            <a:ext cx="3149600" cy="63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31" name="Google Shape;31;p35"/>
          <p:cNvSpPr txBox="1">
            <a:spLocks noGrp="1"/>
          </p:cNvSpPr>
          <p:nvPr>
            <p:ph type="body" idx="16"/>
          </p:nvPr>
        </p:nvSpPr>
        <p:spPr>
          <a:xfrm>
            <a:off x="8428375" y="1634739"/>
            <a:ext cx="2367600" cy="14780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32" name="Google Shape;32;p35"/>
          <p:cNvSpPr txBox="1">
            <a:spLocks noGrp="1"/>
          </p:cNvSpPr>
          <p:nvPr>
            <p:ph type="body" idx="17"/>
          </p:nvPr>
        </p:nvSpPr>
        <p:spPr>
          <a:xfrm>
            <a:off x="6328775" y="2963555"/>
            <a:ext cx="1234800" cy="632000"/>
          </a:xfrm>
          <a:prstGeom prst="rect">
            <a:avLst/>
          </a:prstGeom>
          <a:noFill/>
          <a:ln>
            <a:noFill/>
          </a:ln>
        </p:spPr>
        <p:txBody>
          <a:bodyPr spcFirstLastPara="1" wrap="square" lIns="91425" tIns="91425" rIns="91425" bIns="91425" anchor="t" anchorCtr="0">
            <a:noAutofit/>
          </a:bodyPr>
          <a:lstStyle>
            <a:lvl1pPr marL="609600" lvl="0" indent="-541867" algn="r">
              <a:lnSpc>
                <a:spcPct val="80000"/>
              </a:lnSpc>
              <a:spcBef>
                <a:spcPts val="0"/>
              </a:spcBef>
              <a:spcAft>
                <a:spcPts val="0"/>
              </a:spcAft>
              <a:buClr>
                <a:schemeClr val="accent3"/>
              </a:buClr>
              <a:buSzPts val="3733"/>
              <a:buFont typeface="Barlow ExtraLight"/>
              <a:buChar char="●"/>
              <a:defRPr sz="3733">
                <a:solidFill>
                  <a:schemeClr val="accent3"/>
                </a:solidFill>
                <a:latin typeface="Barlow ExtraLight"/>
                <a:ea typeface="Barlow ExtraLight"/>
                <a:cs typeface="Barlow ExtraLight"/>
                <a:sym typeface="Barlow ExtraLight"/>
              </a:defRPr>
            </a:lvl1pPr>
            <a:lvl2pPr marL="1219200" lvl="1" indent="-423333" algn="l">
              <a:lnSpc>
                <a:spcPct val="80000"/>
              </a:lnSpc>
              <a:spcBef>
                <a:spcPts val="0"/>
              </a:spcBef>
              <a:spcAft>
                <a:spcPts val="0"/>
              </a:spcAft>
              <a:buClr>
                <a:schemeClr val="accent3"/>
              </a:buClr>
              <a:buSzPts val="1867"/>
              <a:buFont typeface="Barlow ExtraLight"/>
              <a:buChar char="○"/>
              <a:defRPr>
                <a:solidFill>
                  <a:schemeClr val="accent3"/>
                </a:solidFill>
                <a:latin typeface="Barlow ExtraLight"/>
                <a:ea typeface="Barlow ExtraLight"/>
                <a:cs typeface="Barlow ExtraLight"/>
                <a:sym typeface="Barlow ExtraLight"/>
              </a:defRPr>
            </a:lvl2pPr>
            <a:lvl3pPr marL="1828800" lvl="2" indent="-414867" algn="l">
              <a:lnSpc>
                <a:spcPct val="80000"/>
              </a:lnSpc>
              <a:spcBef>
                <a:spcPts val="0"/>
              </a:spcBef>
              <a:spcAft>
                <a:spcPts val="0"/>
              </a:spcAft>
              <a:buClr>
                <a:schemeClr val="accent3"/>
              </a:buClr>
              <a:buSzPts val="1733"/>
              <a:buFont typeface="Barlow ExtraLight"/>
              <a:buChar char="■"/>
              <a:defRPr>
                <a:solidFill>
                  <a:schemeClr val="accent3"/>
                </a:solidFill>
                <a:latin typeface="Barlow ExtraLight"/>
                <a:ea typeface="Barlow ExtraLight"/>
                <a:cs typeface="Barlow ExtraLight"/>
                <a:sym typeface="Barlow ExtraLight"/>
              </a:defRPr>
            </a:lvl3pPr>
            <a:lvl4pPr marL="2438400" lvl="3" indent="-406400" algn="l">
              <a:lnSpc>
                <a:spcPct val="80000"/>
              </a:lnSpc>
              <a:spcBef>
                <a:spcPts val="0"/>
              </a:spcBef>
              <a:spcAft>
                <a:spcPts val="0"/>
              </a:spcAft>
              <a:buClr>
                <a:schemeClr val="accent3"/>
              </a:buClr>
              <a:buSzPts val="1600"/>
              <a:buFont typeface="Barlow ExtraLight"/>
              <a:buChar char="●"/>
              <a:defRPr>
                <a:solidFill>
                  <a:schemeClr val="accent3"/>
                </a:solidFill>
                <a:latin typeface="Barlow ExtraLight"/>
                <a:ea typeface="Barlow ExtraLight"/>
                <a:cs typeface="Barlow ExtraLight"/>
                <a:sym typeface="Barlow ExtraLight"/>
              </a:defRPr>
            </a:lvl4pPr>
            <a:lvl5pPr marL="3048000" lvl="4" indent="-397933" algn="l">
              <a:lnSpc>
                <a:spcPct val="80000"/>
              </a:lnSpc>
              <a:spcBef>
                <a:spcPts val="0"/>
              </a:spcBef>
              <a:spcAft>
                <a:spcPts val="0"/>
              </a:spcAft>
              <a:buClr>
                <a:schemeClr val="accent3"/>
              </a:buClr>
              <a:buSzPts val="1467"/>
              <a:buFont typeface="Barlow ExtraLight"/>
              <a:buChar char="○"/>
              <a:defRPr>
                <a:solidFill>
                  <a:schemeClr val="accent3"/>
                </a:solidFill>
                <a:latin typeface="Barlow ExtraLight"/>
                <a:ea typeface="Barlow ExtraLight"/>
                <a:cs typeface="Barlow ExtraLight"/>
                <a:sym typeface="Barlow ExtraLight"/>
              </a:defRPr>
            </a:lvl5pPr>
            <a:lvl6pPr marL="3657600" lvl="5" indent="-389467" algn="l">
              <a:lnSpc>
                <a:spcPct val="80000"/>
              </a:lnSpc>
              <a:spcBef>
                <a:spcPts val="0"/>
              </a:spcBef>
              <a:spcAft>
                <a:spcPts val="0"/>
              </a:spcAft>
              <a:buClr>
                <a:schemeClr val="accent3"/>
              </a:buClr>
              <a:buSzPts val="1333"/>
              <a:buFont typeface="Barlow ExtraLight"/>
              <a:buChar char="■"/>
              <a:defRPr>
                <a:solidFill>
                  <a:schemeClr val="accent3"/>
                </a:solidFill>
                <a:latin typeface="Barlow ExtraLight"/>
                <a:ea typeface="Barlow ExtraLight"/>
                <a:cs typeface="Barlow ExtraLight"/>
                <a:sym typeface="Barlow ExtraLight"/>
              </a:defRPr>
            </a:lvl6pPr>
            <a:lvl7pPr marL="4267200" lvl="6" indent="-3810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7pPr>
            <a:lvl8pPr marL="4876800" lvl="7" indent="-372533" algn="l">
              <a:lnSpc>
                <a:spcPct val="80000"/>
              </a:lnSpc>
              <a:spcBef>
                <a:spcPts val="0"/>
              </a:spcBef>
              <a:spcAft>
                <a:spcPts val="0"/>
              </a:spcAft>
              <a:buClr>
                <a:schemeClr val="accent3"/>
              </a:buClr>
              <a:buSzPts val="1067"/>
              <a:buFont typeface="Barlow ExtraLight"/>
              <a:buChar char="○"/>
              <a:defRPr>
                <a:solidFill>
                  <a:schemeClr val="accent3"/>
                </a:solidFill>
                <a:latin typeface="Barlow ExtraLight"/>
                <a:ea typeface="Barlow ExtraLight"/>
                <a:cs typeface="Barlow ExtraLight"/>
                <a:sym typeface="Barlow ExtraLight"/>
              </a:defRPr>
            </a:lvl8pPr>
            <a:lvl9pPr marL="5486400" lvl="8" indent="-364067" algn="l">
              <a:lnSpc>
                <a:spcPct val="80000"/>
              </a:lnSpc>
              <a:spcBef>
                <a:spcPts val="0"/>
              </a:spcBef>
              <a:spcAft>
                <a:spcPts val="0"/>
              </a:spcAft>
              <a:buClr>
                <a:schemeClr val="accent3"/>
              </a:buClr>
              <a:buSzPts val="933"/>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33" name="Google Shape;33;p35"/>
          <p:cNvSpPr txBox="1">
            <a:spLocks noGrp="1"/>
          </p:cNvSpPr>
          <p:nvPr>
            <p:ph type="subTitle" idx="18"/>
          </p:nvPr>
        </p:nvSpPr>
        <p:spPr>
          <a:xfrm>
            <a:off x="7646273" y="2963188"/>
            <a:ext cx="3149600" cy="63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34" name="Google Shape;34;p35"/>
          <p:cNvSpPr txBox="1">
            <a:spLocks noGrp="1"/>
          </p:cNvSpPr>
          <p:nvPr>
            <p:ph type="body" idx="19"/>
          </p:nvPr>
        </p:nvSpPr>
        <p:spPr>
          <a:xfrm>
            <a:off x="8428375" y="3290888"/>
            <a:ext cx="2367600" cy="11240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35" name="Google Shape;35;p35"/>
          <p:cNvSpPr txBox="1">
            <a:spLocks noGrp="1"/>
          </p:cNvSpPr>
          <p:nvPr>
            <p:ph type="body" idx="20"/>
          </p:nvPr>
        </p:nvSpPr>
        <p:spPr>
          <a:xfrm>
            <a:off x="6328775" y="4292124"/>
            <a:ext cx="1234800" cy="632000"/>
          </a:xfrm>
          <a:prstGeom prst="rect">
            <a:avLst/>
          </a:prstGeom>
          <a:noFill/>
          <a:ln>
            <a:noFill/>
          </a:ln>
        </p:spPr>
        <p:txBody>
          <a:bodyPr spcFirstLastPara="1" wrap="square" lIns="91425" tIns="91425" rIns="91425" bIns="91425" anchor="t" anchorCtr="0">
            <a:noAutofit/>
          </a:bodyPr>
          <a:lstStyle>
            <a:lvl1pPr marL="609600" lvl="0" indent="-541867" algn="r">
              <a:lnSpc>
                <a:spcPct val="80000"/>
              </a:lnSpc>
              <a:spcBef>
                <a:spcPts val="0"/>
              </a:spcBef>
              <a:spcAft>
                <a:spcPts val="0"/>
              </a:spcAft>
              <a:buClr>
                <a:schemeClr val="accent3"/>
              </a:buClr>
              <a:buSzPts val="3733"/>
              <a:buFont typeface="Barlow ExtraLight"/>
              <a:buChar char="●"/>
              <a:defRPr sz="3733">
                <a:solidFill>
                  <a:schemeClr val="accent3"/>
                </a:solidFill>
                <a:latin typeface="Barlow ExtraLight"/>
                <a:ea typeface="Barlow ExtraLight"/>
                <a:cs typeface="Barlow ExtraLight"/>
                <a:sym typeface="Barlow ExtraLight"/>
              </a:defRPr>
            </a:lvl1pPr>
            <a:lvl2pPr marL="1219200" lvl="1" indent="-423333" algn="l">
              <a:lnSpc>
                <a:spcPct val="80000"/>
              </a:lnSpc>
              <a:spcBef>
                <a:spcPts val="0"/>
              </a:spcBef>
              <a:spcAft>
                <a:spcPts val="0"/>
              </a:spcAft>
              <a:buClr>
                <a:schemeClr val="accent3"/>
              </a:buClr>
              <a:buSzPts val="1867"/>
              <a:buFont typeface="Barlow ExtraLight"/>
              <a:buChar char="○"/>
              <a:defRPr>
                <a:solidFill>
                  <a:schemeClr val="accent3"/>
                </a:solidFill>
                <a:latin typeface="Barlow ExtraLight"/>
                <a:ea typeface="Barlow ExtraLight"/>
                <a:cs typeface="Barlow ExtraLight"/>
                <a:sym typeface="Barlow ExtraLight"/>
              </a:defRPr>
            </a:lvl2pPr>
            <a:lvl3pPr marL="1828800" lvl="2" indent="-414867" algn="l">
              <a:lnSpc>
                <a:spcPct val="80000"/>
              </a:lnSpc>
              <a:spcBef>
                <a:spcPts val="0"/>
              </a:spcBef>
              <a:spcAft>
                <a:spcPts val="0"/>
              </a:spcAft>
              <a:buClr>
                <a:schemeClr val="accent3"/>
              </a:buClr>
              <a:buSzPts val="1733"/>
              <a:buFont typeface="Barlow ExtraLight"/>
              <a:buChar char="■"/>
              <a:defRPr>
                <a:solidFill>
                  <a:schemeClr val="accent3"/>
                </a:solidFill>
                <a:latin typeface="Barlow ExtraLight"/>
                <a:ea typeface="Barlow ExtraLight"/>
                <a:cs typeface="Barlow ExtraLight"/>
                <a:sym typeface="Barlow ExtraLight"/>
              </a:defRPr>
            </a:lvl3pPr>
            <a:lvl4pPr marL="2438400" lvl="3" indent="-406400" algn="l">
              <a:lnSpc>
                <a:spcPct val="80000"/>
              </a:lnSpc>
              <a:spcBef>
                <a:spcPts val="0"/>
              </a:spcBef>
              <a:spcAft>
                <a:spcPts val="0"/>
              </a:spcAft>
              <a:buClr>
                <a:schemeClr val="accent3"/>
              </a:buClr>
              <a:buSzPts val="1600"/>
              <a:buFont typeface="Barlow ExtraLight"/>
              <a:buChar char="●"/>
              <a:defRPr>
                <a:solidFill>
                  <a:schemeClr val="accent3"/>
                </a:solidFill>
                <a:latin typeface="Barlow ExtraLight"/>
                <a:ea typeface="Barlow ExtraLight"/>
                <a:cs typeface="Barlow ExtraLight"/>
                <a:sym typeface="Barlow ExtraLight"/>
              </a:defRPr>
            </a:lvl4pPr>
            <a:lvl5pPr marL="3048000" lvl="4" indent="-397933" algn="l">
              <a:lnSpc>
                <a:spcPct val="80000"/>
              </a:lnSpc>
              <a:spcBef>
                <a:spcPts val="0"/>
              </a:spcBef>
              <a:spcAft>
                <a:spcPts val="0"/>
              </a:spcAft>
              <a:buClr>
                <a:schemeClr val="accent3"/>
              </a:buClr>
              <a:buSzPts val="1467"/>
              <a:buFont typeface="Barlow ExtraLight"/>
              <a:buChar char="○"/>
              <a:defRPr>
                <a:solidFill>
                  <a:schemeClr val="accent3"/>
                </a:solidFill>
                <a:latin typeface="Barlow ExtraLight"/>
                <a:ea typeface="Barlow ExtraLight"/>
                <a:cs typeface="Barlow ExtraLight"/>
                <a:sym typeface="Barlow ExtraLight"/>
              </a:defRPr>
            </a:lvl5pPr>
            <a:lvl6pPr marL="3657600" lvl="5" indent="-389467" algn="l">
              <a:lnSpc>
                <a:spcPct val="80000"/>
              </a:lnSpc>
              <a:spcBef>
                <a:spcPts val="0"/>
              </a:spcBef>
              <a:spcAft>
                <a:spcPts val="0"/>
              </a:spcAft>
              <a:buClr>
                <a:schemeClr val="accent3"/>
              </a:buClr>
              <a:buSzPts val="1333"/>
              <a:buFont typeface="Barlow ExtraLight"/>
              <a:buChar char="■"/>
              <a:defRPr>
                <a:solidFill>
                  <a:schemeClr val="accent3"/>
                </a:solidFill>
                <a:latin typeface="Barlow ExtraLight"/>
                <a:ea typeface="Barlow ExtraLight"/>
                <a:cs typeface="Barlow ExtraLight"/>
                <a:sym typeface="Barlow ExtraLight"/>
              </a:defRPr>
            </a:lvl6pPr>
            <a:lvl7pPr marL="4267200" lvl="6" indent="-3810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7pPr>
            <a:lvl8pPr marL="4876800" lvl="7" indent="-372533" algn="l">
              <a:lnSpc>
                <a:spcPct val="80000"/>
              </a:lnSpc>
              <a:spcBef>
                <a:spcPts val="0"/>
              </a:spcBef>
              <a:spcAft>
                <a:spcPts val="0"/>
              </a:spcAft>
              <a:buClr>
                <a:schemeClr val="accent3"/>
              </a:buClr>
              <a:buSzPts val="1067"/>
              <a:buFont typeface="Barlow ExtraLight"/>
              <a:buChar char="○"/>
              <a:defRPr>
                <a:solidFill>
                  <a:schemeClr val="accent3"/>
                </a:solidFill>
                <a:latin typeface="Barlow ExtraLight"/>
                <a:ea typeface="Barlow ExtraLight"/>
                <a:cs typeface="Barlow ExtraLight"/>
                <a:sym typeface="Barlow ExtraLight"/>
              </a:defRPr>
            </a:lvl8pPr>
            <a:lvl9pPr marL="5486400" lvl="8" indent="-364067" algn="l">
              <a:lnSpc>
                <a:spcPct val="80000"/>
              </a:lnSpc>
              <a:spcBef>
                <a:spcPts val="0"/>
              </a:spcBef>
              <a:spcAft>
                <a:spcPts val="0"/>
              </a:spcAft>
              <a:buClr>
                <a:schemeClr val="accent3"/>
              </a:buClr>
              <a:buSzPts val="933"/>
              <a:buFont typeface="Barlow ExtraLight"/>
              <a:buChar char="■"/>
              <a:defRPr>
                <a:solidFill>
                  <a:schemeClr val="accent3"/>
                </a:solidFill>
                <a:latin typeface="Barlow ExtraLight"/>
                <a:ea typeface="Barlow ExtraLight"/>
                <a:cs typeface="Barlow ExtraLight"/>
                <a:sym typeface="Barlow ExtraLight"/>
              </a:defRPr>
            </a:lvl9pPr>
          </a:lstStyle>
          <a:p>
            <a:endParaRPr/>
          </a:p>
        </p:txBody>
      </p:sp>
      <p:sp>
        <p:nvSpPr>
          <p:cNvPr id="36" name="Google Shape;36;p35"/>
          <p:cNvSpPr txBox="1">
            <a:spLocks noGrp="1"/>
          </p:cNvSpPr>
          <p:nvPr>
            <p:ph type="subTitle" idx="21"/>
          </p:nvPr>
        </p:nvSpPr>
        <p:spPr>
          <a:xfrm>
            <a:off x="7646273" y="4291757"/>
            <a:ext cx="3149600" cy="632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37" name="Google Shape;37;p35"/>
          <p:cNvSpPr txBox="1">
            <a:spLocks noGrp="1"/>
          </p:cNvSpPr>
          <p:nvPr>
            <p:ph type="body" idx="22"/>
          </p:nvPr>
        </p:nvSpPr>
        <p:spPr>
          <a:xfrm>
            <a:off x="8428375" y="4619457"/>
            <a:ext cx="2367600" cy="11240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38" name="Google Shape;38;p35"/>
          <p:cNvSpPr txBox="1">
            <a:spLocks noGrp="1"/>
          </p:cNvSpPr>
          <p:nvPr>
            <p:ph type="sldNum" idx="12"/>
          </p:nvPr>
        </p:nvSpPr>
        <p:spPr>
          <a:xfrm>
            <a:off x="11320705" y="334439"/>
            <a:ext cx="465200" cy="237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1pPr>
            <a:lvl2pPr marL="0" marR="0" lvl="1"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2pPr>
            <a:lvl3pPr marL="0" marR="0" lvl="2"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3pPr>
            <a:lvl4pPr marL="0" marR="0" lvl="3"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4pPr>
            <a:lvl5pPr marL="0" marR="0" lvl="4"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5pPr>
            <a:lvl6pPr marL="0" marR="0" lvl="5"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6pPr>
            <a:lvl7pPr marL="0" marR="0" lvl="6"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7pPr>
            <a:lvl8pPr marL="0" marR="0" lvl="7"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8pPr>
            <a:lvl9pPr marL="0" marR="0" lvl="8" indent="0" algn="r">
              <a:lnSpc>
                <a:spcPct val="100000"/>
              </a:lnSpc>
              <a:spcBef>
                <a:spcPts val="0"/>
              </a:spcBef>
              <a:spcAft>
                <a:spcPts val="0"/>
              </a:spcAft>
              <a:buClr>
                <a:srgbClr val="000000"/>
              </a:buClr>
              <a:buSzPts val="1467"/>
              <a:buFont typeface="Arial"/>
              <a:buNone/>
              <a:defRPr sz="1467" b="0" i="0" u="none" strike="noStrike" cap="none">
                <a:solidFill>
                  <a:schemeClr val="accent3"/>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4879209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fferentiators / 4 column text">
  <p:cSld name="Differentiators / 4 column text">
    <p:bg>
      <p:bgPr>
        <a:solidFill>
          <a:schemeClr val="dk1"/>
        </a:solidFill>
        <a:effectLst/>
      </p:bgPr>
    </p:bg>
    <p:spTree>
      <p:nvGrpSpPr>
        <p:cNvPr id="1" name="Shape 43"/>
        <p:cNvGrpSpPr/>
        <p:nvPr/>
      </p:nvGrpSpPr>
      <p:grpSpPr>
        <a:xfrm>
          <a:off x="0" y="0"/>
          <a:ext cx="0" cy="0"/>
          <a:chOff x="0" y="0"/>
          <a:chExt cx="0" cy="0"/>
        </a:xfrm>
      </p:grpSpPr>
      <p:sp>
        <p:nvSpPr>
          <p:cNvPr id="48" name="Google Shape;48;p37"/>
          <p:cNvSpPr txBox="1">
            <a:spLocks noGrp="1"/>
          </p:cNvSpPr>
          <p:nvPr>
            <p:ph type="subTitle" idx="1"/>
          </p:nvPr>
        </p:nvSpPr>
        <p:spPr>
          <a:xfrm>
            <a:off x="640560" y="387501"/>
            <a:ext cx="4789600" cy="449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867"/>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867"/>
              <a:buNone/>
              <a:defRPr>
                <a:solidFill>
                  <a:schemeClr val="lt1"/>
                </a:solidFill>
                <a:latin typeface="Barlow Light"/>
                <a:ea typeface="Barlow Light"/>
                <a:cs typeface="Barlow Light"/>
                <a:sym typeface="Barlow Light"/>
              </a:defRPr>
            </a:lvl9pPr>
          </a:lstStyle>
          <a:p>
            <a:endParaRPr/>
          </a:p>
        </p:txBody>
      </p:sp>
      <p:sp>
        <p:nvSpPr>
          <p:cNvPr id="49" name="Google Shape;49;p37"/>
          <p:cNvSpPr txBox="1">
            <a:spLocks noGrp="1"/>
          </p:cNvSpPr>
          <p:nvPr>
            <p:ph type="body" idx="2"/>
          </p:nvPr>
        </p:nvSpPr>
        <p:spPr>
          <a:xfrm>
            <a:off x="640567" y="813967"/>
            <a:ext cx="6504400" cy="800400"/>
          </a:xfrm>
          <a:prstGeom prst="rect">
            <a:avLst/>
          </a:prstGeom>
          <a:noFill/>
          <a:ln>
            <a:noFill/>
          </a:ln>
        </p:spPr>
        <p:txBody>
          <a:bodyPr spcFirstLastPara="1" wrap="square" lIns="91425" tIns="91425" rIns="91425" bIns="91425" anchor="t" anchorCtr="0">
            <a:noAutofit/>
          </a:bodyPr>
          <a:lstStyle>
            <a:lvl1pPr marL="609600" lvl="0"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1pPr>
            <a:lvl2pPr marL="1219200" lvl="1"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2pPr>
            <a:lvl3pPr marL="1828800" lvl="2"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3pPr>
            <a:lvl4pPr marL="2438400" lvl="3"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4pPr>
            <a:lvl5pPr marL="3048000" lvl="4" indent="-397933" algn="l">
              <a:lnSpc>
                <a:spcPct val="100000"/>
              </a:lnSpc>
              <a:spcBef>
                <a:spcPts val="0"/>
              </a:spcBef>
              <a:spcAft>
                <a:spcPts val="0"/>
              </a:spcAft>
              <a:buClr>
                <a:schemeClr val="lt1"/>
              </a:buClr>
              <a:buSzPts val="1467"/>
              <a:buFont typeface="Barlow"/>
              <a:buChar char="○"/>
              <a:defRPr>
                <a:solidFill>
                  <a:schemeClr val="lt1"/>
                </a:solidFill>
                <a:latin typeface="Barlow"/>
                <a:ea typeface="Barlow"/>
                <a:cs typeface="Barlow"/>
                <a:sym typeface="Barlow"/>
              </a:defRPr>
            </a:lvl5pPr>
            <a:lvl6pPr marL="3657600" lvl="5"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6pPr>
            <a:lvl7pPr marL="4267200" lvl="6"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7pPr>
            <a:lvl8pPr marL="4876800" lvl="7"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8pPr>
            <a:lvl9pPr marL="5486400" lvl="8" indent="-397933" algn="l">
              <a:lnSpc>
                <a:spcPct val="100000"/>
              </a:lnSpc>
              <a:spcBef>
                <a:spcPts val="0"/>
              </a:spcBef>
              <a:spcAft>
                <a:spcPts val="0"/>
              </a:spcAft>
              <a:buClr>
                <a:schemeClr val="lt1"/>
              </a:buClr>
              <a:buSzPts val="1467"/>
              <a:buFont typeface="Barlow"/>
              <a:buChar char="■"/>
              <a:defRPr sz="1467">
                <a:solidFill>
                  <a:schemeClr val="lt1"/>
                </a:solidFill>
                <a:latin typeface="Barlow"/>
                <a:ea typeface="Barlow"/>
                <a:cs typeface="Barlow"/>
                <a:sym typeface="Barlow"/>
              </a:defRPr>
            </a:lvl9pPr>
          </a:lstStyle>
          <a:p>
            <a:endParaRPr/>
          </a:p>
        </p:txBody>
      </p:sp>
      <p:sp>
        <p:nvSpPr>
          <p:cNvPr id="50" name="Google Shape;50;p37"/>
          <p:cNvSpPr txBox="1">
            <a:spLocks noGrp="1"/>
          </p:cNvSpPr>
          <p:nvPr>
            <p:ph type="sldNum" idx="12"/>
          </p:nvPr>
        </p:nvSpPr>
        <p:spPr>
          <a:xfrm>
            <a:off x="11320705" y="334439"/>
            <a:ext cx="465200" cy="237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1pPr>
            <a:lvl2pPr marL="0" marR="0" lvl="1"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2pPr>
            <a:lvl3pPr marL="0" marR="0" lvl="2"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3pPr>
            <a:lvl4pPr marL="0" marR="0" lvl="3"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4pPr>
            <a:lvl5pPr marL="0" marR="0" lvl="4"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5pPr>
            <a:lvl6pPr marL="0" marR="0" lvl="5"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6pPr>
            <a:lvl7pPr marL="0" marR="0" lvl="6"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7pPr>
            <a:lvl8pPr marL="0" marR="0" lvl="7"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8pPr>
            <a:lvl9pPr marL="0" marR="0" lvl="8" indent="0" algn="r">
              <a:lnSpc>
                <a:spcPct val="100000"/>
              </a:lnSpc>
              <a:spcBef>
                <a:spcPts val="0"/>
              </a:spcBef>
              <a:spcAft>
                <a:spcPts val="0"/>
              </a:spcAft>
              <a:buClr>
                <a:srgbClr val="000000"/>
              </a:buClr>
              <a:buSzPts val="1467"/>
              <a:buFont typeface="Arial"/>
              <a:buNone/>
              <a:defRPr sz="1467" b="0" i="0" u="none" strike="noStrike" cap="none">
                <a:solidFill>
                  <a:schemeClr val="dk2"/>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615477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55"/>
        <p:cNvGrpSpPr/>
        <p:nvPr/>
      </p:nvGrpSpPr>
      <p:grpSpPr>
        <a:xfrm>
          <a:off x="0" y="0"/>
          <a:ext cx="0" cy="0"/>
          <a:chOff x="0" y="0"/>
          <a:chExt cx="0" cy="0"/>
        </a:xfrm>
      </p:grpSpPr>
      <p:sp>
        <p:nvSpPr>
          <p:cNvPr id="56" name="Google Shape;56;p39"/>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4800"/>
              <a:buNone/>
              <a:defRPr/>
            </a:lvl1pPr>
            <a:lvl2pPr lvl="1" algn="l">
              <a:lnSpc>
                <a:spcPct val="100000"/>
              </a:lnSpc>
              <a:spcBef>
                <a:spcPts val="0"/>
              </a:spcBef>
              <a:spcAft>
                <a:spcPts val="0"/>
              </a:spcAft>
              <a:buSzPts val="1867"/>
              <a:buNone/>
              <a:defRPr/>
            </a:lvl2pPr>
            <a:lvl3pPr lvl="2" algn="l">
              <a:lnSpc>
                <a:spcPct val="100000"/>
              </a:lnSpc>
              <a:spcBef>
                <a:spcPts val="0"/>
              </a:spcBef>
              <a:spcAft>
                <a:spcPts val="0"/>
              </a:spcAft>
              <a:buSzPts val="1867"/>
              <a:buNone/>
              <a:defRPr/>
            </a:lvl3pPr>
            <a:lvl4pPr lvl="3" algn="l">
              <a:lnSpc>
                <a:spcPct val="100000"/>
              </a:lnSpc>
              <a:spcBef>
                <a:spcPts val="0"/>
              </a:spcBef>
              <a:spcAft>
                <a:spcPts val="0"/>
              </a:spcAft>
              <a:buSzPts val="1867"/>
              <a:buNone/>
              <a:defRPr/>
            </a:lvl4pPr>
            <a:lvl5pPr lvl="4" algn="l">
              <a:lnSpc>
                <a:spcPct val="100000"/>
              </a:lnSpc>
              <a:spcBef>
                <a:spcPts val="0"/>
              </a:spcBef>
              <a:spcAft>
                <a:spcPts val="0"/>
              </a:spcAft>
              <a:buSzPts val="1867"/>
              <a:buNone/>
              <a:defRPr/>
            </a:lvl5pPr>
            <a:lvl6pPr lvl="5" algn="l">
              <a:lnSpc>
                <a:spcPct val="100000"/>
              </a:lnSpc>
              <a:spcBef>
                <a:spcPts val="0"/>
              </a:spcBef>
              <a:spcAft>
                <a:spcPts val="0"/>
              </a:spcAft>
              <a:buSzPts val="1867"/>
              <a:buNone/>
              <a:defRPr/>
            </a:lvl6pPr>
            <a:lvl7pPr lvl="6" algn="l">
              <a:lnSpc>
                <a:spcPct val="100000"/>
              </a:lnSpc>
              <a:spcBef>
                <a:spcPts val="0"/>
              </a:spcBef>
              <a:spcAft>
                <a:spcPts val="0"/>
              </a:spcAft>
              <a:buSzPts val="1867"/>
              <a:buNone/>
              <a:defRPr/>
            </a:lvl7pPr>
            <a:lvl8pPr lvl="7" algn="l">
              <a:lnSpc>
                <a:spcPct val="100000"/>
              </a:lnSpc>
              <a:spcBef>
                <a:spcPts val="0"/>
              </a:spcBef>
              <a:spcAft>
                <a:spcPts val="0"/>
              </a:spcAft>
              <a:buSzPts val="1867"/>
              <a:buNone/>
              <a:defRPr/>
            </a:lvl8pPr>
            <a:lvl9pPr lvl="8" algn="l">
              <a:lnSpc>
                <a:spcPct val="100000"/>
              </a:lnSpc>
              <a:spcBef>
                <a:spcPts val="0"/>
              </a:spcBef>
              <a:spcAft>
                <a:spcPts val="0"/>
              </a:spcAft>
              <a:buSzPts val="1867"/>
              <a:buNone/>
              <a:defRPr/>
            </a:lvl9pPr>
          </a:lstStyle>
          <a:p>
            <a:endParaRPr/>
          </a:p>
        </p:txBody>
      </p:sp>
      <p:sp>
        <p:nvSpPr>
          <p:cNvPr id="57" name="Google Shape;57;p39"/>
          <p:cNvSpPr txBox="1">
            <a:spLocks noGrp="1"/>
          </p:cNvSpPr>
          <p:nvPr>
            <p:ph type="body" idx="1"/>
          </p:nvPr>
        </p:nvSpPr>
        <p:spPr>
          <a:xfrm>
            <a:off x="415600" y="1536633"/>
            <a:ext cx="5965200" cy="4555200"/>
          </a:xfrm>
          <a:prstGeom prst="rect">
            <a:avLst/>
          </a:prstGeom>
          <a:noFill/>
          <a:ln>
            <a:noFill/>
          </a:ln>
        </p:spPr>
        <p:txBody>
          <a:bodyPr spcFirstLastPara="1" wrap="square" lIns="91425" tIns="91425" rIns="91425" bIns="91425" anchor="t" anchorCtr="0">
            <a:noAutofit/>
          </a:bodyPr>
          <a:lstStyle>
            <a:lvl1pPr marL="609600" lvl="0" indent="-431800" algn="l">
              <a:lnSpc>
                <a:spcPct val="100000"/>
              </a:lnSpc>
              <a:spcBef>
                <a:spcPts val="0"/>
              </a:spcBef>
              <a:spcAft>
                <a:spcPts val="0"/>
              </a:spcAft>
              <a:buSzPts val="2000"/>
              <a:buChar char="●"/>
              <a:defRPr/>
            </a:lvl1pPr>
            <a:lvl2pPr marL="1219200" lvl="1" indent="-423333" algn="l">
              <a:lnSpc>
                <a:spcPct val="100000"/>
              </a:lnSpc>
              <a:spcBef>
                <a:spcPts val="0"/>
              </a:spcBef>
              <a:spcAft>
                <a:spcPts val="0"/>
              </a:spcAft>
              <a:buSzPts val="1867"/>
              <a:buChar char="○"/>
              <a:defRPr/>
            </a:lvl2pPr>
            <a:lvl3pPr marL="1828800" lvl="2" indent="-414867" algn="l">
              <a:lnSpc>
                <a:spcPct val="100000"/>
              </a:lnSpc>
              <a:spcBef>
                <a:spcPts val="0"/>
              </a:spcBef>
              <a:spcAft>
                <a:spcPts val="0"/>
              </a:spcAft>
              <a:buSzPts val="1733"/>
              <a:buChar char="■"/>
              <a:defRPr/>
            </a:lvl3pPr>
            <a:lvl4pPr marL="2438400" lvl="3" indent="-406400" algn="l">
              <a:lnSpc>
                <a:spcPct val="100000"/>
              </a:lnSpc>
              <a:spcBef>
                <a:spcPts val="0"/>
              </a:spcBef>
              <a:spcAft>
                <a:spcPts val="0"/>
              </a:spcAft>
              <a:buSzPts val="1600"/>
              <a:buChar char="●"/>
              <a:defRPr/>
            </a:lvl4pPr>
            <a:lvl5pPr marL="3048000" lvl="4" indent="-397933" algn="l">
              <a:lnSpc>
                <a:spcPct val="100000"/>
              </a:lnSpc>
              <a:spcBef>
                <a:spcPts val="0"/>
              </a:spcBef>
              <a:spcAft>
                <a:spcPts val="0"/>
              </a:spcAft>
              <a:buSzPts val="1467"/>
              <a:buChar char="○"/>
              <a:defRPr/>
            </a:lvl5pPr>
            <a:lvl6pPr marL="3657600" lvl="5" indent="-389467" algn="l">
              <a:lnSpc>
                <a:spcPct val="100000"/>
              </a:lnSpc>
              <a:spcBef>
                <a:spcPts val="0"/>
              </a:spcBef>
              <a:spcAft>
                <a:spcPts val="0"/>
              </a:spcAft>
              <a:buSzPts val="1333"/>
              <a:buChar char="■"/>
              <a:defRPr/>
            </a:lvl6pPr>
            <a:lvl7pPr marL="4267200" lvl="6" indent="-381000" algn="l">
              <a:lnSpc>
                <a:spcPct val="100000"/>
              </a:lnSpc>
              <a:spcBef>
                <a:spcPts val="0"/>
              </a:spcBef>
              <a:spcAft>
                <a:spcPts val="0"/>
              </a:spcAft>
              <a:buSzPts val="1200"/>
              <a:buChar char="●"/>
              <a:defRPr/>
            </a:lvl7pPr>
            <a:lvl8pPr marL="4876800" lvl="7" indent="-372533" algn="l">
              <a:lnSpc>
                <a:spcPct val="100000"/>
              </a:lnSpc>
              <a:spcBef>
                <a:spcPts val="0"/>
              </a:spcBef>
              <a:spcAft>
                <a:spcPts val="0"/>
              </a:spcAft>
              <a:buSzPts val="1067"/>
              <a:buChar char="○"/>
              <a:defRPr/>
            </a:lvl8pPr>
            <a:lvl9pPr marL="5486400" lvl="8" indent="-364067" algn="l">
              <a:lnSpc>
                <a:spcPct val="100000"/>
              </a:lnSpc>
              <a:spcBef>
                <a:spcPts val="0"/>
              </a:spcBef>
              <a:spcAft>
                <a:spcPts val="0"/>
              </a:spcAft>
              <a:buSzPts val="933"/>
              <a:buChar char="■"/>
              <a:defRPr/>
            </a:lvl9pPr>
          </a:lstStyle>
          <a:p>
            <a:endParaRPr/>
          </a:p>
        </p:txBody>
      </p:sp>
      <p:sp>
        <p:nvSpPr>
          <p:cNvPr id="58" name="Google Shape;58;p39"/>
          <p:cNvSpPr>
            <a:spLocks noGrp="1"/>
          </p:cNvSpPr>
          <p:nvPr>
            <p:ph type="pic" idx="2"/>
          </p:nvPr>
        </p:nvSpPr>
        <p:spPr>
          <a:xfrm>
            <a:off x="6656032" y="1537033"/>
            <a:ext cx="5120400" cy="4555200"/>
          </a:xfrm>
          <a:prstGeom prst="rect">
            <a:avLst/>
          </a:prstGeom>
          <a:noFill/>
          <a:ln>
            <a:noFill/>
          </a:ln>
        </p:spPr>
      </p:sp>
      <p:sp>
        <p:nvSpPr>
          <p:cNvPr id="59" name="Google Shape;59;p3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1pPr>
            <a:lvl2pPr marL="0" marR="0" lvl="1"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2pPr>
            <a:lvl3pPr marL="0" marR="0" lvl="2"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3pPr>
            <a:lvl4pPr marL="0" marR="0" lvl="3"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4pPr>
            <a:lvl5pPr marL="0" marR="0" lvl="4"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5pPr>
            <a:lvl6pPr marL="0" marR="0" lvl="5"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6pPr>
            <a:lvl7pPr marL="0" marR="0" lvl="6"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7pPr>
            <a:lvl8pPr marL="0" marR="0" lvl="7"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8pPr>
            <a:lvl9pPr marL="0" marR="0" lvl="8" indent="0" algn="r">
              <a:lnSpc>
                <a:spcPct val="100000"/>
              </a:lnSpc>
              <a:spcBef>
                <a:spcPts val="0"/>
              </a:spcBef>
              <a:spcAft>
                <a:spcPts val="0"/>
              </a:spcAft>
              <a:buClr>
                <a:srgbClr val="000000"/>
              </a:buClr>
              <a:buSzPts val="1733"/>
              <a:buFont typeface="Arial"/>
              <a:buNone/>
              <a:defRPr sz="1733" b="0" i="0" u="none" strike="noStrike" cap="none">
                <a:solidFill>
                  <a:schemeClr val="dk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542994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35BC00-4BE4-6F1C-DF99-9EE319DBA7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705135-4237-2917-9409-19D693399765}"/>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6F18D-03C5-7D54-7479-87C17F65C15E}"/>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BEF0D-F0BB-DE4B-95CE-6DB70DBA9567}" type="datetimeFigureOut">
              <a:rPr lang="en-US" smtClean="0"/>
              <a:pPr/>
              <a:t>9/11/2026</a:t>
            </a:fld>
            <a:endParaRPr lang="en-US" dirty="0"/>
          </a:p>
        </p:txBody>
      </p:sp>
      <p:sp>
        <p:nvSpPr>
          <p:cNvPr id="5" name="Footer Placeholder 4">
            <a:extLst>
              <a:ext uri="{FF2B5EF4-FFF2-40B4-BE49-F238E27FC236}">
                <a16:creationId xmlns:a16="http://schemas.microsoft.com/office/drawing/2014/main" id="{FB6C532F-AD0E-F591-E5F8-A4BD656199A2}"/>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C6E5812-9E7B-E078-F3FA-AFCB46319F65}"/>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860589451"/>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 name="Rectangle 2">
            <a:extLst>
              <a:ext uri="{FF2B5EF4-FFF2-40B4-BE49-F238E27FC236}">
                <a16:creationId xmlns:a16="http://schemas.microsoft.com/office/drawing/2014/main" id="{1DECCC34-5C2F-F67C-1FAF-48CC891E9AC7}"/>
              </a:ext>
            </a:extLst>
          </p:cNvPr>
          <p:cNvSpPr/>
          <p:nvPr/>
        </p:nvSpPr>
        <p:spPr>
          <a:xfrm>
            <a:off x="0" y="-1836"/>
            <a:ext cx="12192000" cy="70948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0" name="IT Ticket Icon Strip" descr="Decorative icon strip of IT support ticket, headset, gear, chat and checkmark icons"/>
          <p:cNvPicPr>
            <a:picLocks noChangeAspect="1"/>
          </p:cNvPicPr>
          <p:nvPr/>
        </p:nvPicPr>
        <p:blipFill>
          <a:blip r:embed="rId3"/>
          <a:stretch>
            <a:fillRect/>
          </a:stretch>
        </p:blipFill>
        <p:spPr>
          <a:xfrm>
            <a:off x="2496000" y="3181062"/>
            <a:ext cx="6441523" cy="1530000"/>
          </a:xfrm>
          <a:prstGeom prst="rect">
            <a:avLst/>
          </a:prstGeom>
        </p:spPr>
      </p:pic>
      <p:sp>
        <p:nvSpPr>
          <p:cNvPr id="331" name="Google Shape;331;p1"/>
          <p:cNvSpPr txBox="1">
            <a:spLocks noGrp="1"/>
          </p:cNvSpPr>
          <p:nvPr>
            <p:ph type="body" idx="1"/>
          </p:nvPr>
        </p:nvSpPr>
        <p:spPr>
          <a:xfrm>
            <a:off x="4105619" y="4792712"/>
            <a:ext cx="3980763" cy="1069600"/>
          </a:xfrm>
          <a:prstGeom prst="rect">
            <a:avLst/>
          </a:prstGeom>
          <a:noFill/>
          <a:ln w="12700" cap="flat" cmpd="sng">
            <a:noFill/>
            <a:prstDash val="solid"/>
            <a:round/>
            <a:headEnd type="none" w="sm" len="sm"/>
            <a:tailEnd type="none" w="sm" len="sm"/>
          </a:ln>
        </p:spPr>
        <p:txBody>
          <a:bodyPr spcFirstLastPara="1" wrap="square" lIns="0" tIns="0" rIns="0" bIns="0" anchor="ctr" anchorCtr="0">
            <a:normAutofit/>
          </a:bodyPr>
          <a:lstStyle/>
          <a:p>
            <a:pPr marL="0" lvl="0" indent="0" algn="ctr" rtl="0">
              <a:lnSpc>
                <a:spcPct val="100000"/>
              </a:lnSpc>
              <a:spcBef>
                <a:spcPts val="0"/>
              </a:spcBef>
              <a:spcAft>
                <a:spcPts val="0"/>
              </a:spcAft>
              <a:buSzPts val="1467"/>
              <a:buNone/>
            </a:pPr>
            <a:r>
              <a:rPr lang="en-US" sz="3200" b="1" dirty="0">
                <a:solidFill>
                  <a:schemeClr val="bg1"/>
                </a:solidFill>
                <a:latin typeface="Aptos"/>
              </a:rPr>
              <a:t>Rajiv Kumar</a:t>
            </a:r>
            <a:endParaRPr sz="3200" b="1" dirty="0">
              <a:solidFill>
                <a:schemeClr val="bg1"/>
              </a:solidFill>
            </a:endParaRPr>
          </a:p>
        </p:txBody>
      </p:sp>
      <p:sp>
        <p:nvSpPr>
          <p:cNvPr id="333" name="Google Shape;333;p1"/>
          <p:cNvSpPr txBox="1"/>
          <p:nvPr/>
        </p:nvSpPr>
        <p:spPr>
          <a:xfrm>
            <a:off x="4925200" y="5862312"/>
            <a:ext cx="1935200" cy="444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dirty="0">
                <a:solidFill>
                  <a:srgbClr val="475569"/>
                </a:solidFill>
                <a:latin typeface="Aptos"/>
                <a:ea typeface="Barlow Light"/>
                <a:cs typeface="Barlow Light"/>
                <a:sym typeface="Barlow Light"/>
              </a:rPr>
              <a:t>     </a:t>
            </a:r>
            <a:r>
              <a:rPr lang="en" sz="2000" b="1" dirty="0">
                <a:solidFill>
                  <a:schemeClr val="bg1"/>
                </a:solidFill>
                <a:latin typeface="Aptos"/>
                <a:ea typeface="Barlow Light"/>
                <a:cs typeface="Barlow Light"/>
                <a:sym typeface="Barlow Light"/>
              </a:rPr>
              <a:t>09-10-</a:t>
            </a:r>
            <a:r>
              <a:rPr lang="en" sz="2000" b="1" i="0" u="none" strike="noStrike" cap="none" dirty="0">
                <a:solidFill>
                  <a:schemeClr val="bg1"/>
                </a:solidFill>
                <a:latin typeface="Aptos"/>
                <a:ea typeface="Barlow Light"/>
                <a:cs typeface="Barlow Light"/>
                <a:sym typeface="Barlow Light"/>
              </a:rPr>
              <a:t>2026</a:t>
            </a:r>
            <a:endParaRPr sz="2000" b="1" i="0" u="none" strike="noStrike" cap="none" dirty="0">
              <a:solidFill>
                <a:schemeClr val="bg1"/>
              </a:solidFill>
              <a:latin typeface="Barlow Light"/>
              <a:ea typeface="Barlow Light"/>
              <a:cs typeface="Barlow Light"/>
              <a:sym typeface="Barlow Light"/>
            </a:endParaRPr>
          </a:p>
        </p:txBody>
      </p:sp>
      <p:sp>
        <p:nvSpPr>
          <p:cNvPr id="4" name="Rectangle: Rounded Corners 3">
            <a:extLst>
              <a:ext uri="{FF2B5EF4-FFF2-40B4-BE49-F238E27FC236}">
                <a16:creationId xmlns:a16="http://schemas.microsoft.com/office/drawing/2014/main" id="{2E5CA8C6-E226-4F9D-0E63-64202C5D4932}"/>
              </a:ext>
            </a:extLst>
          </p:cNvPr>
          <p:cNvSpPr/>
          <p:nvPr/>
        </p:nvSpPr>
        <p:spPr>
          <a:xfrm>
            <a:off x="499428" y="851971"/>
            <a:ext cx="11105003" cy="2247441"/>
          </a:xfrm>
          <a:prstGeom prst="roundRect">
            <a:avLst/>
          </a:prstGeom>
          <a:solidFill>
            <a:schemeClr val="accent1">
              <a:lumMod val="40000"/>
              <a:lumOff val="60000"/>
            </a:schemeClr>
          </a:solidFill>
          <a:ln w="19050">
            <a:solidFill>
              <a:schemeClr val="accent1">
                <a:lumMod val="60000"/>
                <a:lumOff val="10000"/>
              </a:schemeClr>
            </a:solidFill>
          </a:ln>
          <a:effectLst>
            <a:outerShdw blurRad="150000" dist="40000" dir="5400000" rotWithShape="0">
              <a:schemeClr val="accent1">
                <a:lumMod val="60000"/>
                <a:alpha val="45000"/>
              </a:scheme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en" sz="7200" b="1" dirty="0">
                <a:solidFill>
                  <a:schemeClr val="tx2"/>
                </a:solidFill>
                <a:latin typeface="Aptos"/>
              </a:rPr>
              <a:t>IT Ticket Analysis Dashboard</a:t>
            </a:r>
            <a:endParaRPr lang="en-US" sz="7200" dirty="0"/>
          </a:p>
        </p:txBody>
      </p:sp>
      <p:sp>
        <p:nvSpPr>
          <p:cNvPr id="2" name="AutoShape 2" descr="Generated image: From Data to Decisions Meeting">
            <a:extLst>
              <a:ext uri="{FF2B5EF4-FFF2-40B4-BE49-F238E27FC236}">
                <a16:creationId xmlns:a16="http://schemas.microsoft.com/office/drawing/2014/main" id="{614108C8-943B-A239-30A8-A7997B298CC8}"/>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7"/>
        <p:cNvGrpSpPr/>
        <p:nvPr/>
      </p:nvGrpSpPr>
      <p:grpSpPr>
        <a:xfrm>
          <a:off x="0" y="0"/>
          <a:ext cx="0" cy="0"/>
          <a:chOff x="0" y="0"/>
          <a:chExt cx="0" cy="0"/>
        </a:xfrm>
      </p:grpSpPr>
      <p:sp>
        <p:nvSpPr>
          <p:cNvPr id="340" name="Google Shape;340;p2"/>
          <p:cNvSpPr txBox="1">
            <a:spLocks noGrp="1"/>
          </p:cNvSpPr>
          <p:nvPr>
            <p:ph type="title"/>
          </p:nvPr>
        </p:nvSpPr>
        <p:spPr>
          <a:xfrm>
            <a:off x="782907" y="1437200"/>
            <a:ext cx="6307600" cy="4906000"/>
          </a:xfrm>
          <a:prstGeom prst="rect">
            <a:avLst/>
          </a:prstGeom>
          <a:solidFill>
            <a:schemeClr val="tx2">
              <a:lumMod val="10000"/>
              <a:lumOff val="90000"/>
            </a:schemeClr>
          </a:solidFill>
          <a:ln w="12700" cap="flat" cmpd="sng">
            <a:solidFill>
              <a:srgbClr val="FF0000"/>
            </a:solidFill>
            <a:prstDash val="dot"/>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800"/>
              <a:buNone/>
            </a:pPr>
            <a:r>
              <a:rPr lang="en" sz="2933" b="1" dirty="0">
                <a:solidFill>
                  <a:srgbClr val="12375C"/>
                </a:solidFill>
                <a:latin typeface="Aptos"/>
              </a:rPr>
              <a:t>Problem Statement</a:t>
            </a:r>
            <a:br>
              <a:rPr lang="en" sz="1733" dirty="0"/>
            </a:br>
            <a:br>
              <a:rPr lang="en" sz="1733" dirty="0"/>
            </a:br>
            <a:r>
              <a:rPr lang="en" sz="1867" dirty="0">
                <a:solidFill>
                  <a:srgbClr val="475569"/>
                </a:solidFill>
                <a:latin typeface="Aptos"/>
              </a:rPr>
              <a:t>Organizations receive thousands of IT support requests across multiple categories, severity levels, and issue types. As ticket volumes increase, it becomes difficult to maintain fast resolution times, high employee satisfaction, and efficient resource utilization.</a:t>
            </a:r>
            <a:endParaRPr sz="1867" dirty="0"/>
          </a:p>
          <a:p>
            <a:pPr marL="0" lvl="0" indent="0" algn="l" rtl="0">
              <a:lnSpc>
                <a:spcPct val="100000"/>
              </a:lnSpc>
              <a:spcBef>
                <a:spcPts val="0"/>
              </a:spcBef>
              <a:spcAft>
                <a:spcPts val="0"/>
              </a:spcAft>
              <a:buSzPts val="4800"/>
              <a:buNone/>
            </a:pPr>
            <a:endParaRPr sz="1867" dirty="0">
              <a:solidFill>
                <a:schemeClr val="accent2">
                  <a:lumMod val="60000"/>
                  <a:lumOff val="40000"/>
                </a:schemeClr>
              </a:solidFill>
            </a:endParaRPr>
          </a:p>
          <a:p>
            <a:pPr marL="0" lvl="0" indent="0" algn="l" rtl="0">
              <a:lnSpc>
                <a:spcPct val="100000"/>
              </a:lnSpc>
              <a:spcBef>
                <a:spcPts val="0"/>
              </a:spcBef>
              <a:spcAft>
                <a:spcPts val="0"/>
              </a:spcAft>
              <a:buSzPts val="4800"/>
              <a:buNone/>
            </a:pPr>
            <a:r>
              <a:rPr lang="en" sz="1867" dirty="0">
                <a:solidFill>
                  <a:srgbClr val="475569"/>
                </a:solidFill>
                <a:latin typeface="Aptos"/>
              </a:rPr>
              <a:t>This analysis aims to evaluate IT support performance, identify operational bottlenecks, and determine where future investments should be focused to improve service quality and operational efficiency.</a:t>
            </a:r>
            <a:endParaRPr sz="1867" dirty="0"/>
          </a:p>
        </p:txBody>
      </p:sp>
      <p:sp>
        <p:nvSpPr>
          <p:cNvPr id="339" name="Google Shape;339;p2"/>
          <p:cNvSpPr txBox="1">
            <a:spLocks noGrp="1"/>
          </p:cNvSpPr>
          <p:nvPr>
            <p:ph type="title" idx="2"/>
          </p:nvPr>
        </p:nvSpPr>
        <p:spPr>
          <a:xfrm>
            <a:off x="929800" y="349167"/>
            <a:ext cx="103324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INTRODUCTION</a:t>
            </a:r>
            <a:endParaRPr sz="4000" b="1" dirty="0">
              <a:solidFill>
                <a:srgbClr val="FF0000"/>
              </a:solidFill>
            </a:endParaRPr>
          </a:p>
        </p:txBody>
      </p:sp>
      <p:sp>
        <p:nvSpPr>
          <p:cNvPr id="342" name="Google Shape;342;p2"/>
          <p:cNvSpPr txBox="1">
            <a:spLocks noGrp="1"/>
          </p:cNvSpPr>
          <p:nvPr>
            <p:ph type="title" idx="4294967295"/>
          </p:nvPr>
        </p:nvSpPr>
        <p:spPr>
          <a:xfrm>
            <a:off x="0" y="0"/>
            <a:ext cx="6273800" cy="41275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sz="2133" b="1" i="1" dirty="0">
                <a:solidFill>
                  <a:schemeClr val="accent4"/>
                </a:solidFill>
                <a:latin typeface="+mn-lt"/>
              </a:rPr>
              <a:t>“What Business Problem Are We Addressing?”</a:t>
            </a:r>
            <a:endParaRPr sz="2133" b="1" i="1" dirty="0">
              <a:solidFill>
                <a:schemeClr val="accent4"/>
              </a:solidFill>
              <a:latin typeface="+mn-lt"/>
            </a:endParaRPr>
          </a:p>
        </p:txBody>
      </p:sp>
      <p:sp>
        <p:nvSpPr>
          <p:cNvPr id="341" name="Google Shape;341;p2"/>
          <p:cNvSpPr txBox="1">
            <a:spLocks noGrp="1"/>
          </p:cNvSpPr>
          <p:nvPr>
            <p:ph type="title" idx="4294967295"/>
          </p:nvPr>
        </p:nvSpPr>
        <p:spPr>
          <a:xfrm>
            <a:off x="7731595" y="1437217"/>
            <a:ext cx="4284133" cy="4906433"/>
          </a:xfrm>
          <a:prstGeom prst="rect">
            <a:avLst/>
          </a:prstGeom>
          <a:solidFill>
            <a:schemeClr val="accent4">
              <a:lumMod val="60000"/>
              <a:lumOff val="40000"/>
            </a:schemeClr>
          </a:solidFill>
          <a:ln>
            <a:noFill/>
          </a:ln>
        </p:spPr>
        <p:txBody>
          <a:bodyPr spcFirstLastPara="1" wrap="square" lIns="91425" tIns="91425" rIns="91425" bIns="91425" anchor="ctr" anchorCtr="0">
            <a:noAutofit/>
          </a:bodyPr>
          <a:lstStyle/>
          <a:p>
            <a:pPr marL="0" lvl="0" indent="0" algn="l" rtl="0">
              <a:lnSpc>
                <a:spcPct val="115000"/>
              </a:lnSpc>
              <a:spcBef>
                <a:spcPts val="1867"/>
              </a:spcBef>
              <a:spcAft>
                <a:spcPts val="0"/>
              </a:spcAft>
              <a:buClr>
                <a:schemeClr val="lt1"/>
              </a:buClr>
              <a:buSzPts val="1467"/>
              <a:buFont typeface="Arial"/>
              <a:buNone/>
            </a:pPr>
            <a:r>
              <a:rPr lang="en" sz="2133" b="1" dirty="0">
                <a:solidFill>
                  <a:srgbClr val="475569"/>
                </a:solidFill>
                <a:latin typeface="Aptos"/>
                <a:ea typeface="Arial"/>
                <a:cs typeface="Arial"/>
                <a:sym typeface="Arial"/>
              </a:rPr>
              <a:t>Why This Analysis Matters</a:t>
            </a:r>
            <a:endParaRPr sz="2133" b="1" dirty="0">
              <a:latin typeface="Arial"/>
              <a:ea typeface="Arial"/>
              <a:cs typeface="Arial"/>
              <a:sym typeface="Arial"/>
            </a:endParaRPr>
          </a:p>
          <a:p>
            <a:pPr marL="609600" lvl="0" indent="-423333" algn="l" rtl="0">
              <a:lnSpc>
                <a:spcPct val="115000"/>
              </a:lnSpc>
              <a:spcBef>
                <a:spcPts val="1600"/>
              </a:spcBef>
              <a:spcAft>
                <a:spcPts val="0"/>
              </a:spcAft>
              <a:buClr>
                <a:srgbClr val="FF0000"/>
              </a:buClr>
              <a:buSzPts val="1867"/>
              <a:buFont typeface="Arial"/>
              <a:buChar char="❏"/>
            </a:pPr>
            <a:r>
              <a:rPr lang="en" sz="1867" dirty="0">
                <a:solidFill>
                  <a:srgbClr val="475569"/>
                </a:solidFill>
                <a:latin typeface="Aptos"/>
                <a:ea typeface="Arial"/>
                <a:cs typeface="Arial"/>
                <a:sym typeface="Arial"/>
              </a:rPr>
              <a:t>Improve ticket resolution efficiency.</a:t>
            </a:r>
            <a:endParaRPr sz="1867" dirty="0">
              <a:latin typeface="Arial"/>
              <a:ea typeface="Arial"/>
              <a:cs typeface="Arial"/>
              <a:sym typeface="Arial"/>
            </a:endParaRPr>
          </a:p>
          <a:p>
            <a:pPr marL="609600" lvl="0" indent="-423333" algn="l" rtl="0">
              <a:lnSpc>
                <a:spcPct val="115000"/>
              </a:lnSpc>
              <a:spcBef>
                <a:spcPts val="0"/>
              </a:spcBef>
              <a:spcAft>
                <a:spcPts val="0"/>
              </a:spcAft>
              <a:buClr>
                <a:srgbClr val="FF0000"/>
              </a:buClr>
              <a:buSzPts val="1867"/>
              <a:buFont typeface="Arial"/>
              <a:buChar char="❏"/>
            </a:pPr>
            <a:r>
              <a:rPr lang="en" sz="1867" dirty="0">
                <a:solidFill>
                  <a:srgbClr val="475569"/>
                </a:solidFill>
                <a:latin typeface="Aptos"/>
                <a:ea typeface="Arial"/>
                <a:cs typeface="Arial"/>
                <a:sym typeface="Arial"/>
              </a:rPr>
              <a:t>Maintain high employee satisfaction.</a:t>
            </a:r>
            <a:endParaRPr sz="1867" dirty="0">
              <a:latin typeface="Arial"/>
              <a:ea typeface="Arial"/>
              <a:cs typeface="Arial"/>
              <a:sym typeface="Arial"/>
            </a:endParaRPr>
          </a:p>
          <a:p>
            <a:pPr marL="609600" lvl="0" indent="-423333" algn="l" rtl="0">
              <a:lnSpc>
                <a:spcPct val="115000"/>
              </a:lnSpc>
              <a:spcBef>
                <a:spcPts val="0"/>
              </a:spcBef>
              <a:spcAft>
                <a:spcPts val="0"/>
              </a:spcAft>
              <a:buClr>
                <a:srgbClr val="FF0000"/>
              </a:buClr>
              <a:buSzPts val="1867"/>
              <a:buFont typeface="Arial"/>
              <a:buChar char="❏"/>
            </a:pPr>
            <a:r>
              <a:rPr lang="en" sz="1867" dirty="0">
                <a:solidFill>
                  <a:srgbClr val="475569"/>
                </a:solidFill>
                <a:latin typeface="Aptos"/>
                <a:ea typeface="Arial"/>
                <a:cs typeface="Arial"/>
                <a:sym typeface="Arial"/>
              </a:rPr>
              <a:t>Optimize workload distribution.</a:t>
            </a:r>
            <a:endParaRPr sz="1867" dirty="0">
              <a:latin typeface="Arial"/>
              <a:ea typeface="Arial"/>
              <a:cs typeface="Arial"/>
              <a:sym typeface="Arial"/>
            </a:endParaRPr>
          </a:p>
          <a:p>
            <a:pPr marL="609600" lvl="0" indent="-423333" algn="l" rtl="0">
              <a:lnSpc>
                <a:spcPct val="115000"/>
              </a:lnSpc>
              <a:spcBef>
                <a:spcPts val="0"/>
              </a:spcBef>
              <a:spcAft>
                <a:spcPts val="0"/>
              </a:spcAft>
              <a:buClr>
                <a:srgbClr val="FF0000"/>
              </a:buClr>
              <a:buSzPts val="1867"/>
              <a:buFont typeface="Arial"/>
              <a:buChar char="❏"/>
            </a:pPr>
            <a:r>
              <a:rPr lang="en" sz="1867" dirty="0">
                <a:solidFill>
                  <a:srgbClr val="475569"/>
                </a:solidFill>
                <a:latin typeface="Aptos"/>
                <a:ea typeface="Arial"/>
                <a:cs typeface="Arial"/>
                <a:sym typeface="Arial"/>
              </a:rPr>
              <a:t>Identify operational bottlenecks.</a:t>
            </a:r>
            <a:endParaRPr sz="1867" dirty="0">
              <a:latin typeface="Arial"/>
              <a:ea typeface="Arial"/>
              <a:cs typeface="Arial"/>
              <a:sym typeface="Arial"/>
            </a:endParaRPr>
          </a:p>
          <a:p>
            <a:pPr marL="609600" lvl="0" indent="-423333" algn="l" rtl="0">
              <a:lnSpc>
                <a:spcPct val="115000"/>
              </a:lnSpc>
              <a:spcBef>
                <a:spcPts val="0"/>
              </a:spcBef>
              <a:spcAft>
                <a:spcPts val="0"/>
              </a:spcAft>
              <a:buClr>
                <a:srgbClr val="FF0000"/>
              </a:buClr>
              <a:buSzPts val="1867"/>
              <a:buFont typeface="Arial"/>
              <a:buChar char="❏"/>
            </a:pPr>
            <a:r>
              <a:rPr lang="en" sz="1867" dirty="0">
                <a:solidFill>
                  <a:srgbClr val="475569"/>
                </a:solidFill>
                <a:latin typeface="Aptos"/>
                <a:ea typeface="Arial"/>
                <a:cs typeface="Arial"/>
                <a:sym typeface="Arial"/>
              </a:rPr>
              <a:t>Support data-driven investment decisions.</a:t>
            </a:r>
            <a:endParaRPr sz="1867" dirty="0">
              <a:latin typeface="Arial"/>
              <a:ea typeface="Arial"/>
              <a:cs typeface="Arial"/>
              <a:sym typeface="Arial"/>
            </a:endParaRPr>
          </a:p>
          <a:p>
            <a:pPr marL="0" lvl="0" indent="0" algn="l" rtl="0">
              <a:lnSpc>
                <a:spcPct val="100000"/>
              </a:lnSpc>
              <a:spcBef>
                <a:spcPts val="1600"/>
              </a:spcBef>
              <a:spcAft>
                <a:spcPts val="0"/>
              </a:spcAft>
              <a:buSzPts val="4800"/>
              <a:buNone/>
            </a:pPr>
            <a:endParaRPr sz="2133" dirty="0"/>
          </a:p>
        </p:txBody>
      </p:sp>
      <p:sp>
        <p:nvSpPr>
          <p:cNvPr id="343" name="Rectangle 342"/>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6"/>
        <p:cNvGrpSpPr/>
        <p:nvPr/>
      </p:nvGrpSpPr>
      <p:grpSpPr>
        <a:xfrm>
          <a:off x="0" y="0"/>
          <a:ext cx="0" cy="0"/>
          <a:chOff x="0" y="0"/>
          <a:chExt cx="0" cy="0"/>
        </a:xfrm>
      </p:grpSpPr>
      <p:sp>
        <p:nvSpPr>
          <p:cNvPr id="349" name="Google Shape;349;p3"/>
          <p:cNvSpPr txBox="1">
            <a:spLocks noGrp="1"/>
          </p:cNvSpPr>
          <p:nvPr>
            <p:ph type="title"/>
          </p:nvPr>
        </p:nvSpPr>
        <p:spPr>
          <a:xfrm>
            <a:off x="971533" y="1097533"/>
            <a:ext cx="10332400" cy="731600"/>
          </a:xfrm>
          <a:prstGeom prst="rect">
            <a:avLst/>
          </a:prstGeom>
          <a:solidFill>
            <a:schemeClr val="accent1">
              <a:lumMod val="40000"/>
              <a:lumOff val="6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1867" b="1" dirty="0">
                <a:solidFill>
                  <a:srgbClr val="475569"/>
                </a:solidFill>
                <a:latin typeface="Aptos"/>
                <a:ea typeface="Hepta Slab"/>
                <a:cs typeface="Hepta Slab"/>
                <a:sym typeface="Hepta Slab"/>
              </a:rPr>
              <a:t>Evaluate the effectiveness of IT support operations using historical ticket data and identify opportunities to improve service quality, operational efficiency, and resource utilization.</a:t>
            </a:r>
            <a:endParaRPr sz="1867" b="1" dirty="0">
              <a:solidFill>
                <a:schemeClr val="dk2"/>
              </a:solidFill>
              <a:latin typeface="Hepta Slab"/>
              <a:ea typeface="Hepta Slab"/>
              <a:cs typeface="Hepta Slab"/>
              <a:sym typeface="Hepta Slab"/>
            </a:endParaRPr>
          </a:p>
        </p:txBody>
      </p:sp>
      <p:sp>
        <p:nvSpPr>
          <p:cNvPr id="348" name="Google Shape;348;p3"/>
          <p:cNvSpPr txBox="1">
            <a:spLocks noGrp="1"/>
          </p:cNvSpPr>
          <p:nvPr>
            <p:ph type="title" idx="2"/>
          </p:nvPr>
        </p:nvSpPr>
        <p:spPr>
          <a:xfrm>
            <a:off x="929800" y="209633"/>
            <a:ext cx="10332400" cy="951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PROJECT OVERVIEW</a:t>
            </a:r>
            <a:endParaRPr sz="4000" b="1" dirty="0">
              <a:solidFill>
                <a:srgbClr val="FF0000"/>
              </a:solidFill>
            </a:endParaRPr>
          </a:p>
        </p:txBody>
      </p:sp>
      <p:sp>
        <p:nvSpPr>
          <p:cNvPr id="359" name="Google Shape;359;p3"/>
          <p:cNvSpPr txBox="1">
            <a:spLocks noGrp="1"/>
          </p:cNvSpPr>
          <p:nvPr>
            <p:ph type="title" idx="4294967295"/>
          </p:nvPr>
        </p:nvSpPr>
        <p:spPr>
          <a:xfrm>
            <a:off x="0" y="0"/>
            <a:ext cx="8058151" cy="412751"/>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US" sz="2133" b="1" i="1" dirty="0">
                <a:solidFill>
                  <a:schemeClr val="accent4"/>
                </a:solidFill>
              </a:rPr>
              <a:t>What Key Areas Will This Analysis Explore?</a:t>
            </a:r>
            <a:endParaRPr sz="2133" b="1" i="1" dirty="0">
              <a:solidFill>
                <a:schemeClr val="accent4"/>
              </a:solidFill>
            </a:endParaRPr>
          </a:p>
        </p:txBody>
      </p:sp>
      <p:sp>
        <p:nvSpPr>
          <p:cNvPr id="358" name="Google Shape;358;p3"/>
          <p:cNvSpPr txBox="1">
            <a:spLocks noGrp="1"/>
          </p:cNvSpPr>
          <p:nvPr>
            <p:ph type="title" idx="4294967295"/>
          </p:nvPr>
        </p:nvSpPr>
        <p:spPr>
          <a:xfrm>
            <a:off x="929800" y="5283200"/>
            <a:ext cx="10532088" cy="1574800"/>
          </a:xfrm>
          <a:prstGeom prst="rect">
            <a:avLst/>
          </a:prstGeom>
          <a:solidFill>
            <a:schemeClr val="accent1">
              <a:lumMod val="40000"/>
              <a:lumOff val="60000"/>
            </a:schemeClr>
          </a:solidFill>
          <a:ln w="25400" cap="flat" cmpd="sng">
            <a:noFill/>
            <a:prstDash val="solid"/>
            <a:round/>
            <a:headEnd type="none" w="sm" len="sm"/>
            <a:tailEnd type="none" w="sm" len="sm"/>
          </a:ln>
        </p:spPr>
        <p:txBody>
          <a:bodyPr spcFirstLastPara="1" wrap="square" lIns="91425" tIns="91425" rIns="91425" bIns="91425" anchor="ctr" anchorCtr="0">
            <a:noAutofit/>
          </a:bodyPr>
          <a:lstStyle/>
          <a:p>
            <a:pPr lvl="0" rtl="0">
              <a:lnSpc>
                <a:spcPct val="115000"/>
              </a:lnSpc>
              <a:spcBef>
                <a:spcPts val="1867"/>
              </a:spcBef>
              <a:spcAft>
                <a:spcPts val="0"/>
              </a:spcAft>
              <a:buSzPts val="4800"/>
            </a:pPr>
            <a:r>
              <a:rPr lang="en" sz="2133" b="1" dirty="0">
                <a:solidFill>
                  <a:srgbClr val="475569"/>
                </a:solidFill>
                <a:latin typeface="Aptos"/>
                <a:ea typeface="Hepta Slab SemiBold"/>
                <a:cs typeface="Hepta Slab SemiBold"/>
                <a:sym typeface="Hepta Slab SemiBold"/>
              </a:rPr>
              <a:t>Expected Outcome</a:t>
            </a:r>
            <a:endParaRPr sz="2133" b="1" dirty="0">
              <a:latin typeface="Hepta Slab SemiBold"/>
              <a:ea typeface="Hepta Slab SemiBold"/>
              <a:cs typeface="Hepta Slab SemiBold"/>
              <a:sym typeface="Hepta Slab SemiBold"/>
            </a:endParaRPr>
          </a:p>
          <a:p>
            <a:pPr marL="0" lvl="0" indent="0" algn="l" rtl="0">
              <a:lnSpc>
                <a:spcPct val="115000"/>
              </a:lnSpc>
              <a:spcBef>
                <a:spcPts val="1600"/>
              </a:spcBef>
              <a:spcAft>
                <a:spcPts val="0"/>
              </a:spcAft>
              <a:buClr>
                <a:schemeClr val="lt1"/>
              </a:buClr>
              <a:buSzPts val="1467"/>
              <a:buFont typeface="Arial"/>
              <a:buNone/>
            </a:pPr>
            <a:r>
              <a:rPr lang="en" sz="1600" dirty="0">
                <a:solidFill>
                  <a:srgbClr val="475569"/>
                </a:solidFill>
                <a:latin typeface="Aptos"/>
              </a:rPr>
              <a:t>Generate insights and recommendations that help improve service quality, operational efficiency, and strategic plannin</a:t>
            </a:r>
            <a:endParaRPr sz="1600" dirty="0"/>
          </a:p>
        </p:txBody>
      </p:sp>
      <p:sp>
        <p:nvSpPr>
          <p:cNvPr id="350" name="Google Shape;350;p3"/>
          <p:cNvSpPr/>
          <p:nvPr/>
        </p:nvSpPr>
        <p:spPr>
          <a:xfrm>
            <a:off x="743068" y="2438656"/>
            <a:ext cx="8718400" cy="655377"/>
          </a:xfrm>
          <a:prstGeom prst="rect">
            <a:avLst/>
          </a:prstGeom>
          <a:noFill/>
          <a:ln>
            <a:noFill/>
          </a:ln>
        </p:spPr>
        <p:txBody>
          <a:bodyPr spcFirstLastPara="1" wrap="square" lIns="0" tIns="0" rIns="0" bIns="0" anchor="t" anchorCtr="0">
            <a:noAutofit/>
          </a:bodyPr>
          <a:lstStyle/>
          <a:p>
            <a:pPr marL="609600" marR="0" lvl="0" indent="-381005" algn="l" rtl="0">
              <a:lnSpc>
                <a:spcPct val="115000"/>
              </a:lnSpc>
              <a:spcBef>
                <a:spcPts val="1600"/>
              </a:spcBef>
              <a:spcAft>
                <a:spcPts val="0"/>
              </a:spcAft>
              <a:buClr>
                <a:srgbClr val="E5E0DF"/>
              </a:buClr>
              <a:buSzPts val="1200"/>
              <a:buFont typeface="Hepta Slab Medium"/>
              <a:buChar char="➔"/>
            </a:pPr>
            <a:r>
              <a:rPr lang="en" sz="1600" b="0" i="0" u="none" strike="noStrike" cap="none" dirty="0">
                <a:solidFill>
                  <a:srgbClr val="475569"/>
                </a:solidFill>
                <a:latin typeface="Aptos"/>
                <a:ea typeface="Hepta Slab Medium"/>
                <a:cs typeface="Hepta Slab Medium"/>
                <a:sym typeface="Hepta Slab Medium"/>
              </a:rPr>
              <a:t>What drives the majority of support workload?</a:t>
            </a:r>
            <a:endParaRPr sz="1600" b="0" i="0" u="none" strike="noStrike" cap="none" dirty="0">
              <a:solidFill>
                <a:srgbClr val="E5E0DF"/>
              </a:solidFill>
              <a:latin typeface="Hepta Slab Medium"/>
              <a:ea typeface="Hepta Slab Medium"/>
              <a:cs typeface="Hepta Slab Medium"/>
              <a:sym typeface="Hepta Slab Medium"/>
            </a:endParaRPr>
          </a:p>
        </p:txBody>
      </p:sp>
      <p:sp>
        <p:nvSpPr>
          <p:cNvPr id="351" name="Google Shape;351;p3"/>
          <p:cNvSpPr/>
          <p:nvPr/>
        </p:nvSpPr>
        <p:spPr>
          <a:xfrm>
            <a:off x="743068" y="2947883"/>
            <a:ext cx="7031200" cy="2335317"/>
          </a:xfrm>
          <a:prstGeom prst="rect">
            <a:avLst/>
          </a:prstGeom>
          <a:noFill/>
          <a:ln>
            <a:noFill/>
          </a:ln>
        </p:spPr>
        <p:txBody>
          <a:bodyPr spcFirstLastPara="1" wrap="square" lIns="0" tIns="0" rIns="0" bIns="0" anchor="t" anchorCtr="0">
            <a:noAutofit/>
          </a:bodyPr>
          <a:lstStyle/>
          <a:p>
            <a:pPr marL="609600" marR="0" lvl="0" indent="-381005" algn="l" rtl="0">
              <a:lnSpc>
                <a:spcPct val="104000"/>
              </a:lnSpc>
              <a:spcBef>
                <a:spcPts val="0"/>
              </a:spcBef>
              <a:spcAft>
                <a:spcPts val="0"/>
              </a:spcAft>
              <a:buClr>
                <a:srgbClr val="E5E0DF"/>
              </a:buClr>
              <a:buSzPts val="1200"/>
              <a:buFont typeface="Hepta Slab Medium"/>
              <a:buChar char="➔"/>
            </a:pPr>
            <a:r>
              <a:rPr lang="en" sz="1600" b="0" i="0" u="none" strike="noStrike" cap="none" dirty="0">
                <a:solidFill>
                  <a:srgbClr val="475569"/>
                </a:solidFill>
                <a:latin typeface="Aptos"/>
                <a:ea typeface="Hepta Slab Medium"/>
                <a:cs typeface="Hepta Slab Medium"/>
                <a:sym typeface="Hepta Slab Medium"/>
              </a:rPr>
              <a:t>Which request categories take the longest to resolve?</a:t>
            </a:r>
            <a:endParaRPr sz="1600" b="0" i="0" u="none" strike="noStrike" cap="none" dirty="0">
              <a:solidFill>
                <a:srgbClr val="000000"/>
              </a:solidFill>
              <a:latin typeface="Hepta Slab Medium"/>
              <a:ea typeface="Hepta Slab Medium"/>
              <a:cs typeface="Hepta Slab Medium"/>
              <a:sym typeface="Hepta Slab Medium"/>
            </a:endParaRPr>
          </a:p>
        </p:txBody>
      </p:sp>
      <p:sp>
        <p:nvSpPr>
          <p:cNvPr id="352" name="Google Shape;352;p3"/>
          <p:cNvSpPr/>
          <p:nvPr/>
        </p:nvSpPr>
        <p:spPr>
          <a:xfrm>
            <a:off x="713667" y="3324968"/>
            <a:ext cx="7031200" cy="262800"/>
          </a:xfrm>
          <a:prstGeom prst="rect">
            <a:avLst/>
          </a:prstGeom>
          <a:noFill/>
          <a:ln>
            <a:noFill/>
          </a:ln>
        </p:spPr>
        <p:txBody>
          <a:bodyPr spcFirstLastPara="1" wrap="square" lIns="0" tIns="0" rIns="0" bIns="0" anchor="t" anchorCtr="0">
            <a:noAutofit/>
          </a:bodyPr>
          <a:lstStyle/>
          <a:p>
            <a:pPr marL="609600" marR="0" lvl="0" indent="-381005" algn="l" rtl="0">
              <a:lnSpc>
                <a:spcPct val="104000"/>
              </a:lnSpc>
              <a:spcBef>
                <a:spcPts val="0"/>
              </a:spcBef>
              <a:spcAft>
                <a:spcPts val="0"/>
              </a:spcAft>
              <a:buClr>
                <a:srgbClr val="E5E0DF"/>
              </a:buClr>
              <a:buSzPts val="1200"/>
              <a:buFont typeface="Hepta Slab Medium"/>
              <a:buChar char="➔"/>
            </a:pPr>
            <a:r>
              <a:rPr lang="en" sz="1600" b="0" i="0" u="none" strike="noStrike" cap="none" dirty="0">
                <a:solidFill>
                  <a:srgbClr val="475569"/>
                </a:solidFill>
                <a:latin typeface="Aptos"/>
                <a:ea typeface="Hepta Slab Medium"/>
                <a:cs typeface="Hepta Slab Medium"/>
                <a:sym typeface="Hepta Slab Medium"/>
              </a:rPr>
              <a:t>How satisfied are employees with IT support services</a:t>
            </a:r>
            <a:r>
              <a:rPr lang="en" sz="1200" b="0" i="0" u="none" strike="noStrike" cap="none" dirty="0">
                <a:solidFill>
                  <a:srgbClr val="475569"/>
                </a:solidFill>
                <a:latin typeface="Aptos"/>
                <a:ea typeface="Hepta Slab Medium"/>
                <a:cs typeface="Hepta Slab Medium"/>
                <a:sym typeface="Hepta Slab Medium"/>
              </a:rPr>
              <a:t>?</a:t>
            </a:r>
            <a:endParaRPr sz="1200" b="0" i="0" u="none" strike="noStrike" cap="none" dirty="0">
              <a:solidFill>
                <a:srgbClr val="000000"/>
              </a:solidFill>
              <a:latin typeface="Hepta Slab Medium"/>
              <a:ea typeface="Hepta Slab Medium"/>
              <a:cs typeface="Hepta Slab Medium"/>
              <a:sym typeface="Hepta Slab Medium"/>
            </a:endParaRPr>
          </a:p>
        </p:txBody>
      </p:sp>
      <p:sp>
        <p:nvSpPr>
          <p:cNvPr id="353" name="Google Shape;353;p3"/>
          <p:cNvSpPr/>
          <p:nvPr/>
        </p:nvSpPr>
        <p:spPr>
          <a:xfrm>
            <a:off x="713667" y="3669584"/>
            <a:ext cx="9830800" cy="262800"/>
          </a:xfrm>
          <a:prstGeom prst="rect">
            <a:avLst/>
          </a:prstGeom>
          <a:noFill/>
          <a:ln>
            <a:noFill/>
          </a:ln>
        </p:spPr>
        <p:txBody>
          <a:bodyPr spcFirstLastPara="1" wrap="square" lIns="0" tIns="0" rIns="0" bIns="0" anchor="t" anchorCtr="0">
            <a:noAutofit/>
          </a:bodyPr>
          <a:lstStyle/>
          <a:p>
            <a:pPr marL="609600" marR="0" lvl="0" indent="-381005" algn="l" rtl="0">
              <a:lnSpc>
                <a:spcPct val="104000"/>
              </a:lnSpc>
              <a:spcBef>
                <a:spcPts val="0"/>
              </a:spcBef>
              <a:spcAft>
                <a:spcPts val="0"/>
              </a:spcAft>
              <a:buClr>
                <a:srgbClr val="E5E0DF"/>
              </a:buClr>
              <a:buSzPts val="1200"/>
              <a:buFont typeface="Hepta Slab Medium"/>
              <a:buChar char="➔"/>
            </a:pPr>
            <a:r>
              <a:rPr lang="en" sz="1600" b="0" i="0" u="none" strike="noStrike" cap="none" dirty="0">
                <a:solidFill>
                  <a:srgbClr val="475569"/>
                </a:solidFill>
                <a:latin typeface="Aptos"/>
                <a:ea typeface="Hepta Slab Medium"/>
                <a:cs typeface="Hepta Slab Medium"/>
                <a:sym typeface="Hepta Slab Medium"/>
              </a:rPr>
              <a:t>Are current staffing levels sufficient?</a:t>
            </a:r>
            <a:endParaRPr sz="1600" b="0" i="0" u="none" strike="noStrike" cap="none" dirty="0">
              <a:solidFill>
                <a:srgbClr val="000000"/>
              </a:solidFill>
              <a:latin typeface="Hepta Slab Medium"/>
              <a:ea typeface="Hepta Slab Medium"/>
              <a:cs typeface="Hepta Slab Medium"/>
              <a:sym typeface="Hepta Slab Medium"/>
            </a:endParaRPr>
          </a:p>
        </p:txBody>
      </p:sp>
      <p:sp>
        <p:nvSpPr>
          <p:cNvPr id="354" name="Google Shape;354;p3"/>
          <p:cNvSpPr/>
          <p:nvPr/>
        </p:nvSpPr>
        <p:spPr>
          <a:xfrm>
            <a:off x="713665" y="4046684"/>
            <a:ext cx="9594400" cy="262800"/>
          </a:xfrm>
          <a:prstGeom prst="rect">
            <a:avLst/>
          </a:prstGeom>
          <a:noFill/>
          <a:ln>
            <a:noFill/>
          </a:ln>
        </p:spPr>
        <p:txBody>
          <a:bodyPr spcFirstLastPara="1" wrap="square" lIns="0" tIns="0" rIns="0" bIns="0" anchor="t" anchorCtr="0">
            <a:noAutofit/>
          </a:bodyPr>
          <a:lstStyle/>
          <a:p>
            <a:pPr marL="609600" marR="0" lvl="0" indent="-381005" algn="l" rtl="0">
              <a:lnSpc>
                <a:spcPct val="104000"/>
              </a:lnSpc>
              <a:spcBef>
                <a:spcPts val="0"/>
              </a:spcBef>
              <a:spcAft>
                <a:spcPts val="0"/>
              </a:spcAft>
              <a:buClr>
                <a:srgbClr val="E5E0DF"/>
              </a:buClr>
              <a:buSzPts val="1200"/>
              <a:buFont typeface="Hepta Slab Medium"/>
              <a:buChar char="➔"/>
            </a:pPr>
            <a:r>
              <a:rPr lang="en" sz="1600" b="0" i="0" u="none" strike="noStrike" cap="none">
                <a:solidFill>
                  <a:srgbClr val="475569"/>
                </a:solidFill>
                <a:latin typeface="Aptos"/>
                <a:ea typeface="Hepta Slab Medium"/>
                <a:cs typeface="Hepta Slab Medium"/>
                <a:sym typeface="Hepta Slab Medium"/>
              </a:rPr>
              <a:t>Where should future investments be prioritized?</a:t>
            </a:r>
            <a:endParaRPr sz="1600" b="0" i="0" u="none" strike="noStrike" cap="none">
              <a:solidFill>
                <a:srgbClr val="000000"/>
              </a:solidFill>
              <a:latin typeface="Hepta Slab Medium"/>
              <a:ea typeface="Hepta Slab Medium"/>
              <a:cs typeface="Hepta Slab Medium"/>
              <a:sym typeface="Hepta Slab Medium"/>
            </a:endParaRPr>
          </a:p>
        </p:txBody>
      </p:sp>
      <p:sp>
        <p:nvSpPr>
          <p:cNvPr id="355" name="Google Shape;355;p3"/>
          <p:cNvSpPr/>
          <p:nvPr/>
        </p:nvSpPr>
        <p:spPr>
          <a:xfrm>
            <a:off x="713667" y="4428617"/>
            <a:ext cx="9535600" cy="262800"/>
          </a:xfrm>
          <a:prstGeom prst="rect">
            <a:avLst/>
          </a:prstGeom>
          <a:noFill/>
          <a:ln>
            <a:noFill/>
          </a:ln>
        </p:spPr>
        <p:txBody>
          <a:bodyPr spcFirstLastPara="1" wrap="square" lIns="0" tIns="0" rIns="0" bIns="0" anchor="t" anchorCtr="0">
            <a:noAutofit/>
          </a:bodyPr>
          <a:lstStyle/>
          <a:p>
            <a:pPr marL="609600" marR="0" lvl="0" indent="-381005" algn="l" rtl="0">
              <a:lnSpc>
                <a:spcPct val="104000"/>
              </a:lnSpc>
              <a:spcBef>
                <a:spcPts val="0"/>
              </a:spcBef>
              <a:spcAft>
                <a:spcPts val="0"/>
              </a:spcAft>
              <a:buClr>
                <a:srgbClr val="E5E0DF"/>
              </a:buClr>
              <a:buSzPts val="1200"/>
              <a:buFont typeface="Hepta Slab Medium"/>
              <a:buChar char="➔"/>
            </a:pPr>
            <a:r>
              <a:rPr lang="en" sz="1600" b="0" i="0" u="none" strike="noStrike" cap="none" dirty="0">
                <a:solidFill>
                  <a:srgbClr val="475569"/>
                </a:solidFill>
                <a:latin typeface="Aptos"/>
                <a:ea typeface="Hepta Slab Medium"/>
                <a:cs typeface="Hepta Slab Medium"/>
                <a:sym typeface="Hepta Slab Medium"/>
              </a:rPr>
              <a:t>Understand the relationship between issue severity and resolution time. </a:t>
            </a:r>
            <a:endParaRPr sz="1600" b="0" i="0" u="none" strike="noStrike" cap="none" dirty="0">
              <a:solidFill>
                <a:srgbClr val="000000"/>
              </a:solidFill>
              <a:latin typeface="Hepta Slab Medium"/>
              <a:ea typeface="Hepta Slab Medium"/>
              <a:cs typeface="Hepta Slab Medium"/>
              <a:sym typeface="Hepta Slab Medium"/>
            </a:endParaRPr>
          </a:p>
        </p:txBody>
      </p:sp>
      <p:sp>
        <p:nvSpPr>
          <p:cNvPr id="356" name="Google Shape;356;p3"/>
          <p:cNvSpPr/>
          <p:nvPr/>
        </p:nvSpPr>
        <p:spPr>
          <a:xfrm>
            <a:off x="464900" y="2058884"/>
            <a:ext cx="4011600" cy="397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2F2F3"/>
              </a:buClr>
              <a:buSzPts val="1067"/>
              <a:buFont typeface="Poppins Light"/>
              <a:buNone/>
            </a:pPr>
            <a:r>
              <a:rPr lang="en" sz="2267" b="1" i="0" u="none" strike="noStrike" cap="none" dirty="0">
                <a:solidFill>
                  <a:srgbClr val="475569"/>
                </a:solidFill>
                <a:latin typeface="Aptos"/>
                <a:ea typeface="Hepta Slab"/>
                <a:cs typeface="Hepta Slab"/>
                <a:sym typeface="Hepta Slab"/>
              </a:rPr>
              <a:t>Key Objectives</a:t>
            </a:r>
            <a:endParaRPr sz="2267" b="1" i="0" u="none" strike="noStrike" cap="none" dirty="0">
              <a:solidFill>
                <a:srgbClr val="000000"/>
              </a:solidFill>
              <a:latin typeface="Hepta Slab"/>
              <a:ea typeface="Hepta Slab"/>
              <a:cs typeface="Hepta Slab"/>
              <a:sym typeface="Hepta Slab"/>
            </a:endParaRPr>
          </a:p>
        </p:txBody>
      </p:sp>
      <p:sp>
        <p:nvSpPr>
          <p:cNvPr id="357" name="Google Shape;357;p3"/>
          <p:cNvSpPr/>
          <p:nvPr/>
        </p:nvSpPr>
        <p:spPr>
          <a:xfrm>
            <a:off x="713667" y="4789467"/>
            <a:ext cx="10401600" cy="262800"/>
          </a:xfrm>
          <a:prstGeom prst="rect">
            <a:avLst/>
          </a:prstGeom>
          <a:noFill/>
          <a:ln>
            <a:noFill/>
          </a:ln>
        </p:spPr>
        <p:txBody>
          <a:bodyPr spcFirstLastPara="1" wrap="square" lIns="0" tIns="0" rIns="0" bIns="0" anchor="t" anchorCtr="0">
            <a:noAutofit/>
          </a:bodyPr>
          <a:lstStyle/>
          <a:p>
            <a:pPr marL="609600" marR="0" lvl="0" indent="-381005" algn="l" rtl="0">
              <a:lnSpc>
                <a:spcPct val="104000"/>
              </a:lnSpc>
              <a:spcBef>
                <a:spcPts val="0"/>
              </a:spcBef>
              <a:spcAft>
                <a:spcPts val="0"/>
              </a:spcAft>
              <a:buClr>
                <a:srgbClr val="E5E0DF"/>
              </a:buClr>
              <a:buSzPts val="1200"/>
              <a:buFont typeface="Hepta Slab Medium"/>
              <a:buChar char="➔"/>
            </a:pPr>
            <a:r>
              <a:rPr lang="en" sz="1600" b="0" i="0" u="none" strike="noStrike" cap="none" dirty="0">
                <a:solidFill>
                  <a:srgbClr val="475569"/>
                </a:solidFill>
                <a:latin typeface="Aptos"/>
                <a:ea typeface="Hepta Slab Medium"/>
                <a:cs typeface="Hepta Slab Medium"/>
                <a:sym typeface="Hepta Slab Medium"/>
              </a:rPr>
              <a:t>Develop an interactive dashboard for monitoring key operational metrics. </a:t>
            </a:r>
            <a:endParaRPr sz="1600" b="0" i="0" u="none" strike="noStrike" cap="none" dirty="0">
              <a:solidFill>
                <a:srgbClr val="000000"/>
              </a:solidFill>
              <a:latin typeface="Hepta Slab Medium"/>
              <a:ea typeface="Hepta Slab Medium"/>
              <a:cs typeface="Hepta Slab Medium"/>
              <a:sym typeface="Hepta Slab Medium"/>
            </a:endParaRPr>
          </a:p>
        </p:txBody>
      </p:sp>
      <p:sp>
        <p:nvSpPr>
          <p:cNvPr id="360" name="Rectangle 359"/>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3"/>
        <p:cNvGrpSpPr/>
        <p:nvPr/>
      </p:nvGrpSpPr>
      <p:grpSpPr>
        <a:xfrm>
          <a:off x="0" y="0"/>
          <a:ext cx="0" cy="0"/>
          <a:chOff x="0" y="0"/>
          <a:chExt cx="0" cy="0"/>
        </a:xfrm>
      </p:grpSpPr>
      <p:sp>
        <p:nvSpPr>
          <p:cNvPr id="364" name="Google Shape;364;p4"/>
          <p:cNvSpPr txBox="1">
            <a:spLocks noGrp="1"/>
          </p:cNvSpPr>
          <p:nvPr>
            <p:ph type="subTitle" idx="1"/>
          </p:nvPr>
        </p:nvSpPr>
        <p:spPr>
          <a:xfrm>
            <a:off x="5342700" y="334433"/>
            <a:ext cx="6447600" cy="476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67"/>
              <a:buNone/>
            </a:pPr>
            <a:r>
              <a:rPr lang="en" sz="4000" b="1" dirty="0">
                <a:solidFill>
                  <a:srgbClr val="12375C"/>
                </a:solidFill>
                <a:latin typeface="Aptos"/>
              </a:rPr>
              <a:t>Dataset Overview</a:t>
            </a:r>
            <a:endParaRPr sz="4000" b="1" dirty="0">
              <a:solidFill>
                <a:srgbClr val="FF0000"/>
              </a:solidFill>
            </a:endParaRPr>
          </a:p>
        </p:txBody>
      </p:sp>
      <p:sp>
        <p:nvSpPr>
          <p:cNvPr id="365" name="Google Shape;365;p4"/>
          <p:cNvSpPr txBox="1">
            <a:spLocks noGrp="1"/>
          </p:cNvSpPr>
          <p:nvPr>
            <p:ph type="sldNum" idx="12"/>
          </p:nvPr>
        </p:nvSpPr>
        <p:spPr>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467"/>
              <a:buNone/>
            </a:pPr>
            <a:fld id="{00000000-1234-1234-1234-123412341234}" type="slidenum">
              <a:rPr lang="en"/>
              <a:t>4</a:t>
            </a:fld>
            <a:endParaRPr/>
          </a:p>
        </p:txBody>
      </p:sp>
      <p:sp>
        <p:nvSpPr>
          <p:cNvPr id="385" name="Google Shape;385;p4"/>
          <p:cNvSpPr txBox="1">
            <a:spLocks noGrp="1"/>
          </p:cNvSpPr>
          <p:nvPr>
            <p:ph type="title" idx="4294967295"/>
          </p:nvPr>
        </p:nvSpPr>
        <p:spPr>
          <a:xfrm>
            <a:off x="0" y="0"/>
            <a:ext cx="8058151" cy="41275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800"/>
              <a:buNone/>
            </a:pPr>
            <a:r>
              <a:rPr lang="en" sz="2133" i="1" dirty="0">
                <a:solidFill>
                  <a:schemeClr val="accent4"/>
                </a:solidFill>
                <a:latin typeface="Aptos"/>
              </a:rPr>
              <a:t>"What data is available to help us answer these questions?"</a:t>
            </a:r>
            <a:endParaRPr sz="2133" i="1" dirty="0">
              <a:solidFill>
                <a:schemeClr val="accent4"/>
              </a:solidFill>
            </a:endParaRPr>
          </a:p>
        </p:txBody>
      </p:sp>
      <p:sp>
        <p:nvSpPr>
          <p:cNvPr id="366" name="Google Shape;366;p4"/>
          <p:cNvSpPr txBox="1"/>
          <p:nvPr/>
        </p:nvSpPr>
        <p:spPr>
          <a:xfrm>
            <a:off x="477999" y="887519"/>
            <a:ext cx="11388401" cy="265846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867"/>
              </a:spcBef>
              <a:spcAft>
                <a:spcPts val="0"/>
              </a:spcAft>
              <a:buClr>
                <a:srgbClr val="000000"/>
              </a:buClr>
              <a:buSzPts val="1733"/>
              <a:buFont typeface="Arial"/>
              <a:buNone/>
            </a:pPr>
            <a:r>
              <a:rPr lang="en" sz="2133" b="1" i="0" u="none" strike="noStrike" cap="none" dirty="0">
                <a:solidFill>
                  <a:srgbClr val="475569"/>
                </a:solidFill>
                <a:latin typeface="Aptos"/>
                <a:ea typeface="Hepta Slab Medium"/>
                <a:cs typeface="Hepta Slab Medium"/>
                <a:sym typeface="Hepta Slab Medium"/>
              </a:rPr>
              <a:t>Dataset Summary</a:t>
            </a:r>
            <a:endParaRPr sz="2133" b="1"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15000"/>
              </a:lnSpc>
              <a:spcBef>
                <a:spcPts val="1600"/>
              </a:spcBef>
              <a:spcAft>
                <a:spcPts val="0"/>
              </a:spcAft>
              <a:buClr>
                <a:srgbClr val="000000"/>
              </a:buClr>
              <a:buSzPts val="1467"/>
              <a:buFont typeface="Arial"/>
              <a:buNone/>
            </a:pPr>
            <a:r>
              <a:rPr lang="en" sz="1733" b="0" i="0" u="none" strike="noStrike" cap="none" dirty="0">
                <a:solidFill>
                  <a:srgbClr val="475569"/>
                </a:solidFill>
                <a:latin typeface="Aptos"/>
                <a:ea typeface="Hepta Slab Medium"/>
                <a:cs typeface="Hepta Slab Medium"/>
                <a:sym typeface="Hepta Slab Medium"/>
              </a:rPr>
              <a:t>The dataset contains 97,498  IT support tickets handled by 50 support agents. It includes ticket categories, issue types, severity levels, resolution performance metrics, and satisfaction ratings, providing a comprehensive view of IT support operations.</a:t>
            </a:r>
            <a:endParaRPr sz="1733" b="0"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15000"/>
              </a:lnSpc>
              <a:spcBef>
                <a:spcPts val="1600"/>
              </a:spcBef>
              <a:spcAft>
                <a:spcPts val="1600"/>
              </a:spcAft>
              <a:buClr>
                <a:srgbClr val="000000"/>
              </a:buClr>
              <a:buSzPts val="1467"/>
              <a:buFont typeface="Arial"/>
              <a:buNone/>
            </a:pPr>
            <a:endParaRPr sz="1467" b="0" i="0" u="none" strike="noStrike" cap="none" dirty="0">
              <a:solidFill>
                <a:schemeClr val="dk1"/>
              </a:solidFill>
              <a:latin typeface="Hepta Slab Medium"/>
              <a:ea typeface="Hepta Slab Medium"/>
              <a:cs typeface="Hepta Slab Medium"/>
              <a:sym typeface="Hepta Slab Medium"/>
            </a:endParaRPr>
          </a:p>
        </p:txBody>
      </p:sp>
      <p:sp>
        <p:nvSpPr>
          <p:cNvPr id="367" name="Google Shape;367;p4"/>
          <p:cNvSpPr/>
          <p:nvPr/>
        </p:nvSpPr>
        <p:spPr>
          <a:xfrm>
            <a:off x="330633" y="2758267"/>
            <a:ext cx="4630000" cy="3775600"/>
          </a:xfrm>
          <a:prstGeom prst="roundRect">
            <a:avLst>
              <a:gd name="adj" fmla="val 5837"/>
            </a:avLst>
          </a:prstGeom>
          <a:solidFill>
            <a:schemeClr val="accent1">
              <a:lumMod val="40000"/>
              <a:lumOff val="60000"/>
            </a:schemeClr>
          </a:solidFill>
          <a:ln w="50800" cap="flat" cmpd="sng">
            <a:solidFill>
              <a:srgbClr val="FF0000">
                <a:alpha val="23922"/>
              </a:srgbClr>
            </a:solidFill>
            <a:prstDash val="solid"/>
            <a:round/>
            <a:headEnd type="none" w="sm" len="sm"/>
            <a:tailEnd type="none" w="sm" len="sm"/>
          </a:ln>
        </p:spPr>
        <p:txBody>
          <a:bodyPr spcFirstLastPara="1" wrap="square" lIns="124550" tIns="124550" rIns="124550" bIns="12455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733" b="0" i="0" u="none" strike="noStrike" cap="none" dirty="0">
              <a:solidFill>
                <a:srgbClr val="FF0000"/>
              </a:solidFill>
              <a:latin typeface="Arial"/>
              <a:ea typeface="Arial"/>
              <a:cs typeface="Arial"/>
              <a:sym typeface="Arial"/>
            </a:endParaRPr>
          </a:p>
        </p:txBody>
      </p:sp>
      <p:sp>
        <p:nvSpPr>
          <p:cNvPr id="368" name="Google Shape;368;p4"/>
          <p:cNvSpPr/>
          <p:nvPr/>
        </p:nvSpPr>
        <p:spPr>
          <a:xfrm>
            <a:off x="544587" y="2873555"/>
            <a:ext cx="3183200" cy="294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1" i="0" u="none" strike="noStrike" cap="none">
                <a:solidFill>
                  <a:srgbClr val="475569"/>
                </a:solidFill>
                <a:latin typeface="Aptos"/>
                <a:ea typeface="Roboto Light"/>
                <a:cs typeface="Roboto Light"/>
                <a:sym typeface="Roboto Light"/>
              </a:rPr>
              <a:t>Metric</a:t>
            </a:r>
            <a:endParaRPr sz="1544" b="0" i="0" u="none" strike="noStrike" cap="none">
              <a:solidFill>
                <a:srgbClr val="000000"/>
              </a:solidFill>
              <a:latin typeface="Arial"/>
              <a:ea typeface="Arial"/>
              <a:cs typeface="Arial"/>
              <a:sym typeface="Arial"/>
            </a:endParaRPr>
          </a:p>
        </p:txBody>
      </p:sp>
      <p:sp>
        <p:nvSpPr>
          <p:cNvPr id="369" name="Google Shape;369;p4"/>
          <p:cNvSpPr/>
          <p:nvPr/>
        </p:nvSpPr>
        <p:spPr>
          <a:xfrm>
            <a:off x="3316387" y="2873555"/>
            <a:ext cx="2260800" cy="2948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1" i="0" u="none" strike="noStrike" cap="none">
                <a:solidFill>
                  <a:srgbClr val="475569"/>
                </a:solidFill>
                <a:latin typeface="Aptos"/>
                <a:ea typeface="Roboto Light"/>
                <a:cs typeface="Roboto Light"/>
                <a:sym typeface="Roboto Light"/>
              </a:rPr>
              <a:t>Value</a:t>
            </a:r>
            <a:endParaRPr sz="1544" b="0" i="0" u="none" strike="noStrike" cap="none">
              <a:solidFill>
                <a:srgbClr val="000000"/>
              </a:solidFill>
              <a:latin typeface="Arial"/>
              <a:ea typeface="Arial"/>
              <a:cs typeface="Arial"/>
              <a:sym typeface="Arial"/>
            </a:endParaRPr>
          </a:p>
        </p:txBody>
      </p:sp>
      <p:sp>
        <p:nvSpPr>
          <p:cNvPr id="370" name="Google Shape;370;p4"/>
          <p:cNvSpPr/>
          <p:nvPr/>
        </p:nvSpPr>
        <p:spPr>
          <a:xfrm>
            <a:off x="544604" y="3390400"/>
            <a:ext cx="4192000" cy="294800"/>
          </a:xfrm>
          <a:prstGeom prst="rect">
            <a:avLst/>
          </a:prstGeom>
          <a:noFill/>
          <a:ln w="12700" cap="flat" cmpd="sng">
            <a:solidFill>
              <a:srgbClr val="B7B7B7"/>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277" b="0" i="0" u="none" strike="noStrike" cap="none" dirty="0">
                <a:solidFill>
                  <a:srgbClr val="475569"/>
                </a:solidFill>
                <a:latin typeface="Aptos"/>
                <a:ea typeface="Roboto Light"/>
                <a:cs typeface="Roboto Light"/>
                <a:sym typeface="Roboto Light"/>
              </a:rPr>
              <a:t>   Total Tickets</a:t>
            </a:r>
            <a:endParaRPr sz="1277" b="0" i="0" u="none" strike="noStrike" cap="none" dirty="0">
              <a:solidFill>
                <a:srgbClr val="000000"/>
              </a:solidFill>
              <a:latin typeface="Arial"/>
              <a:ea typeface="Arial"/>
              <a:cs typeface="Arial"/>
              <a:sym typeface="Arial"/>
            </a:endParaRPr>
          </a:p>
        </p:txBody>
      </p:sp>
      <p:sp>
        <p:nvSpPr>
          <p:cNvPr id="371" name="Google Shape;371;p4"/>
          <p:cNvSpPr/>
          <p:nvPr/>
        </p:nvSpPr>
        <p:spPr>
          <a:xfrm>
            <a:off x="3316387" y="3390393"/>
            <a:ext cx="2260800" cy="294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0" i="0" u="none" strike="noStrike" cap="none" dirty="0">
                <a:solidFill>
                  <a:srgbClr val="475569"/>
                </a:solidFill>
                <a:latin typeface="Aptos"/>
                <a:ea typeface="Roboto Light"/>
                <a:cs typeface="Roboto Light"/>
                <a:sym typeface="Roboto Light"/>
              </a:rPr>
              <a:t>97,498</a:t>
            </a:r>
            <a:endParaRPr sz="1544" b="0" i="0" u="none" strike="noStrike" cap="none" dirty="0">
              <a:solidFill>
                <a:srgbClr val="000000"/>
              </a:solidFill>
              <a:latin typeface="Arial"/>
              <a:ea typeface="Arial"/>
              <a:cs typeface="Arial"/>
              <a:sym typeface="Arial"/>
            </a:endParaRPr>
          </a:p>
        </p:txBody>
      </p:sp>
      <p:sp>
        <p:nvSpPr>
          <p:cNvPr id="372" name="Google Shape;372;p4"/>
          <p:cNvSpPr/>
          <p:nvPr/>
        </p:nvSpPr>
        <p:spPr>
          <a:xfrm>
            <a:off x="544604" y="3907233"/>
            <a:ext cx="4192000" cy="294800"/>
          </a:xfrm>
          <a:prstGeom prst="rect">
            <a:avLst/>
          </a:prstGeom>
          <a:noFill/>
          <a:ln w="12700" cap="flat" cmpd="sng">
            <a:solidFill>
              <a:srgbClr val="999999"/>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277" b="0" i="0" u="none" strike="noStrike" cap="none">
                <a:solidFill>
                  <a:srgbClr val="475569"/>
                </a:solidFill>
                <a:latin typeface="Aptos"/>
                <a:ea typeface="Roboto Light"/>
                <a:cs typeface="Roboto Light"/>
                <a:sym typeface="Roboto Light"/>
              </a:rPr>
              <a:t>   Total Agents</a:t>
            </a:r>
            <a:endParaRPr sz="1277" b="0" i="0" u="none" strike="noStrike" cap="none">
              <a:solidFill>
                <a:srgbClr val="000000"/>
              </a:solidFill>
              <a:latin typeface="Arial"/>
              <a:ea typeface="Arial"/>
              <a:cs typeface="Arial"/>
              <a:sym typeface="Arial"/>
            </a:endParaRPr>
          </a:p>
        </p:txBody>
      </p:sp>
      <p:sp>
        <p:nvSpPr>
          <p:cNvPr id="373" name="Google Shape;373;p4"/>
          <p:cNvSpPr/>
          <p:nvPr/>
        </p:nvSpPr>
        <p:spPr>
          <a:xfrm>
            <a:off x="3316387" y="3907235"/>
            <a:ext cx="2260800" cy="294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0" i="0" u="none" strike="noStrike" cap="none">
                <a:solidFill>
                  <a:srgbClr val="475569"/>
                </a:solidFill>
                <a:latin typeface="Aptos"/>
                <a:ea typeface="Roboto Light"/>
                <a:cs typeface="Roboto Light"/>
                <a:sym typeface="Roboto Light"/>
              </a:rPr>
              <a:t>50</a:t>
            </a:r>
            <a:endParaRPr sz="1544" b="0" i="0" u="none" strike="noStrike" cap="none">
              <a:solidFill>
                <a:srgbClr val="000000"/>
              </a:solidFill>
              <a:latin typeface="Arial"/>
              <a:ea typeface="Arial"/>
              <a:cs typeface="Arial"/>
              <a:sym typeface="Arial"/>
            </a:endParaRPr>
          </a:p>
        </p:txBody>
      </p:sp>
      <p:sp>
        <p:nvSpPr>
          <p:cNvPr id="374" name="Google Shape;374;p4"/>
          <p:cNvSpPr/>
          <p:nvPr/>
        </p:nvSpPr>
        <p:spPr>
          <a:xfrm>
            <a:off x="544604" y="4424067"/>
            <a:ext cx="4192000" cy="294800"/>
          </a:xfrm>
          <a:prstGeom prst="rect">
            <a:avLst/>
          </a:prstGeom>
          <a:noFill/>
          <a:ln w="12700" cap="flat" cmpd="sng">
            <a:solidFill>
              <a:srgbClr val="999999"/>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277" b="0" i="0" u="none" strike="noStrike" cap="none">
                <a:solidFill>
                  <a:srgbClr val="475569"/>
                </a:solidFill>
                <a:latin typeface="Aptos"/>
                <a:ea typeface="Roboto Light"/>
                <a:cs typeface="Roboto Light"/>
                <a:sym typeface="Roboto Light"/>
              </a:rPr>
              <a:t>   Request Categories</a:t>
            </a:r>
            <a:endParaRPr sz="1277" b="0" i="0" u="none" strike="noStrike" cap="none">
              <a:solidFill>
                <a:srgbClr val="000000"/>
              </a:solidFill>
              <a:latin typeface="Arial"/>
              <a:ea typeface="Arial"/>
              <a:cs typeface="Arial"/>
              <a:sym typeface="Arial"/>
            </a:endParaRPr>
          </a:p>
        </p:txBody>
      </p:sp>
      <p:sp>
        <p:nvSpPr>
          <p:cNvPr id="375" name="Google Shape;375;p4"/>
          <p:cNvSpPr/>
          <p:nvPr/>
        </p:nvSpPr>
        <p:spPr>
          <a:xfrm>
            <a:off x="3316387" y="4424073"/>
            <a:ext cx="2260800" cy="294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0" i="0" u="none" strike="noStrike" cap="none">
                <a:solidFill>
                  <a:srgbClr val="475569"/>
                </a:solidFill>
                <a:latin typeface="Aptos"/>
                <a:ea typeface="Roboto Light"/>
                <a:cs typeface="Roboto Light"/>
                <a:sym typeface="Roboto Light"/>
              </a:rPr>
              <a:t>4</a:t>
            </a:r>
            <a:endParaRPr sz="1544" b="0" i="0" u="none" strike="noStrike" cap="none">
              <a:solidFill>
                <a:srgbClr val="000000"/>
              </a:solidFill>
              <a:latin typeface="Arial"/>
              <a:ea typeface="Arial"/>
              <a:cs typeface="Arial"/>
              <a:sym typeface="Arial"/>
            </a:endParaRPr>
          </a:p>
        </p:txBody>
      </p:sp>
      <p:sp>
        <p:nvSpPr>
          <p:cNvPr id="376" name="Google Shape;376;p4"/>
          <p:cNvSpPr/>
          <p:nvPr/>
        </p:nvSpPr>
        <p:spPr>
          <a:xfrm>
            <a:off x="544604" y="4940900"/>
            <a:ext cx="4192000" cy="294800"/>
          </a:xfrm>
          <a:prstGeom prst="rect">
            <a:avLst/>
          </a:prstGeom>
          <a:noFill/>
          <a:ln w="12700" cap="flat" cmpd="sng">
            <a:solidFill>
              <a:srgbClr val="999999"/>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277" b="0" i="0" u="none" strike="noStrike" cap="none">
                <a:solidFill>
                  <a:srgbClr val="475569"/>
                </a:solidFill>
                <a:latin typeface="Aptos"/>
                <a:ea typeface="Roboto Light"/>
                <a:cs typeface="Roboto Light"/>
                <a:sym typeface="Roboto Light"/>
              </a:rPr>
              <a:t>   Issue Types</a:t>
            </a:r>
            <a:endParaRPr sz="1277" b="0" i="0" u="none" strike="noStrike" cap="none">
              <a:solidFill>
                <a:srgbClr val="000000"/>
              </a:solidFill>
              <a:latin typeface="Arial"/>
              <a:ea typeface="Arial"/>
              <a:cs typeface="Arial"/>
              <a:sym typeface="Arial"/>
            </a:endParaRPr>
          </a:p>
        </p:txBody>
      </p:sp>
      <p:sp>
        <p:nvSpPr>
          <p:cNvPr id="377" name="Google Shape;377;p4"/>
          <p:cNvSpPr/>
          <p:nvPr/>
        </p:nvSpPr>
        <p:spPr>
          <a:xfrm>
            <a:off x="3316387" y="4940913"/>
            <a:ext cx="2260800" cy="294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0" i="0" u="none" strike="noStrike" cap="none">
                <a:solidFill>
                  <a:srgbClr val="475569"/>
                </a:solidFill>
                <a:latin typeface="Aptos"/>
                <a:ea typeface="Roboto Light"/>
                <a:cs typeface="Roboto Light"/>
                <a:sym typeface="Roboto Light"/>
              </a:rPr>
              <a:t>2</a:t>
            </a:r>
            <a:endParaRPr sz="1544" b="0" i="0" u="none" strike="noStrike" cap="none">
              <a:solidFill>
                <a:srgbClr val="000000"/>
              </a:solidFill>
              <a:latin typeface="Arial"/>
              <a:ea typeface="Arial"/>
              <a:cs typeface="Arial"/>
              <a:sym typeface="Arial"/>
            </a:endParaRPr>
          </a:p>
        </p:txBody>
      </p:sp>
      <p:sp>
        <p:nvSpPr>
          <p:cNvPr id="378" name="Google Shape;378;p4"/>
          <p:cNvSpPr/>
          <p:nvPr/>
        </p:nvSpPr>
        <p:spPr>
          <a:xfrm>
            <a:off x="544600" y="5457767"/>
            <a:ext cx="4192000" cy="294800"/>
          </a:xfrm>
          <a:prstGeom prst="rect">
            <a:avLst/>
          </a:prstGeom>
          <a:noFill/>
          <a:ln w="12700" cap="flat" cmpd="sng">
            <a:solidFill>
              <a:srgbClr val="999999"/>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277" b="0" i="0" u="none" strike="noStrike" cap="none">
                <a:solidFill>
                  <a:srgbClr val="475569"/>
                </a:solidFill>
                <a:latin typeface="Aptos"/>
                <a:ea typeface="Roboto Light"/>
                <a:cs typeface="Roboto Light"/>
                <a:sym typeface="Roboto Light"/>
              </a:rPr>
              <a:t>   Avg Resolution Time</a:t>
            </a:r>
            <a:endParaRPr sz="1277" b="0" i="0" u="none" strike="noStrike" cap="none">
              <a:solidFill>
                <a:srgbClr val="000000"/>
              </a:solidFill>
              <a:latin typeface="Arial"/>
              <a:ea typeface="Arial"/>
              <a:cs typeface="Arial"/>
              <a:sym typeface="Arial"/>
            </a:endParaRPr>
          </a:p>
        </p:txBody>
      </p:sp>
      <p:sp>
        <p:nvSpPr>
          <p:cNvPr id="379" name="Google Shape;379;p4"/>
          <p:cNvSpPr/>
          <p:nvPr/>
        </p:nvSpPr>
        <p:spPr>
          <a:xfrm>
            <a:off x="3316387" y="5457753"/>
            <a:ext cx="2260800" cy="294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0" i="0" u="none" strike="noStrike" cap="none">
                <a:solidFill>
                  <a:srgbClr val="475569"/>
                </a:solidFill>
                <a:latin typeface="Aptos"/>
                <a:ea typeface="Roboto Light"/>
                <a:cs typeface="Roboto Light"/>
                <a:sym typeface="Roboto Light"/>
              </a:rPr>
              <a:t>4.55 Days</a:t>
            </a:r>
            <a:endParaRPr sz="1544" b="0" i="0" u="none" strike="noStrike" cap="none">
              <a:solidFill>
                <a:srgbClr val="000000"/>
              </a:solidFill>
              <a:latin typeface="Arial"/>
              <a:ea typeface="Arial"/>
              <a:cs typeface="Arial"/>
              <a:sym typeface="Arial"/>
            </a:endParaRPr>
          </a:p>
        </p:txBody>
      </p:sp>
      <p:sp>
        <p:nvSpPr>
          <p:cNvPr id="380" name="Google Shape;380;p4"/>
          <p:cNvSpPr/>
          <p:nvPr/>
        </p:nvSpPr>
        <p:spPr>
          <a:xfrm>
            <a:off x="544600" y="5974600"/>
            <a:ext cx="4192000" cy="294800"/>
          </a:xfrm>
          <a:prstGeom prst="rect">
            <a:avLst/>
          </a:prstGeom>
          <a:noFill/>
          <a:ln w="12700" cap="flat" cmpd="sng">
            <a:solidFill>
              <a:srgbClr val="999999"/>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277" b="0" i="0" u="none" strike="noStrike" cap="none">
                <a:solidFill>
                  <a:srgbClr val="475569"/>
                </a:solidFill>
                <a:latin typeface="Aptos"/>
                <a:ea typeface="Roboto Light"/>
                <a:cs typeface="Roboto Light"/>
                <a:sym typeface="Roboto Light"/>
              </a:rPr>
              <a:t>   Avg Satisfaction</a:t>
            </a:r>
            <a:endParaRPr sz="1277" b="0" i="0" u="none" strike="noStrike" cap="none">
              <a:solidFill>
                <a:srgbClr val="000000"/>
              </a:solidFill>
              <a:latin typeface="Arial"/>
              <a:ea typeface="Arial"/>
              <a:cs typeface="Arial"/>
              <a:sym typeface="Arial"/>
            </a:endParaRPr>
          </a:p>
        </p:txBody>
      </p:sp>
      <p:sp>
        <p:nvSpPr>
          <p:cNvPr id="381" name="Google Shape;381;p4"/>
          <p:cNvSpPr/>
          <p:nvPr/>
        </p:nvSpPr>
        <p:spPr>
          <a:xfrm>
            <a:off x="3316387" y="5974593"/>
            <a:ext cx="2260800" cy="294800"/>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Clr>
                <a:srgbClr val="E5E0DF"/>
              </a:buClr>
              <a:buSzPts val="1544"/>
              <a:buFont typeface="Roboto Light"/>
              <a:buNone/>
            </a:pPr>
            <a:r>
              <a:rPr lang="en" sz="1544" b="0" i="0" u="none" strike="noStrike" cap="none">
                <a:solidFill>
                  <a:srgbClr val="475569"/>
                </a:solidFill>
                <a:latin typeface="Aptos"/>
                <a:ea typeface="Roboto Light"/>
                <a:cs typeface="Roboto Light"/>
                <a:sym typeface="Roboto Light"/>
              </a:rPr>
              <a:t>4.10</a:t>
            </a:r>
            <a:endParaRPr sz="1544" b="0" i="0" u="none" strike="noStrike" cap="none">
              <a:solidFill>
                <a:srgbClr val="000000"/>
              </a:solidFill>
              <a:latin typeface="Arial"/>
              <a:ea typeface="Arial"/>
              <a:cs typeface="Arial"/>
              <a:sym typeface="Arial"/>
            </a:endParaRPr>
          </a:p>
        </p:txBody>
      </p:sp>
      <p:sp>
        <p:nvSpPr>
          <p:cNvPr id="382" name="Google Shape;382;p4"/>
          <p:cNvSpPr/>
          <p:nvPr/>
        </p:nvSpPr>
        <p:spPr>
          <a:xfrm>
            <a:off x="5648377" y="2699267"/>
            <a:ext cx="4062800" cy="2352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1867"/>
              </a:spcBef>
              <a:spcAft>
                <a:spcPts val="0"/>
              </a:spcAft>
              <a:buClr>
                <a:schemeClr val="lt1"/>
              </a:buClr>
              <a:buSzPts val="1467"/>
              <a:buFont typeface="Arial"/>
              <a:buNone/>
            </a:pPr>
            <a:r>
              <a:rPr lang="en" sz="1733" b="0" i="0" u="none" strike="noStrike" cap="none" dirty="0">
                <a:solidFill>
                  <a:srgbClr val="475569"/>
                </a:solidFill>
                <a:latin typeface="Aptos"/>
                <a:ea typeface="Hepta Slab Medium"/>
                <a:cs typeface="Hepta Slab Medium"/>
                <a:sym typeface="Hepta Slab Medium"/>
              </a:rPr>
              <a:t>Data Fields Included</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397933" algn="l" rtl="0">
              <a:lnSpc>
                <a:spcPct val="115000"/>
              </a:lnSpc>
              <a:spcBef>
                <a:spcPts val="1600"/>
              </a:spcBef>
              <a:spcAft>
                <a:spcPts val="0"/>
              </a:spcAft>
              <a:buClr>
                <a:schemeClr val="lt1"/>
              </a:buClr>
              <a:buSzPts val="1467"/>
              <a:buFont typeface="Arial"/>
              <a:buChar char="●"/>
            </a:pPr>
            <a:endParaRPr sz="1467" b="0" i="0" u="none" strike="noStrike" cap="none" dirty="0">
              <a:solidFill>
                <a:schemeClr val="lt1"/>
              </a:solidFill>
              <a:latin typeface="Arial"/>
              <a:ea typeface="Arial"/>
              <a:cs typeface="Arial"/>
              <a:sym typeface="Arial"/>
            </a:endParaRPr>
          </a:p>
          <a:p>
            <a:pPr marL="0" marR="0" lvl="0" indent="0" algn="l" rtl="0">
              <a:lnSpc>
                <a:spcPct val="104000"/>
              </a:lnSpc>
              <a:spcBef>
                <a:spcPts val="1600"/>
              </a:spcBef>
              <a:spcAft>
                <a:spcPts val="0"/>
              </a:spcAft>
              <a:buClr>
                <a:srgbClr val="F2F2F3"/>
              </a:buClr>
              <a:buSzPts val="1467"/>
              <a:buFont typeface="Poppins Light"/>
              <a:buNone/>
            </a:pPr>
            <a:endParaRPr sz="1467" b="0" i="0" u="none" strike="noStrike" cap="none" dirty="0">
              <a:solidFill>
                <a:srgbClr val="F2F2F3"/>
              </a:solidFill>
              <a:latin typeface="Poppins Light"/>
              <a:ea typeface="Poppins Light"/>
              <a:cs typeface="Poppins Light"/>
              <a:sym typeface="Poppins Light"/>
            </a:endParaRPr>
          </a:p>
        </p:txBody>
      </p:sp>
      <p:sp>
        <p:nvSpPr>
          <p:cNvPr id="383" name="Google Shape;383;p4"/>
          <p:cNvSpPr/>
          <p:nvPr/>
        </p:nvSpPr>
        <p:spPr>
          <a:xfrm>
            <a:off x="5648360" y="3170997"/>
            <a:ext cx="5734000" cy="733600"/>
          </a:xfrm>
          <a:prstGeom prst="rect">
            <a:avLst/>
          </a:prstGeom>
          <a:noFill/>
          <a:ln>
            <a:noFill/>
          </a:ln>
        </p:spPr>
        <p:txBody>
          <a:bodyPr spcFirstLastPara="1" wrap="square" lIns="0" tIns="0" rIns="0" bIns="0" anchor="t" anchorCtr="0">
            <a:noAutofit/>
          </a:bodyPr>
          <a:lstStyle/>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Ticket ID</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Employee ID</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Agent ID</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Request Category</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Issue Type</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Severity</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Priority</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Resolution Time</a:t>
            </a:r>
            <a:endParaRPr sz="1667" b="0" i="0" u="none" strike="noStrike" cap="none" dirty="0">
              <a:solidFill>
                <a:srgbClr val="E5E0DF"/>
              </a:solidFill>
              <a:latin typeface="Roboto Light"/>
              <a:ea typeface="Roboto Light"/>
              <a:cs typeface="Roboto Light"/>
              <a:sym typeface="Roboto Light"/>
            </a:endParaRPr>
          </a:p>
          <a:p>
            <a:pPr marL="609600" marR="0" lvl="0" indent="-410633" algn="l" rtl="0">
              <a:lnSpc>
                <a:spcPct val="120000"/>
              </a:lnSpc>
              <a:spcBef>
                <a:spcPts val="0"/>
              </a:spcBef>
              <a:spcAft>
                <a:spcPts val="0"/>
              </a:spcAft>
              <a:buClr>
                <a:srgbClr val="E5E0DF"/>
              </a:buClr>
              <a:buSzPts val="1667"/>
              <a:buFont typeface="Roboto Light"/>
              <a:buChar char="•"/>
            </a:pPr>
            <a:r>
              <a:rPr lang="en" sz="1667" b="0" i="0" u="none" strike="noStrike" cap="none" dirty="0">
                <a:solidFill>
                  <a:srgbClr val="475569"/>
                </a:solidFill>
                <a:latin typeface="Aptos"/>
                <a:ea typeface="Roboto Light"/>
                <a:cs typeface="Roboto Light"/>
                <a:sym typeface="Roboto Light"/>
              </a:rPr>
              <a:t>Satisfaction Rate</a:t>
            </a:r>
            <a:endParaRPr sz="1667" b="0" i="0" u="none" strike="noStrike" cap="none" dirty="0">
              <a:solidFill>
                <a:srgbClr val="E5E0DF"/>
              </a:solidFill>
              <a:latin typeface="Roboto Light"/>
              <a:ea typeface="Roboto Light"/>
              <a:cs typeface="Roboto Light"/>
              <a:sym typeface="Roboto Light"/>
            </a:endParaRPr>
          </a:p>
        </p:txBody>
      </p:sp>
      <p:sp>
        <p:nvSpPr>
          <p:cNvPr id="384" name="Google Shape;384;p4"/>
          <p:cNvSpPr/>
          <p:nvPr/>
        </p:nvSpPr>
        <p:spPr>
          <a:xfrm>
            <a:off x="5577201" y="6013167"/>
            <a:ext cx="6289200" cy="56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2F2F3"/>
              </a:buClr>
              <a:buSzPts val="1467"/>
              <a:buFont typeface="Poppins Light"/>
              <a:buNone/>
            </a:pPr>
            <a:endParaRPr sz="1467" b="0" i="0" u="none" strike="noStrike" cap="none">
              <a:solidFill>
                <a:srgbClr val="000000"/>
              </a:solidFill>
              <a:latin typeface="Hepta Slab Medium"/>
              <a:ea typeface="Hepta Slab Medium"/>
              <a:cs typeface="Hepta Slab Medium"/>
              <a:sym typeface="Hepta Slab Medium"/>
            </a:endParaRPr>
          </a:p>
        </p:txBody>
      </p:sp>
      <p:sp>
        <p:nvSpPr>
          <p:cNvPr id="386" name="Rectangle 385"/>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9"/>
        <p:cNvGrpSpPr/>
        <p:nvPr/>
      </p:nvGrpSpPr>
      <p:grpSpPr>
        <a:xfrm>
          <a:off x="0" y="0"/>
          <a:ext cx="0" cy="0"/>
          <a:chOff x="0" y="0"/>
          <a:chExt cx="0" cy="0"/>
        </a:xfrm>
      </p:grpSpPr>
      <p:sp>
        <p:nvSpPr>
          <p:cNvPr id="391" name="Google Shape;391;p5"/>
          <p:cNvSpPr txBox="1">
            <a:spLocks noGrp="1"/>
          </p:cNvSpPr>
          <p:nvPr>
            <p:ph type="title"/>
          </p:nvPr>
        </p:nvSpPr>
        <p:spPr>
          <a:xfrm>
            <a:off x="5129967" y="259767"/>
            <a:ext cx="6580400" cy="64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2533" b="1" dirty="0">
                <a:solidFill>
                  <a:srgbClr val="12375C"/>
                </a:solidFill>
                <a:latin typeface="Aptos"/>
              </a:rPr>
              <a:t>Data Quality Assessment</a:t>
            </a:r>
            <a:endParaRPr sz="2533" b="1" dirty="0">
              <a:solidFill>
                <a:srgbClr val="FF0000"/>
              </a:solidFill>
            </a:endParaRPr>
          </a:p>
        </p:txBody>
      </p:sp>
      <p:sp>
        <p:nvSpPr>
          <p:cNvPr id="396" name="Google Shape;396;p5"/>
          <p:cNvSpPr txBox="1">
            <a:spLocks noGrp="1"/>
          </p:cNvSpPr>
          <p:nvPr>
            <p:ph type="title" idx="2"/>
          </p:nvPr>
        </p:nvSpPr>
        <p:spPr>
          <a:xfrm>
            <a:off x="44567" y="0"/>
            <a:ext cx="8058400" cy="412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2133" i="1" dirty="0">
                <a:latin typeface="Aptos"/>
              </a:rPr>
              <a:t>"Can we trust the data before performing the analysis?"</a:t>
            </a:r>
            <a:endParaRPr sz="2133" i="1" dirty="0"/>
          </a:p>
        </p:txBody>
      </p:sp>
      <p:sp>
        <p:nvSpPr>
          <p:cNvPr id="390" name="Google Shape;390;p5"/>
          <p:cNvSpPr txBox="1">
            <a:spLocks noGrp="1"/>
          </p:cNvSpPr>
          <p:nvPr>
            <p:ph type="title" idx="4294967295"/>
          </p:nvPr>
        </p:nvSpPr>
        <p:spPr>
          <a:xfrm>
            <a:off x="0" y="5759451"/>
            <a:ext cx="11590867" cy="563033"/>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600"/>
              </a:spcBef>
              <a:spcAft>
                <a:spcPts val="0"/>
              </a:spcAft>
              <a:buClr>
                <a:schemeClr val="lt1"/>
              </a:buClr>
              <a:buSzPts val="1467"/>
              <a:buFont typeface="Arial"/>
              <a:buNone/>
            </a:pPr>
            <a:r>
              <a:rPr lang="en" sz="1733" dirty="0">
                <a:solidFill>
                  <a:srgbClr val="475569"/>
                </a:solidFill>
                <a:latin typeface="Aptos"/>
              </a:rPr>
              <a:t>Key Insight: The dataset was largely complete, with only a few spelling inconsistencies affecting category labels. These issues were corrected prior to analysis to ensure accurate reporting and visualization.</a:t>
            </a:r>
            <a:endParaRPr sz="1733" dirty="0">
              <a:solidFill>
                <a:schemeClr val="dk1"/>
              </a:solidFill>
            </a:endParaRPr>
          </a:p>
          <a:p>
            <a:pPr marL="0" lvl="0" indent="0" algn="ctr" rtl="0">
              <a:lnSpc>
                <a:spcPct val="100000"/>
              </a:lnSpc>
              <a:spcBef>
                <a:spcPts val="1600"/>
              </a:spcBef>
              <a:spcAft>
                <a:spcPts val="0"/>
              </a:spcAft>
              <a:buSzPts val="17067"/>
              <a:buNone/>
            </a:pPr>
            <a:endParaRPr sz="1733" dirty="0">
              <a:solidFill>
                <a:schemeClr val="dk1"/>
              </a:solidFill>
              <a:latin typeface="Hepta Slab Medium"/>
              <a:ea typeface="Hepta Slab Medium"/>
              <a:cs typeface="Hepta Slab Medium"/>
              <a:sym typeface="Hepta Slab Medium"/>
            </a:endParaRPr>
          </a:p>
        </p:txBody>
      </p:sp>
      <p:sp>
        <p:nvSpPr>
          <p:cNvPr id="392" name="Google Shape;392;p5"/>
          <p:cNvSpPr txBox="1">
            <a:spLocks noGrp="1"/>
          </p:cNvSpPr>
          <p:nvPr>
            <p:ph type="title" idx="4294967295"/>
          </p:nvPr>
        </p:nvSpPr>
        <p:spPr>
          <a:xfrm>
            <a:off x="0" y="817033"/>
            <a:ext cx="11590867" cy="128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7067"/>
              <a:buNone/>
            </a:pPr>
            <a:r>
              <a:rPr lang="en" sz="1733" dirty="0">
                <a:solidFill>
                  <a:srgbClr val="475569"/>
                </a:solidFill>
                <a:latin typeface="Aptos"/>
                <a:ea typeface="Hepta Slab Medium"/>
                <a:cs typeface="Hepta Slab Medium"/>
                <a:sym typeface="Hepta Slab Medium"/>
              </a:rPr>
              <a:t>Why Data Quality Matters?</a:t>
            </a:r>
            <a:endParaRPr sz="1733" dirty="0">
              <a:solidFill>
                <a:schemeClr val="dk1"/>
              </a:solidFill>
              <a:latin typeface="Hepta Slab Medium"/>
              <a:ea typeface="Hepta Slab Medium"/>
              <a:cs typeface="Hepta Slab Medium"/>
              <a:sym typeface="Hepta Slab Medium"/>
            </a:endParaRPr>
          </a:p>
          <a:p>
            <a:pPr marL="0" lvl="0" indent="0" algn="ctr" rtl="0">
              <a:lnSpc>
                <a:spcPct val="100000"/>
              </a:lnSpc>
              <a:spcBef>
                <a:spcPts val="0"/>
              </a:spcBef>
              <a:spcAft>
                <a:spcPts val="0"/>
              </a:spcAft>
              <a:buSzPts val="17067"/>
              <a:buNone/>
            </a:pPr>
            <a:endParaRPr sz="1733" dirty="0">
              <a:solidFill>
                <a:schemeClr val="dk1"/>
              </a:solidFill>
              <a:latin typeface="Hepta Slab Medium"/>
              <a:ea typeface="Hepta Slab Medium"/>
              <a:cs typeface="Hepta Slab Medium"/>
              <a:sym typeface="Hepta Slab Medium"/>
            </a:endParaRPr>
          </a:p>
          <a:p>
            <a:pPr marL="0" lvl="0" indent="0" algn="ctr" rtl="0">
              <a:lnSpc>
                <a:spcPct val="100000"/>
              </a:lnSpc>
              <a:spcBef>
                <a:spcPts val="0"/>
              </a:spcBef>
              <a:spcAft>
                <a:spcPts val="0"/>
              </a:spcAft>
              <a:buSzPts val="17067"/>
              <a:buNone/>
            </a:pPr>
            <a:r>
              <a:rPr lang="en" sz="1733" dirty="0">
                <a:solidFill>
                  <a:srgbClr val="475569"/>
                </a:solidFill>
                <a:latin typeface="Aptos"/>
                <a:ea typeface="Hepta Slab Medium"/>
                <a:cs typeface="Hepta Slab Medium"/>
                <a:sym typeface="Hepta Slab Medium"/>
              </a:rPr>
              <a:t>Before performing any analysis, the dataset was reviewed to ensure that the results would be accurate, reliable, and suitable for business decision-making.</a:t>
            </a:r>
            <a:endParaRPr sz="1733" dirty="0">
              <a:solidFill>
                <a:schemeClr val="dk1"/>
              </a:solidFill>
              <a:latin typeface="Hepta Slab Medium"/>
              <a:ea typeface="Hepta Slab Medium"/>
              <a:cs typeface="Hepta Slab Medium"/>
              <a:sym typeface="Hepta Slab Medium"/>
            </a:endParaRPr>
          </a:p>
        </p:txBody>
      </p:sp>
      <p:sp>
        <p:nvSpPr>
          <p:cNvPr id="393" name="Google Shape;393;p5"/>
          <p:cNvSpPr txBox="1">
            <a:spLocks noGrp="1"/>
          </p:cNvSpPr>
          <p:nvPr>
            <p:ph type="title" idx="4294967295"/>
          </p:nvPr>
        </p:nvSpPr>
        <p:spPr>
          <a:xfrm>
            <a:off x="601133" y="1896533"/>
            <a:ext cx="11590867" cy="563033"/>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1600"/>
              </a:spcBef>
              <a:spcAft>
                <a:spcPts val="0"/>
              </a:spcAft>
              <a:buClr>
                <a:schemeClr val="lt1"/>
              </a:buClr>
              <a:buSzPts val="1467"/>
              <a:buFont typeface="Arial"/>
              <a:buNone/>
            </a:pPr>
            <a:r>
              <a:rPr lang="en" sz="1733" dirty="0">
                <a:solidFill>
                  <a:srgbClr val="475569"/>
                </a:solidFill>
                <a:latin typeface="Aptos"/>
              </a:rPr>
              <a:t>Result: No missing values were detected in any of the analyzed fields.</a:t>
            </a:r>
            <a:endParaRPr sz="1733" dirty="0">
              <a:solidFill>
                <a:schemeClr val="dk1"/>
              </a:solidFill>
            </a:endParaRPr>
          </a:p>
          <a:p>
            <a:pPr marL="0" lvl="0" indent="0" algn="ctr" rtl="0">
              <a:lnSpc>
                <a:spcPct val="100000"/>
              </a:lnSpc>
              <a:spcBef>
                <a:spcPts val="1600"/>
              </a:spcBef>
              <a:spcAft>
                <a:spcPts val="0"/>
              </a:spcAft>
              <a:buSzPts val="17067"/>
              <a:buNone/>
            </a:pPr>
            <a:endParaRPr sz="1733" dirty="0">
              <a:solidFill>
                <a:schemeClr val="dk1"/>
              </a:solidFill>
              <a:latin typeface="Hepta Slab Medium"/>
              <a:ea typeface="Hepta Slab Medium"/>
              <a:cs typeface="Hepta Slab Medium"/>
              <a:sym typeface="Hepta Slab Medium"/>
            </a:endParaRPr>
          </a:p>
        </p:txBody>
      </p:sp>
      <p:graphicFrame>
        <p:nvGraphicFramePr>
          <p:cNvPr id="394" name="Google Shape;394;p5"/>
          <p:cNvGraphicFramePr/>
          <p:nvPr>
            <p:extLst>
              <p:ext uri="{D42A27DB-BD31-4B8C-83A1-F6EECF244321}">
                <p14:modId xmlns:p14="http://schemas.microsoft.com/office/powerpoint/2010/main" val="2271780007"/>
              </p:ext>
            </p:extLst>
          </p:nvPr>
        </p:nvGraphicFramePr>
        <p:xfrm>
          <a:off x="2812033" y="3080033"/>
          <a:ext cx="6580300" cy="2202099"/>
        </p:xfrm>
        <a:graphic>
          <a:graphicData uri="http://schemas.openxmlformats.org/drawingml/2006/table">
            <a:tbl>
              <a:tblPr>
                <a:noFill/>
                <a:tableStyleId>{194AD23E-C4EC-43F6-968E-5AFA409B75AE}</a:tableStyleId>
              </a:tblPr>
              <a:tblGrid>
                <a:gridCol w="2095400">
                  <a:extLst>
                    <a:ext uri="{9D8B030D-6E8A-4147-A177-3AD203B41FA5}">
                      <a16:colId xmlns:a16="http://schemas.microsoft.com/office/drawing/2014/main" val="20000"/>
                    </a:ext>
                  </a:extLst>
                </a:gridCol>
                <a:gridCol w="2793867">
                  <a:extLst>
                    <a:ext uri="{9D8B030D-6E8A-4147-A177-3AD203B41FA5}">
                      <a16:colId xmlns:a16="http://schemas.microsoft.com/office/drawing/2014/main" val="20001"/>
                    </a:ext>
                  </a:extLst>
                </a:gridCol>
                <a:gridCol w="1691033">
                  <a:extLst>
                    <a:ext uri="{9D8B030D-6E8A-4147-A177-3AD203B41FA5}">
                      <a16:colId xmlns:a16="http://schemas.microsoft.com/office/drawing/2014/main" val="20002"/>
                    </a:ext>
                  </a:extLst>
                </a:gridCol>
              </a:tblGrid>
              <a:tr h="481400">
                <a:tc>
                  <a:txBody>
                    <a:bodyPr/>
                    <a:lstStyle/>
                    <a:p>
                      <a:pPr marL="0" marR="0" lvl="0" indent="0" algn="ctr" rtl="0">
                        <a:lnSpc>
                          <a:spcPct val="115000"/>
                        </a:lnSpc>
                        <a:spcBef>
                          <a:spcPts val="0"/>
                        </a:spcBef>
                        <a:spcAft>
                          <a:spcPts val="0"/>
                        </a:spcAft>
                        <a:buClr>
                          <a:srgbClr val="000000"/>
                        </a:buClr>
                        <a:buSzPts val="1467"/>
                        <a:buFont typeface="Arial"/>
                        <a:buNone/>
                      </a:pPr>
                      <a:r>
                        <a:rPr lang="en" sz="1733" b="1" u="none" strike="noStrike" cap="none" dirty="0">
                          <a:solidFill>
                            <a:srgbClr val="12375C"/>
                          </a:solidFill>
                          <a:latin typeface="Aptos"/>
                        </a:rPr>
                        <a:t>Column</a:t>
                      </a:r>
                      <a:endParaRPr sz="1733" b="1"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lumMod val="40000"/>
                        <a:lumOff val="60000"/>
                      </a:schemeClr>
                    </a:solidFill>
                  </a:tcPr>
                </a:tc>
                <a:tc>
                  <a:txBody>
                    <a:bodyPr/>
                    <a:lstStyle/>
                    <a:p>
                      <a:pPr marL="0" marR="0" lvl="0" indent="0" algn="ctr" rtl="0">
                        <a:lnSpc>
                          <a:spcPct val="115000"/>
                        </a:lnSpc>
                        <a:spcBef>
                          <a:spcPts val="0"/>
                        </a:spcBef>
                        <a:spcAft>
                          <a:spcPts val="0"/>
                        </a:spcAft>
                        <a:buClr>
                          <a:srgbClr val="000000"/>
                        </a:buClr>
                        <a:buSzPts val="1467"/>
                        <a:buFont typeface="Arial"/>
                        <a:buNone/>
                      </a:pPr>
                      <a:r>
                        <a:rPr lang="en" sz="1733" b="1" u="none" strike="noStrike" cap="none" dirty="0">
                          <a:solidFill>
                            <a:srgbClr val="12375C"/>
                          </a:solidFill>
                          <a:latin typeface="Aptos"/>
                        </a:rPr>
                        <a:t>Issue</a:t>
                      </a:r>
                      <a:endParaRPr sz="1733" b="1"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lumMod val="40000"/>
                        <a:lumOff val="60000"/>
                      </a:schemeClr>
                    </a:solidFill>
                  </a:tcPr>
                </a:tc>
                <a:tc>
                  <a:txBody>
                    <a:bodyPr/>
                    <a:lstStyle/>
                    <a:p>
                      <a:pPr marL="0" marR="0" lvl="0" indent="0" algn="ctr" rtl="0">
                        <a:lnSpc>
                          <a:spcPct val="115000"/>
                        </a:lnSpc>
                        <a:spcBef>
                          <a:spcPts val="0"/>
                        </a:spcBef>
                        <a:spcAft>
                          <a:spcPts val="0"/>
                        </a:spcAft>
                        <a:buClr>
                          <a:srgbClr val="000000"/>
                        </a:buClr>
                        <a:buSzPts val="1467"/>
                        <a:buFont typeface="Arial"/>
                        <a:buNone/>
                      </a:pPr>
                      <a:r>
                        <a:rPr lang="en" sz="1733" b="1" u="none" strike="noStrike" cap="none" dirty="0">
                          <a:solidFill>
                            <a:srgbClr val="12375C"/>
                          </a:solidFill>
                          <a:latin typeface="Aptos"/>
                        </a:rPr>
                        <a:t>Count</a:t>
                      </a:r>
                      <a:endParaRPr sz="1733" b="1"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chemeClr val="accent1">
                        <a:lumMod val="40000"/>
                        <a:lumOff val="60000"/>
                      </a:schemeClr>
                    </a:solidFill>
                  </a:tcPr>
                </a:tc>
                <a:extLst>
                  <a:ext uri="{0D108BD9-81ED-4DB2-BD59-A6C34878D82A}">
                    <a16:rowId xmlns:a16="http://schemas.microsoft.com/office/drawing/2014/main" val="10000"/>
                  </a:ext>
                </a:extLst>
              </a:tr>
              <a:tr h="513933">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dirty="0">
                          <a:solidFill>
                            <a:srgbClr val="12375C"/>
                          </a:solidFill>
                          <a:latin typeface="Aptos"/>
                        </a:rPr>
                        <a:t>Severity</a:t>
                      </a:r>
                      <a:endParaRPr sz="1733"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a:solidFill>
                            <a:srgbClr val="12375C"/>
                          </a:solidFill>
                          <a:latin typeface="Aptos"/>
                        </a:rPr>
                        <a:t>Unclasified</a:t>
                      </a:r>
                      <a:endParaRPr sz="1733" u="none" strike="noStrike" cap="none">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a:solidFill>
                            <a:srgbClr val="12375C"/>
                          </a:solidFill>
                          <a:latin typeface="Aptos"/>
                        </a:rPr>
                        <a:t>356</a:t>
                      </a:r>
                      <a:endParaRPr sz="1733" u="none" strike="noStrike" cap="none">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13933">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dirty="0">
                          <a:solidFill>
                            <a:srgbClr val="12375C"/>
                          </a:solidFill>
                          <a:latin typeface="Aptos"/>
                        </a:rPr>
                        <a:t>Severity</a:t>
                      </a:r>
                      <a:endParaRPr sz="1733"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a:solidFill>
                            <a:srgbClr val="12375C"/>
                          </a:solidFill>
                          <a:latin typeface="Aptos"/>
                        </a:rPr>
                        <a:t>Mayor</a:t>
                      </a:r>
                      <a:endParaRPr sz="1733" u="none" strike="noStrike" cap="none">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a:solidFill>
                            <a:srgbClr val="12375C"/>
                          </a:solidFill>
                          <a:latin typeface="Aptos"/>
                        </a:rPr>
                        <a:t>6,228</a:t>
                      </a:r>
                      <a:endParaRPr sz="1733" u="none" strike="noStrike" cap="none">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92833">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dirty="0">
                          <a:solidFill>
                            <a:srgbClr val="12375C"/>
                          </a:solidFill>
                          <a:latin typeface="Aptos"/>
                        </a:rPr>
                        <a:t>Priority</a:t>
                      </a:r>
                      <a:endParaRPr sz="1733"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a:solidFill>
                            <a:srgbClr val="12375C"/>
                          </a:solidFill>
                          <a:latin typeface="Aptos"/>
                        </a:rPr>
                        <a:t>Unassiged</a:t>
                      </a:r>
                      <a:endParaRPr sz="1733" u="none" strike="noStrike" cap="none">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867"/>
                        <a:buFont typeface="Arial"/>
                        <a:buNone/>
                      </a:pPr>
                      <a:r>
                        <a:rPr lang="en" sz="1733" b="0" u="none" strike="noStrike" cap="none" dirty="0">
                          <a:solidFill>
                            <a:srgbClr val="12375C"/>
                          </a:solidFill>
                          <a:latin typeface="Aptos"/>
                        </a:rPr>
                        <a:t>29,410</a:t>
                      </a:r>
                      <a:endParaRPr sz="1733" u="none" strike="noStrike" cap="none" dirty="0">
                        <a:solidFill>
                          <a:schemeClr val="dk1"/>
                        </a:solidFill>
                      </a:endParaRPr>
                    </a:p>
                  </a:txBody>
                  <a:tcPr marL="121900" marR="121900" marT="91425" marB="91425">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395" name="Google Shape;395;p5"/>
          <p:cNvSpPr txBox="1"/>
          <p:nvPr/>
        </p:nvSpPr>
        <p:spPr>
          <a:xfrm>
            <a:off x="2849200" y="2562667"/>
            <a:ext cx="6493600" cy="5628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1600"/>
              </a:spcBef>
              <a:spcAft>
                <a:spcPts val="1600"/>
              </a:spcAft>
              <a:buClr>
                <a:srgbClr val="000000"/>
              </a:buClr>
              <a:buSzPts val="1867"/>
              <a:buFont typeface="Arial"/>
              <a:buNone/>
            </a:pPr>
            <a:r>
              <a:rPr lang="en" sz="1733" b="0" i="0" u="none" strike="noStrike" cap="none" dirty="0">
                <a:solidFill>
                  <a:srgbClr val="475569"/>
                </a:solidFill>
                <a:latin typeface="Aptos"/>
                <a:ea typeface="Hepta Slab Medium"/>
                <a:cs typeface="Hepta Slab Medium"/>
                <a:sym typeface="Hepta Slab Medium"/>
              </a:rPr>
              <a:t>The following inconsistencies were identified</a:t>
            </a:r>
            <a:r>
              <a:rPr lang="en" sz="1867" b="0" i="0" u="none" strike="noStrike" cap="none" dirty="0">
                <a:solidFill>
                  <a:srgbClr val="475569"/>
                </a:solidFill>
                <a:latin typeface="Aptos"/>
                <a:ea typeface="Hepta Slab Medium"/>
                <a:cs typeface="Hepta Slab Medium"/>
                <a:sym typeface="Hepta Slab Medium"/>
              </a:rPr>
              <a:t>:</a:t>
            </a:r>
            <a:endParaRPr sz="1867" b="0" i="0" u="none" strike="noStrike" cap="none" dirty="0">
              <a:solidFill>
                <a:schemeClr val="dk1"/>
              </a:solidFill>
              <a:latin typeface="Hepta Slab Medium"/>
              <a:ea typeface="Hepta Slab Medium"/>
              <a:cs typeface="Hepta Slab Medium"/>
              <a:sym typeface="Hepta Slab Medium"/>
            </a:endParaRPr>
          </a:p>
        </p:txBody>
      </p:sp>
      <p:sp>
        <p:nvSpPr>
          <p:cNvPr id="397" name="Rectangle 396"/>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0"/>
        <p:cNvGrpSpPr/>
        <p:nvPr/>
      </p:nvGrpSpPr>
      <p:grpSpPr>
        <a:xfrm>
          <a:off x="0" y="0"/>
          <a:ext cx="0" cy="0"/>
          <a:chOff x="0" y="0"/>
          <a:chExt cx="0" cy="0"/>
        </a:xfrm>
      </p:grpSpPr>
      <p:sp>
        <p:nvSpPr>
          <p:cNvPr id="401" name="Google Shape;401;p6"/>
          <p:cNvSpPr txBox="1">
            <a:spLocks noGrp="1"/>
          </p:cNvSpPr>
          <p:nvPr>
            <p:ph type="subTitle" idx="1"/>
          </p:nvPr>
        </p:nvSpPr>
        <p:spPr>
          <a:xfrm>
            <a:off x="6343193" y="334435"/>
            <a:ext cx="4789600" cy="781544"/>
          </a:xfrm>
          <a:prstGeom prst="rect">
            <a:avLst/>
          </a:prstGeom>
          <a:solidFill>
            <a:schemeClr val="accent1">
              <a:lumMod val="40000"/>
              <a:lumOff val="60000"/>
            </a:schemeClr>
          </a:solid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67"/>
              <a:buNone/>
            </a:pPr>
            <a:r>
              <a:rPr lang="en" sz="4000" dirty="0">
                <a:solidFill>
                  <a:srgbClr val="12375C"/>
                </a:solidFill>
                <a:latin typeface="Aptos"/>
              </a:rPr>
              <a:t>ACTION TAKEN</a:t>
            </a:r>
            <a:endParaRPr sz="4000" dirty="0">
              <a:solidFill>
                <a:srgbClr val="FF0000"/>
              </a:solidFill>
            </a:endParaRPr>
          </a:p>
          <a:p>
            <a:pPr marL="0" lvl="0" indent="0" algn="l" rtl="0">
              <a:lnSpc>
                <a:spcPct val="100000"/>
              </a:lnSpc>
              <a:spcBef>
                <a:spcPts val="0"/>
              </a:spcBef>
              <a:spcAft>
                <a:spcPts val="0"/>
              </a:spcAft>
              <a:buSzPts val="1867"/>
              <a:buNone/>
            </a:pPr>
            <a:endParaRPr sz="2133" dirty="0">
              <a:solidFill>
                <a:schemeClr val="dk1"/>
              </a:solidFill>
            </a:endParaRPr>
          </a:p>
        </p:txBody>
      </p:sp>
      <p:sp>
        <p:nvSpPr>
          <p:cNvPr id="402" name="Google Shape;402;p6"/>
          <p:cNvSpPr txBox="1">
            <a:spLocks noGrp="1"/>
          </p:cNvSpPr>
          <p:nvPr>
            <p:ph type="body" idx="2"/>
          </p:nvPr>
        </p:nvSpPr>
        <p:spPr>
          <a:xfrm>
            <a:off x="0" y="623884"/>
            <a:ext cx="12192000" cy="80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Clr>
                <a:schemeClr val="lt1"/>
              </a:buClr>
              <a:buSzPts val="1467"/>
              <a:buFont typeface="Arial"/>
              <a:buNone/>
            </a:pPr>
            <a:r>
              <a:rPr lang="en" sz="1600" b="1" u="sng" dirty="0">
                <a:solidFill>
                  <a:srgbClr val="475569"/>
                </a:solidFill>
                <a:latin typeface="Aptos"/>
                <a:ea typeface="Hepta Slab Medium"/>
                <a:cs typeface="Hepta Slab Medium"/>
                <a:sym typeface="Hepta Slab Medium"/>
              </a:rPr>
              <a:t>Data Preparation &amp; Cleanin</a:t>
            </a:r>
            <a:r>
              <a:rPr lang="en" sz="1600" b="1" dirty="0">
                <a:solidFill>
                  <a:srgbClr val="475569"/>
                </a:solidFill>
                <a:latin typeface="Aptos"/>
                <a:ea typeface="Hepta Slab Medium"/>
                <a:cs typeface="Hepta Slab Medium"/>
                <a:sym typeface="Hepta Slab Medium"/>
              </a:rPr>
              <a:t>g :</a:t>
            </a:r>
            <a:br>
              <a:rPr lang="en" dirty="0">
                <a:solidFill>
                  <a:schemeClr val="dk1"/>
                </a:solidFill>
                <a:latin typeface="Hepta Slab Medium"/>
                <a:ea typeface="Hepta Slab Medium"/>
                <a:cs typeface="Hepta Slab Medium"/>
                <a:sym typeface="Hepta Slab Medium"/>
              </a:rPr>
            </a:br>
            <a:r>
              <a:rPr lang="en" sz="1733" dirty="0">
                <a:solidFill>
                  <a:srgbClr val="475569"/>
                </a:solidFill>
                <a:latin typeface="Aptos"/>
                <a:ea typeface="Hepta Slab Medium"/>
                <a:cs typeface="Hepta Slab Medium"/>
                <a:sym typeface="Hepta Slab Medium"/>
              </a:rPr>
              <a:t>To ensure reliable analysis and accurate reporting, the identified data inconsistencies were corrected before performing calculations, visualizations, and dashboard development.</a:t>
            </a:r>
            <a:endParaRPr sz="1733" dirty="0">
              <a:solidFill>
                <a:schemeClr val="dk1"/>
              </a:solidFill>
              <a:latin typeface="Hepta Slab Medium"/>
              <a:ea typeface="Hepta Slab Medium"/>
              <a:cs typeface="Hepta Slab Medium"/>
              <a:sym typeface="Hepta Slab Medium"/>
            </a:endParaRPr>
          </a:p>
          <a:p>
            <a:pPr marL="0" lvl="0" indent="0" algn="ctr" rtl="0">
              <a:lnSpc>
                <a:spcPct val="100000"/>
              </a:lnSpc>
              <a:spcBef>
                <a:spcPts val="1600"/>
              </a:spcBef>
              <a:spcAft>
                <a:spcPts val="0"/>
              </a:spcAft>
              <a:buSzPts val="1467"/>
              <a:buNone/>
            </a:pPr>
            <a:endParaRPr sz="1200" dirty="0">
              <a:solidFill>
                <a:schemeClr val="dk1"/>
              </a:solidFill>
            </a:endParaRPr>
          </a:p>
        </p:txBody>
      </p:sp>
      <p:sp>
        <p:nvSpPr>
          <p:cNvPr id="407" name="Google Shape;407;p6"/>
          <p:cNvSpPr txBox="1">
            <a:spLocks noGrp="1"/>
          </p:cNvSpPr>
          <p:nvPr>
            <p:ph type="sldNum" idx="12"/>
          </p:nvPr>
        </p:nvSpPr>
        <p:spPr>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467"/>
              <a:buNone/>
            </a:pPr>
            <a:fld id="{00000000-1234-1234-1234-123412341234}" type="slidenum">
              <a:rPr lang="en"/>
              <a:t>6</a:t>
            </a:fld>
            <a:endParaRPr/>
          </a:p>
        </p:txBody>
      </p:sp>
      <p:sp>
        <p:nvSpPr>
          <p:cNvPr id="409" name="Google Shape;409;p6"/>
          <p:cNvSpPr txBox="1">
            <a:spLocks noGrp="1"/>
          </p:cNvSpPr>
          <p:nvPr>
            <p:ph type="title" idx="4294967295"/>
          </p:nvPr>
        </p:nvSpPr>
        <p:spPr>
          <a:xfrm>
            <a:off x="0" y="0"/>
            <a:ext cx="8058151" cy="41275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800"/>
              <a:buNone/>
            </a:pPr>
            <a:r>
              <a:rPr lang="en" sz="1733" i="1" dirty="0">
                <a:solidFill>
                  <a:schemeClr val="accent4">
                    <a:lumMod val="75000"/>
                  </a:schemeClr>
                </a:solidFill>
                <a:latin typeface="Aptos"/>
              </a:rPr>
              <a:t>"</a:t>
            </a:r>
            <a:r>
              <a:rPr lang="en" sz="2133" i="1" dirty="0">
                <a:solidFill>
                  <a:schemeClr val="accent4"/>
                </a:solidFill>
                <a:latin typeface="Aptos"/>
              </a:rPr>
              <a:t>How did we prepare the data for reliable analysis?"</a:t>
            </a:r>
            <a:endParaRPr sz="2133" i="1" dirty="0">
              <a:solidFill>
                <a:schemeClr val="accent4"/>
              </a:solidFill>
            </a:endParaRPr>
          </a:p>
        </p:txBody>
      </p:sp>
      <p:sp>
        <p:nvSpPr>
          <p:cNvPr id="408" name="Google Shape;408;p6"/>
          <p:cNvSpPr txBox="1">
            <a:spLocks noGrp="1"/>
          </p:cNvSpPr>
          <p:nvPr>
            <p:ph type="body" idx="4294967295"/>
          </p:nvPr>
        </p:nvSpPr>
        <p:spPr>
          <a:xfrm>
            <a:off x="0" y="5477933"/>
            <a:ext cx="11762317" cy="819949"/>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600"/>
              </a:spcBef>
              <a:spcAft>
                <a:spcPts val="0"/>
              </a:spcAft>
              <a:buClr>
                <a:schemeClr val="lt1"/>
              </a:buClr>
              <a:buSzPts val="1467"/>
              <a:buFont typeface="Arial"/>
              <a:buNone/>
            </a:pPr>
            <a:endParaRPr b="1" dirty="0">
              <a:latin typeface="Hepta Slab"/>
              <a:ea typeface="Hepta Slab"/>
              <a:cs typeface="Hepta Slab"/>
              <a:sym typeface="Hepta Slab"/>
            </a:endParaRPr>
          </a:p>
          <a:p>
            <a:pPr marL="0" lvl="0" indent="0" algn="ctr" rtl="0">
              <a:lnSpc>
                <a:spcPct val="115000"/>
              </a:lnSpc>
              <a:spcBef>
                <a:spcPts val="1600"/>
              </a:spcBef>
              <a:spcAft>
                <a:spcPts val="0"/>
              </a:spcAft>
              <a:buClr>
                <a:schemeClr val="lt1"/>
              </a:buClr>
              <a:buSzPts val="1467"/>
              <a:buFont typeface="Arial"/>
              <a:buNone/>
            </a:pPr>
            <a:r>
              <a:rPr lang="en" sz="1867" b="1" dirty="0">
                <a:solidFill>
                  <a:srgbClr val="475569"/>
                </a:solidFill>
                <a:latin typeface="Aptos"/>
                <a:ea typeface="Hepta Slab"/>
                <a:cs typeface="Hepta Slab"/>
                <a:sym typeface="Hepta Slab"/>
              </a:rPr>
              <a:t>Key Insight: </a:t>
            </a:r>
            <a:r>
              <a:rPr lang="en" sz="1867" dirty="0">
                <a:solidFill>
                  <a:srgbClr val="475569"/>
                </a:solidFill>
                <a:latin typeface="Aptos"/>
                <a:ea typeface="Hepta Slab Medium"/>
                <a:cs typeface="Hepta Slab Medium"/>
                <a:sym typeface="Hepta Slab Medium"/>
              </a:rPr>
              <a:t>The cleaned dataset provided a consistent foundation for all subsequent analysis, ensuring that business insights and recommendations were based on accurate data.</a:t>
            </a:r>
            <a:endParaRPr sz="1867" dirty="0">
              <a:solidFill>
                <a:schemeClr val="dk1"/>
              </a:solidFill>
              <a:latin typeface="Hepta Slab Medium"/>
              <a:ea typeface="Hepta Slab Medium"/>
              <a:cs typeface="Hepta Slab Medium"/>
              <a:sym typeface="Hepta Slab Medium"/>
            </a:endParaRPr>
          </a:p>
          <a:p>
            <a:pPr marL="0" lvl="0" indent="0" algn="ctr" rtl="0">
              <a:lnSpc>
                <a:spcPct val="100000"/>
              </a:lnSpc>
              <a:spcBef>
                <a:spcPts val="1600"/>
              </a:spcBef>
              <a:spcAft>
                <a:spcPts val="0"/>
              </a:spcAft>
              <a:buSzPts val="1467"/>
              <a:buNone/>
            </a:pPr>
            <a:endParaRPr sz="1200" dirty="0">
              <a:solidFill>
                <a:schemeClr val="dk1"/>
              </a:solidFill>
            </a:endParaRPr>
          </a:p>
        </p:txBody>
      </p:sp>
      <p:sp>
        <p:nvSpPr>
          <p:cNvPr id="403" name="Google Shape;403;p6"/>
          <p:cNvSpPr txBox="1"/>
          <p:nvPr/>
        </p:nvSpPr>
        <p:spPr>
          <a:xfrm>
            <a:off x="6098593" y="2646100"/>
            <a:ext cx="5278800" cy="461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475569"/>
                </a:solidFill>
                <a:latin typeface="Aptos"/>
                <a:ea typeface="Hepta Slab Medium"/>
                <a:cs typeface="Hepta Slab Medium"/>
                <a:sym typeface="Hepta Slab Medium"/>
              </a:rPr>
              <a:t>✅ </a:t>
            </a:r>
            <a:r>
              <a:rPr lang="en" sz="1733" b="0" i="0" u="none" strike="noStrike" cap="none" dirty="0">
                <a:solidFill>
                  <a:srgbClr val="475569"/>
                </a:solidFill>
                <a:latin typeface="Aptos"/>
                <a:ea typeface="Hepta Slab Medium"/>
                <a:cs typeface="Hepta Slab Medium"/>
                <a:sym typeface="Hepta Slab Medium"/>
              </a:rPr>
              <a:t>Corrected spelling inconsistencies in Severity and Priority fields.</a:t>
            </a:r>
            <a:endParaRPr sz="1733"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0"/>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404" name="Google Shape;404;p6"/>
          <p:cNvSpPr txBox="1"/>
          <p:nvPr/>
        </p:nvSpPr>
        <p:spPr>
          <a:xfrm>
            <a:off x="5725493" y="4536221"/>
            <a:ext cx="5278800" cy="461600"/>
          </a:xfrm>
          <a:prstGeom prst="rect">
            <a:avLst/>
          </a:prstGeom>
          <a:noFill/>
          <a:ln>
            <a:noFill/>
          </a:ln>
        </p:spPr>
        <p:txBody>
          <a:bodyPr spcFirstLastPara="1" wrap="square" lIns="0" tIns="0" rIns="0" bIns="0" anchor="t" anchorCtr="0">
            <a:noAutofit/>
          </a:bodyPr>
          <a:lstStyle/>
          <a:p>
            <a:pPr marL="0" marR="0" lvl="0" indent="0" algn="ctr" rtl="0">
              <a:lnSpc>
                <a:spcPct val="115000"/>
              </a:lnSpc>
              <a:spcBef>
                <a:spcPts val="1600"/>
              </a:spcBef>
              <a:spcAft>
                <a:spcPts val="0"/>
              </a:spcAft>
              <a:buClr>
                <a:srgbClr val="000000"/>
              </a:buClr>
              <a:buSzPts val="2000"/>
              <a:buFont typeface="Arial"/>
              <a:buNone/>
            </a:pPr>
            <a:r>
              <a:rPr lang="en" sz="2000" b="0" i="0" u="none" strike="noStrike" cap="none" dirty="0">
                <a:solidFill>
                  <a:srgbClr val="475569"/>
                </a:solidFill>
                <a:latin typeface="Aptos"/>
                <a:ea typeface="Hepta Slab Medium"/>
                <a:cs typeface="Hepta Slab Medium"/>
                <a:sym typeface="Hepta Slab Medium"/>
              </a:rPr>
              <a:t>✅</a:t>
            </a:r>
            <a:r>
              <a:rPr lang="en" sz="1733" b="0" i="0" u="none" strike="noStrike" cap="none" dirty="0">
                <a:solidFill>
                  <a:srgbClr val="475569"/>
                </a:solidFill>
                <a:latin typeface="Aptos"/>
                <a:ea typeface="Hepta Slab Medium"/>
                <a:cs typeface="Hepta Slab Medium"/>
                <a:sym typeface="Hepta Slab Medium"/>
              </a:rPr>
              <a:t> Prepared the dataset for accurate analysis, reporting, and dashboard creation.</a:t>
            </a:r>
            <a:endParaRPr sz="1733"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1600"/>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405" name="Google Shape;405;p6"/>
          <p:cNvSpPr txBox="1"/>
          <p:nvPr/>
        </p:nvSpPr>
        <p:spPr>
          <a:xfrm>
            <a:off x="440800" y="2637800"/>
            <a:ext cx="5278800" cy="329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475569"/>
                </a:solidFill>
                <a:latin typeface="Aptos"/>
                <a:ea typeface="Hepta Slab Medium"/>
                <a:cs typeface="Hepta Slab Medium"/>
                <a:sym typeface="Hepta Slab Medium"/>
              </a:rPr>
              <a:t>✅ </a:t>
            </a:r>
            <a:r>
              <a:rPr lang="en" sz="1733" b="0" i="0" u="none" strike="noStrike" cap="none" dirty="0">
                <a:solidFill>
                  <a:srgbClr val="475569"/>
                </a:solidFill>
                <a:latin typeface="Aptos"/>
                <a:ea typeface="Hepta Slab Medium"/>
                <a:cs typeface="Hepta Slab Medium"/>
                <a:sym typeface="Hepta Slab Medium"/>
              </a:rPr>
              <a:t>Standardized category names to maintain consistency across records.</a:t>
            </a:r>
            <a:endParaRPr sz="1733"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0"/>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406" name="Google Shape;406;p6"/>
          <p:cNvSpPr txBox="1"/>
          <p:nvPr/>
        </p:nvSpPr>
        <p:spPr>
          <a:xfrm>
            <a:off x="440800" y="4754767"/>
            <a:ext cx="5278800" cy="4616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dirty="0">
                <a:solidFill>
                  <a:srgbClr val="475569"/>
                </a:solidFill>
                <a:latin typeface="Aptos"/>
                <a:ea typeface="Hepta Slab Medium"/>
                <a:cs typeface="Hepta Slab Medium"/>
                <a:sym typeface="Hepta Slab Medium"/>
              </a:rPr>
              <a:t>✅ </a:t>
            </a:r>
            <a:r>
              <a:rPr lang="en" sz="1733" b="0" i="0" u="none" strike="noStrike" cap="none" dirty="0">
                <a:solidFill>
                  <a:srgbClr val="475569"/>
                </a:solidFill>
                <a:latin typeface="Aptos"/>
                <a:ea typeface="Hepta Slab Medium"/>
                <a:cs typeface="Hepta Slab Medium"/>
                <a:sym typeface="Hepta Slab Medium"/>
              </a:rPr>
              <a:t>Validated and cleaned categorical data used in pivot tables and charts.</a:t>
            </a:r>
            <a:endParaRPr sz="1733" b="0" i="0" u="none" strike="noStrike" cap="none" dirty="0">
              <a:solidFill>
                <a:schemeClr val="dk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0"/>
              </a:spcAft>
              <a:buClr>
                <a:srgbClr val="000000"/>
              </a:buClr>
              <a:buSzPts val="2000"/>
              <a:buFont typeface="Arial"/>
              <a:buNone/>
            </a:pPr>
            <a:endParaRPr sz="2000" b="0" i="0" u="none" strike="noStrike" cap="none" dirty="0">
              <a:solidFill>
                <a:schemeClr val="dk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dk1"/>
              </a:solidFill>
              <a:latin typeface="Hepta Slab Medium"/>
              <a:ea typeface="Hepta Slab Medium"/>
              <a:cs typeface="Hepta Slab Medium"/>
              <a:sym typeface="Hepta Slab Medium"/>
            </a:endParaRPr>
          </a:p>
        </p:txBody>
      </p:sp>
      <p:sp>
        <p:nvSpPr>
          <p:cNvPr id="410" name="Rectangle 409"/>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3"/>
        <p:cNvGrpSpPr/>
        <p:nvPr/>
      </p:nvGrpSpPr>
      <p:grpSpPr>
        <a:xfrm>
          <a:off x="0" y="0"/>
          <a:ext cx="0" cy="0"/>
          <a:chOff x="0" y="0"/>
          <a:chExt cx="0" cy="0"/>
        </a:xfrm>
      </p:grpSpPr>
      <p:sp>
        <p:nvSpPr>
          <p:cNvPr id="414" name="Google Shape;414;p7"/>
          <p:cNvSpPr/>
          <p:nvPr/>
        </p:nvSpPr>
        <p:spPr>
          <a:xfrm>
            <a:off x="3690767" y="107000"/>
            <a:ext cx="8248400" cy="5908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F2F2F3"/>
              </a:buClr>
              <a:buSzPts val="3667"/>
              <a:buFont typeface="Poppins Light"/>
              <a:buNone/>
            </a:pPr>
            <a:r>
              <a:rPr lang="en" sz="4000" b="0" i="0" u="none" strike="noStrike" cap="none" dirty="0">
                <a:solidFill>
                  <a:srgbClr val="12375C"/>
                </a:solidFill>
                <a:latin typeface="Aptos"/>
                <a:ea typeface="Hepta Slab SemiBold"/>
                <a:cs typeface="Hepta Slab SemiBold"/>
                <a:sym typeface="Hepta Slab SemiBold"/>
              </a:rPr>
              <a:t>Methodology</a:t>
            </a:r>
            <a:br>
              <a:rPr lang="en" sz="1133" b="0" i="0" u="none" strike="noStrike" cap="none" dirty="0">
                <a:solidFill>
                  <a:srgbClr val="FF0000"/>
                </a:solidFill>
                <a:latin typeface="Hepta Slab SemiBold"/>
                <a:ea typeface="Hepta Slab SemiBold"/>
                <a:cs typeface="Hepta Slab SemiBold"/>
                <a:sym typeface="Hepta Slab SemiBold"/>
              </a:rPr>
            </a:br>
            <a:r>
              <a:rPr lang="en" sz="1600" b="0" i="0" u="none" strike="noStrike" cap="none" dirty="0">
                <a:solidFill>
                  <a:srgbClr val="475569"/>
                </a:solidFill>
                <a:latin typeface="Aptos"/>
                <a:ea typeface="Hepta Slab SemiBold"/>
                <a:cs typeface="Hepta Slab SemiBold"/>
                <a:sym typeface="Hepta Slab SemiBold"/>
              </a:rPr>
              <a:t>After cleaning and preparing the dataset, analytical techniques were applied to transform raw IT support data into meaningful business insights and support decision-making</a:t>
            </a:r>
            <a:r>
              <a:rPr lang="en" sz="1133" b="0" i="0" u="none" strike="noStrike" cap="none" dirty="0">
                <a:solidFill>
                  <a:srgbClr val="475569"/>
                </a:solidFill>
                <a:latin typeface="Aptos"/>
                <a:ea typeface="Hepta Slab SemiBold"/>
                <a:cs typeface="Hepta Slab SemiBold"/>
                <a:sym typeface="Hepta Slab SemiBold"/>
              </a:rPr>
              <a:t>.</a:t>
            </a:r>
            <a:endParaRPr sz="1133" b="0" i="0" u="none" strike="noStrike" cap="none" dirty="0">
              <a:solidFill>
                <a:srgbClr val="FF0000"/>
              </a:solidFill>
              <a:latin typeface="Hepta Slab SemiBold"/>
              <a:ea typeface="Hepta Slab SemiBold"/>
              <a:cs typeface="Hepta Slab SemiBold"/>
              <a:sym typeface="Hepta Slab SemiBold"/>
            </a:endParaRPr>
          </a:p>
        </p:txBody>
      </p:sp>
      <p:sp>
        <p:nvSpPr>
          <p:cNvPr id="415" name="Google Shape;415;p7"/>
          <p:cNvSpPr/>
          <p:nvPr/>
        </p:nvSpPr>
        <p:spPr>
          <a:xfrm>
            <a:off x="319400" y="1302300"/>
            <a:ext cx="5696000" cy="2525200"/>
          </a:xfrm>
          <a:prstGeom prst="roundRect">
            <a:avLst>
              <a:gd name="adj" fmla="val 4273"/>
            </a:avLst>
          </a:prstGeom>
          <a:solidFill>
            <a:schemeClr val="accent1">
              <a:lumMod val="40000"/>
              <a:lumOff val="60000"/>
            </a:schemeClr>
          </a:solidFill>
          <a:ln w="13533" cap="flat" cmpd="sng">
            <a:solidFill>
              <a:srgbClr val="CBD5E1"/>
            </a:solidFill>
            <a:prstDash val="solid"/>
            <a:round/>
            <a:headEnd type="none" w="sm" len="sm"/>
            <a:tailEnd type="none" w="sm" len="sm"/>
          </a:ln>
        </p:spPr>
        <p:txBody>
          <a:bodyPr spcFirstLastPara="1" wrap="square" lIns="97500" tIns="97500" rIns="97500" bIns="97500" anchor="ctr" anchorCtr="0">
            <a:noAutofit/>
          </a:bodyPr>
          <a:lstStyle/>
          <a:p>
            <a:pPr marL="0" marR="0" lvl="0" indent="0" algn="l" rtl="0">
              <a:lnSpc>
                <a:spcPct val="100000"/>
              </a:lnSpc>
              <a:spcBef>
                <a:spcPts val="0"/>
              </a:spcBef>
              <a:spcAft>
                <a:spcPts val="0"/>
              </a:spcAft>
              <a:buClr>
                <a:srgbClr val="000000"/>
              </a:buClr>
              <a:buSzPts val="1991"/>
              <a:buFont typeface="Arial"/>
              <a:buNone/>
            </a:pPr>
            <a:endParaRPr sz="1991" b="0" i="0" u="none" strike="noStrike" cap="none">
              <a:solidFill>
                <a:schemeClr val="accent4"/>
              </a:solidFill>
              <a:latin typeface="Arial"/>
              <a:ea typeface="Arial"/>
              <a:cs typeface="Arial"/>
              <a:sym typeface="Arial"/>
            </a:endParaRPr>
          </a:p>
        </p:txBody>
      </p:sp>
      <p:sp>
        <p:nvSpPr>
          <p:cNvPr id="416" name="Google Shape;416;p7"/>
          <p:cNvSpPr/>
          <p:nvPr/>
        </p:nvSpPr>
        <p:spPr>
          <a:xfrm>
            <a:off x="1699765" y="1370700"/>
            <a:ext cx="4106800" cy="3688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E5E0DF"/>
              </a:buClr>
              <a:buSzPts val="1920"/>
              <a:buFont typeface="Poppins Light"/>
              <a:buNone/>
            </a:pPr>
            <a:r>
              <a:rPr lang="en" sz="1920" b="1" i="0" u="none" strike="noStrike" cap="none" dirty="0">
                <a:solidFill>
                  <a:srgbClr val="475569"/>
                </a:solidFill>
                <a:latin typeface="Aptos"/>
                <a:ea typeface="Hepta Slab SemiBold"/>
                <a:cs typeface="Hepta Slab SemiBold"/>
                <a:sym typeface="Hepta Slab SemiBold"/>
              </a:rPr>
              <a:t>Data Preparation </a:t>
            </a:r>
            <a:endParaRPr sz="1920" b="1" i="0" u="none" strike="noStrike" cap="none" dirty="0">
              <a:solidFill>
                <a:srgbClr val="000000"/>
              </a:solidFill>
              <a:latin typeface="Hepta Slab SemiBold"/>
              <a:ea typeface="Hepta Slab SemiBold"/>
              <a:cs typeface="Hepta Slab SemiBold"/>
              <a:sym typeface="Hepta Slab SemiBold"/>
            </a:endParaRPr>
          </a:p>
        </p:txBody>
      </p:sp>
      <p:sp>
        <p:nvSpPr>
          <p:cNvPr id="417" name="Google Shape;417;p7"/>
          <p:cNvSpPr/>
          <p:nvPr/>
        </p:nvSpPr>
        <p:spPr>
          <a:xfrm>
            <a:off x="527767" y="1739499"/>
            <a:ext cx="5487600" cy="1988919"/>
          </a:xfrm>
          <a:prstGeom prst="rect">
            <a:avLst/>
          </a:prstGeom>
          <a:noFill/>
          <a:ln>
            <a:noFill/>
          </a:ln>
        </p:spPr>
        <p:txBody>
          <a:bodyPr spcFirstLastPara="1" wrap="square" lIns="0" tIns="0" rIns="0" bIns="0" anchor="t" anchorCtr="0">
            <a:noAutofit/>
          </a:bodyPr>
          <a:lstStyle/>
          <a:p>
            <a:pPr marL="609600" marR="0" lvl="0" indent="-387201" algn="l" rtl="0">
              <a:lnSpc>
                <a:spcPct val="115000"/>
              </a:lnSpc>
              <a:spcBef>
                <a:spcPts val="0"/>
              </a:spcBef>
              <a:spcAft>
                <a:spcPts val="0"/>
              </a:spcAft>
              <a:buClr>
                <a:schemeClr val="dk1"/>
              </a:buClr>
              <a:buSzPts val="1297"/>
              <a:buFont typeface="Hepta Slab"/>
              <a:buAutoNum type="arabicPeriod"/>
            </a:pPr>
            <a:r>
              <a:rPr lang="en" sz="1600" b="0" i="0" u="none" strike="noStrike" cap="none" dirty="0">
                <a:solidFill>
                  <a:srgbClr val="475569"/>
                </a:solidFill>
                <a:latin typeface="Aptos"/>
                <a:ea typeface="Hepta Slab"/>
                <a:cs typeface="Hepta Slab"/>
                <a:sym typeface="Hepta Slab"/>
              </a:rPr>
              <a:t>Validated data quality and corrected inconsistencies.</a:t>
            </a:r>
            <a:endParaRPr sz="1600" b="0" i="0" u="none" strike="noStrike" cap="none" dirty="0">
              <a:solidFill>
                <a:schemeClr val="dk1"/>
              </a:solidFill>
              <a:latin typeface="Hepta Slab"/>
              <a:ea typeface="Hepta Slab"/>
              <a:cs typeface="Hepta Slab"/>
              <a:sym typeface="Hepta Slab"/>
            </a:endParaRPr>
          </a:p>
          <a:p>
            <a:pPr marL="609600" marR="0" lvl="0" indent="-387201" algn="l" rtl="0">
              <a:lnSpc>
                <a:spcPct val="115000"/>
              </a:lnSpc>
              <a:spcBef>
                <a:spcPts val="0"/>
              </a:spcBef>
              <a:spcAft>
                <a:spcPts val="0"/>
              </a:spcAft>
              <a:buClr>
                <a:schemeClr val="dk1"/>
              </a:buClr>
              <a:buSzPts val="1297"/>
              <a:buFont typeface="Hepta Slab"/>
              <a:buAutoNum type="arabicPeriod"/>
            </a:pPr>
            <a:r>
              <a:rPr lang="en" sz="1600" b="0" i="0" u="none" strike="noStrike" cap="none" dirty="0">
                <a:solidFill>
                  <a:srgbClr val="475569"/>
                </a:solidFill>
                <a:latin typeface="Aptos"/>
                <a:ea typeface="Hepta Slab"/>
                <a:cs typeface="Hepta Slab"/>
                <a:sym typeface="Hepta Slab"/>
              </a:rPr>
              <a:t>Standardized categorical fields for accurate reporting.</a:t>
            </a:r>
            <a:endParaRPr sz="1600" b="0" i="0" u="none" strike="noStrike" cap="none" dirty="0">
              <a:solidFill>
                <a:schemeClr val="dk1"/>
              </a:solidFill>
              <a:latin typeface="Hepta Slab"/>
              <a:ea typeface="Hepta Slab"/>
              <a:cs typeface="Hepta Slab"/>
              <a:sym typeface="Hepta Slab"/>
            </a:endParaRPr>
          </a:p>
          <a:p>
            <a:pPr marL="609600" marR="0" lvl="0" indent="-387201" algn="l" rtl="0">
              <a:lnSpc>
                <a:spcPct val="115000"/>
              </a:lnSpc>
              <a:spcBef>
                <a:spcPts val="0"/>
              </a:spcBef>
              <a:spcAft>
                <a:spcPts val="0"/>
              </a:spcAft>
              <a:buClr>
                <a:schemeClr val="dk1"/>
              </a:buClr>
              <a:buSzPts val="1297"/>
              <a:buFont typeface="Hepta Slab"/>
              <a:buAutoNum type="arabicPeriod"/>
            </a:pPr>
            <a:r>
              <a:rPr lang="en" sz="1600" b="0" i="0" u="none" strike="noStrike" cap="none" dirty="0">
                <a:solidFill>
                  <a:srgbClr val="475569"/>
                </a:solidFill>
                <a:latin typeface="Aptos"/>
                <a:ea typeface="Hepta Slab"/>
                <a:cs typeface="Hepta Slab"/>
                <a:sym typeface="Hepta Slab"/>
              </a:rPr>
              <a:t>Enriched the dataset using lookup functions.</a:t>
            </a:r>
            <a:endParaRPr sz="1600" b="0" i="0" u="none" strike="noStrike" cap="none" dirty="0">
              <a:solidFill>
                <a:schemeClr val="dk1"/>
              </a:solidFill>
              <a:latin typeface="Hepta Slab"/>
              <a:ea typeface="Hepta Slab"/>
              <a:cs typeface="Hepta Slab"/>
              <a:sym typeface="Hepta Slab"/>
            </a:endParaRPr>
          </a:p>
          <a:p>
            <a:pPr marL="609600" marR="0" lvl="0" indent="-387201" algn="l" rtl="0">
              <a:lnSpc>
                <a:spcPct val="115000"/>
              </a:lnSpc>
              <a:spcBef>
                <a:spcPts val="0"/>
              </a:spcBef>
              <a:spcAft>
                <a:spcPts val="0"/>
              </a:spcAft>
              <a:buClr>
                <a:schemeClr val="dk1"/>
              </a:buClr>
              <a:buSzPts val="1297"/>
              <a:buFont typeface="Hepta Slab"/>
              <a:buAutoNum type="arabicPeriod"/>
            </a:pPr>
            <a:r>
              <a:rPr lang="en" sz="1600" b="0" i="0" u="none" strike="noStrike" cap="none" dirty="0">
                <a:solidFill>
                  <a:srgbClr val="475569"/>
                </a:solidFill>
                <a:latin typeface="Aptos"/>
                <a:ea typeface="Hepta Slab"/>
                <a:cs typeface="Hepta Slab"/>
                <a:sym typeface="Hepta Slab"/>
              </a:rPr>
              <a:t>Created helper columns to support analysis and trend tracking.</a:t>
            </a:r>
            <a:endParaRPr sz="1600" b="0" i="0" u="none" strike="noStrike" cap="none" dirty="0">
              <a:solidFill>
                <a:schemeClr val="dk1"/>
              </a:solidFill>
              <a:latin typeface="Hepta Slab"/>
              <a:ea typeface="Hepta Slab"/>
              <a:cs typeface="Hepta Slab"/>
              <a:sym typeface="Hepta Slab"/>
            </a:endParaRPr>
          </a:p>
          <a:p>
            <a:pPr marL="609600" marR="0" lvl="0" indent="-387201" algn="l" rtl="0">
              <a:lnSpc>
                <a:spcPct val="115000"/>
              </a:lnSpc>
              <a:spcBef>
                <a:spcPts val="0"/>
              </a:spcBef>
              <a:spcAft>
                <a:spcPts val="0"/>
              </a:spcAft>
              <a:buClr>
                <a:schemeClr val="dk1"/>
              </a:buClr>
              <a:buSzPts val="1297"/>
              <a:buFont typeface="Hepta Slab"/>
              <a:buAutoNum type="arabicPeriod"/>
            </a:pPr>
            <a:r>
              <a:rPr lang="en" sz="1600" b="0" i="0" u="none" strike="noStrike" cap="none" dirty="0">
                <a:solidFill>
                  <a:srgbClr val="475569"/>
                </a:solidFill>
                <a:latin typeface="Aptos"/>
                <a:ea typeface="Hepta Slab"/>
                <a:cs typeface="Hepta Slab"/>
                <a:sym typeface="Hepta Slab"/>
              </a:rPr>
              <a:t>Developed pivot tables and KPI calculations for reporting.</a:t>
            </a:r>
            <a:endParaRPr sz="1600" b="0" i="0" u="none" strike="noStrike" cap="none" dirty="0">
              <a:solidFill>
                <a:schemeClr val="dk1"/>
              </a:solidFill>
              <a:latin typeface="Hepta Slab"/>
              <a:ea typeface="Hepta Slab"/>
              <a:cs typeface="Hepta Slab"/>
              <a:sym typeface="Hepta Slab"/>
            </a:endParaRPr>
          </a:p>
        </p:txBody>
      </p:sp>
      <p:sp>
        <p:nvSpPr>
          <p:cNvPr id="418" name="Google Shape;418;p7"/>
          <p:cNvSpPr/>
          <p:nvPr/>
        </p:nvSpPr>
        <p:spPr>
          <a:xfrm>
            <a:off x="6243133" y="1289600"/>
            <a:ext cx="5696000" cy="2525200"/>
          </a:xfrm>
          <a:prstGeom prst="roundRect">
            <a:avLst>
              <a:gd name="adj" fmla="val 4273"/>
            </a:avLst>
          </a:prstGeom>
          <a:solidFill>
            <a:schemeClr val="accent4">
              <a:lumMod val="40000"/>
              <a:lumOff val="60000"/>
            </a:schemeClr>
          </a:solidFill>
          <a:ln w="13533" cap="flat" cmpd="sng">
            <a:solidFill>
              <a:srgbClr val="CBD5E1"/>
            </a:solidFill>
            <a:prstDash val="solid"/>
            <a:round/>
            <a:headEnd type="none" w="sm" len="sm"/>
            <a:tailEnd type="none" w="sm" len="sm"/>
          </a:ln>
        </p:spPr>
        <p:txBody>
          <a:bodyPr spcFirstLastPara="1" wrap="square" lIns="97500" tIns="97500" rIns="97500" bIns="97500" anchor="ctr" anchorCtr="0">
            <a:noAutofit/>
          </a:bodyPr>
          <a:lstStyle/>
          <a:p>
            <a:pPr marL="0" marR="0" lvl="0" indent="0" algn="l" rtl="0">
              <a:lnSpc>
                <a:spcPct val="100000"/>
              </a:lnSpc>
              <a:spcBef>
                <a:spcPts val="0"/>
              </a:spcBef>
              <a:spcAft>
                <a:spcPts val="0"/>
              </a:spcAft>
              <a:buClr>
                <a:srgbClr val="000000"/>
              </a:buClr>
              <a:buSzPts val="1991"/>
              <a:buFont typeface="Arial"/>
              <a:buNone/>
            </a:pPr>
            <a:endParaRPr sz="1991" b="0" i="0" u="none" strike="noStrike" cap="none">
              <a:solidFill>
                <a:srgbClr val="000000"/>
              </a:solidFill>
              <a:latin typeface="Arial"/>
              <a:ea typeface="Arial"/>
              <a:cs typeface="Arial"/>
              <a:sym typeface="Arial"/>
            </a:endParaRPr>
          </a:p>
        </p:txBody>
      </p:sp>
      <p:sp>
        <p:nvSpPr>
          <p:cNvPr id="419" name="Google Shape;419;p7"/>
          <p:cNvSpPr/>
          <p:nvPr/>
        </p:nvSpPr>
        <p:spPr>
          <a:xfrm>
            <a:off x="6243133" y="3942467"/>
            <a:ext cx="5696000" cy="2525200"/>
          </a:xfrm>
          <a:prstGeom prst="roundRect">
            <a:avLst>
              <a:gd name="adj" fmla="val 4273"/>
            </a:avLst>
          </a:prstGeom>
          <a:solidFill>
            <a:schemeClr val="accent1">
              <a:lumMod val="40000"/>
              <a:lumOff val="60000"/>
            </a:schemeClr>
          </a:solidFill>
          <a:ln w="13533" cap="flat" cmpd="sng">
            <a:solidFill>
              <a:srgbClr val="CBD5E1"/>
            </a:solidFill>
            <a:prstDash val="solid"/>
            <a:round/>
            <a:headEnd type="none" w="sm" len="sm"/>
            <a:tailEnd type="none" w="sm" len="sm"/>
          </a:ln>
        </p:spPr>
        <p:txBody>
          <a:bodyPr spcFirstLastPara="1" wrap="square" lIns="97500" tIns="97500" rIns="97500" bIns="97500" anchor="ctr" anchorCtr="0">
            <a:noAutofit/>
          </a:bodyPr>
          <a:lstStyle/>
          <a:p>
            <a:pPr marL="0" marR="0" lvl="0" indent="0" algn="l" rtl="0">
              <a:lnSpc>
                <a:spcPct val="100000"/>
              </a:lnSpc>
              <a:spcBef>
                <a:spcPts val="0"/>
              </a:spcBef>
              <a:spcAft>
                <a:spcPts val="0"/>
              </a:spcAft>
              <a:buClr>
                <a:srgbClr val="000000"/>
              </a:buClr>
              <a:buSzPts val="1991"/>
              <a:buFont typeface="Arial"/>
              <a:buNone/>
            </a:pPr>
            <a:endParaRPr sz="1991" b="0" i="0" u="none" strike="noStrike" cap="none">
              <a:solidFill>
                <a:srgbClr val="000000"/>
              </a:solidFill>
              <a:latin typeface="Arial"/>
              <a:ea typeface="Arial"/>
              <a:cs typeface="Arial"/>
              <a:sym typeface="Arial"/>
            </a:endParaRPr>
          </a:p>
        </p:txBody>
      </p:sp>
      <p:sp>
        <p:nvSpPr>
          <p:cNvPr id="420" name="Google Shape;420;p7"/>
          <p:cNvSpPr/>
          <p:nvPr/>
        </p:nvSpPr>
        <p:spPr>
          <a:xfrm>
            <a:off x="319400" y="3942467"/>
            <a:ext cx="5696000" cy="2525200"/>
          </a:xfrm>
          <a:prstGeom prst="roundRect">
            <a:avLst>
              <a:gd name="adj" fmla="val 4273"/>
            </a:avLst>
          </a:prstGeom>
          <a:solidFill>
            <a:schemeClr val="accent4">
              <a:lumMod val="40000"/>
              <a:lumOff val="60000"/>
            </a:schemeClr>
          </a:solidFill>
          <a:ln w="13533" cap="flat" cmpd="sng">
            <a:solidFill>
              <a:srgbClr val="CBD5E1"/>
            </a:solidFill>
            <a:prstDash val="solid"/>
            <a:round/>
            <a:headEnd type="none" w="sm" len="sm"/>
            <a:tailEnd type="none" w="sm" len="sm"/>
          </a:ln>
        </p:spPr>
        <p:txBody>
          <a:bodyPr spcFirstLastPara="1" wrap="square" lIns="97500" tIns="97500" rIns="97500" bIns="97500" anchor="ctr" anchorCtr="0">
            <a:noAutofit/>
          </a:bodyPr>
          <a:lstStyle/>
          <a:p>
            <a:pPr marL="0" marR="0" lvl="0" indent="0" algn="l" rtl="0">
              <a:lnSpc>
                <a:spcPct val="100000"/>
              </a:lnSpc>
              <a:spcBef>
                <a:spcPts val="0"/>
              </a:spcBef>
              <a:spcAft>
                <a:spcPts val="0"/>
              </a:spcAft>
              <a:buClr>
                <a:srgbClr val="000000"/>
              </a:buClr>
              <a:buSzPts val="1991"/>
              <a:buFont typeface="Arial"/>
              <a:buNone/>
            </a:pPr>
            <a:endParaRPr sz="1991" b="0" i="0" u="none" strike="noStrike" cap="none">
              <a:solidFill>
                <a:srgbClr val="000000"/>
              </a:solidFill>
              <a:latin typeface="Arial"/>
              <a:ea typeface="Arial"/>
              <a:cs typeface="Arial"/>
              <a:sym typeface="Arial"/>
            </a:endParaRPr>
          </a:p>
        </p:txBody>
      </p:sp>
      <p:sp>
        <p:nvSpPr>
          <p:cNvPr id="421" name="Google Shape;421;p7"/>
          <p:cNvSpPr/>
          <p:nvPr/>
        </p:nvSpPr>
        <p:spPr>
          <a:xfrm>
            <a:off x="7623732" y="1370700"/>
            <a:ext cx="4106800" cy="3688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E5E0DF"/>
              </a:buClr>
              <a:buSzPts val="1920"/>
              <a:buFont typeface="Poppins Light"/>
              <a:buNone/>
            </a:pPr>
            <a:r>
              <a:rPr lang="en" sz="1920" b="1" i="0" u="none" strike="noStrike" cap="none" dirty="0">
                <a:solidFill>
                  <a:srgbClr val="475569"/>
                </a:solidFill>
                <a:latin typeface="Aptos"/>
                <a:ea typeface="Hepta Slab SemiBold"/>
                <a:cs typeface="Hepta Slab SemiBold"/>
                <a:sym typeface="Hepta Slab SemiBold"/>
              </a:rPr>
              <a:t>Key Helper Columns Created</a:t>
            </a:r>
            <a:endParaRPr sz="1920" b="1" i="0" u="none" strike="noStrike" cap="none" dirty="0">
              <a:solidFill>
                <a:srgbClr val="000000"/>
              </a:solidFill>
              <a:latin typeface="Hepta Slab SemiBold"/>
              <a:ea typeface="Hepta Slab SemiBold"/>
              <a:cs typeface="Hepta Slab SemiBold"/>
              <a:sym typeface="Hepta Slab SemiBold"/>
            </a:endParaRPr>
          </a:p>
        </p:txBody>
      </p:sp>
      <p:sp>
        <p:nvSpPr>
          <p:cNvPr id="422" name="Google Shape;422;p7"/>
          <p:cNvSpPr/>
          <p:nvPr/>
        </p:nvSpPr>
        <p:spPr>
          <a:xfrm>
            <a:off x="6451733" y="1827385"/>
            <a:ext cx="5278800" cy="1792115"/>
          </a:xfrm>
          <a:prstGeom prst="rect">
            <a:avLst/>
          </a:prstGeom>
          <a:noFill/>
          <a:ln>
            <a:noFill/>
          </a:ln>
        </p:spPr>
        <p:txBody>
          <a:bodyPr spcFirstLastPara="1" wrap="square" lIns="0" tIns="0" rIns="0" bIns="0" anchor="t" anchorCtr="0">
            <a:noAutofit/>
          </a:bodyPr>
          <a:lstStyle/>
          <a:p>
            <a:pPr marL="609600" marR="0" lvl="0" indent="-404135" algn="l" rtl="0">
              <a:lnSpc>
                <a:spcPct val="133000"/>
              </a:lnSpc>
              <a:spcBef>
                <a:spcPts val="0"/>
              </a:spcBef>
              <a:spcAft>
                <a:spcPts val="0"/>
              </a:spcAft>
              <a:buClr>
                <a:schemeClr val="dk1"/>
              </a:buClr>
              <a:buSzPts val="1564"/>
              <a:buFont typeface="Hepta Slab"/>
              <a:buAutoNum type="arabicPeriod"/>
            </a:pPr>
            <a:r>
              <a:rPr lang="en" sz="1600" b="0" i="0" u="none" strike="noStrike" cap="none" dirty="0">
                <a:solidFill>
                  <a:srgbClr val="475569"/>
                </a:solidFill>
                <a:latin typeface="Aptos"/>
                <a:ea typeface="Hepta Slab"/>
                <a:cs typeface="Hepta Slab"/>
                <a:sym typeface="Hepta Slab"/>
              </a:rPr>
              <a:t>Agent Name</a:t>
            </a:r>
            <a:endParaRPr sz="1600" b="0" i="0" u="none" strike="noStrike" cap="none" dirty="0">
              <a:solidFill>
                <a:schemeClr val="dk1"/>
              </a:solidFill>
              <a:latin typeface="Hepta Slab"/>
              <a:ea typeface="Hepta Slab"/>
              <a:cs typeface="Hepta Slab"/>
              <a:sym typeface="Hepta Slab"/>
            </a:endParaRPr>
          </a:p>
          <a:p>
            <a:pPr marL="609600" marR="0" lvl="0" indent="-404135" algn="l" rtl="0">
              <a:lnSpc>
                <a:spcPct val="133000"/>
              </a:lnSpc>
              <a:spcBef>
                <a:spcPts val="0"/>
              </a:spcBef>
              <a:spcAft>
                <a:spcPts val="0"/>
              </a:spcAft>
              <a:buClr>
                <a:schemeClr val="dk1"/>
              </a:buClr>
              <a:buSzPts val="1564"/>
              <a:buFont typeface="Hepta Slab"/>
              <a:buAutoNum type="arabicPeriod"/>
            </a:pPr>
            <a:r>
              <a:rPr lang="en" sz="1600" b="0" i="0" u="none" strike="noStrike" cap="none" dirty="0">
                <a:solidFill>
                  <a:srgbClr val="475569"/>
                </a:solidFill>
                <a:latin typeface="Aptos"/>
                <a:ea typeface="Hepta Slab"/>
                <a:cs typeface="Hepta Slab"/>
                <a:sym typeface="Hepta Slab"/>
              </a:rPr>
              <a:t>Age</a:t>
            </a:r>
            <a:endParaRPr sz="1600" b="0" i="0" u="none" strike="noStrike" cap="none" dirty="0">
              <a:solidFill>
                <a:schemeClr val="dk1"/>
              </a:solidFill>
              <a:latin typeface="Hepta Slab"/>
              <a:ea typeface="Hepta Slab"/>
              <a:cs typeface="Hepta Slab"/>
              <a:sym typeface="Hepta Slab"/>
            </a:endParaRPr>
          </a:p>
          <a:p>
            <a:pPr marL="609600" marR="0" lvl="0" indent="-404135" algn="l" rtl="0">
              <a:lnSpc>
                <a:spcPct val="133000"/>
              </a:lnSpc>
              <a:spcBef>
                <a:spcPts val="0"/>
              </a:spcBef>
              <a:spcAft>
                <a:spcPts val="0"/>
              </a:spcAft>
              <a:buClr>
                <a:schemeClr val="dk1"/>
              </a:buClr>
              <a:buSzPts val="1564"/>
              <a:buFont typeface="Hepta Slab"/>
              <a:buAutoNum type="arabicPeriod"/>
            </a:pPr>
            <a:r>
              <a:rPr lang="en" sz="1600" b="0" i="0" u="none" strike="noStrike" cap="none" dirty="0">
                <a:solidFill>
                  <a:srgbClr val="475569"/>
                </a:solidFill>
                <a:latin typeface="Aptos"/>
                <a:ea typeface="Hepta Slab"/>
                <a:cs typeface="Hepta Slab"/>
                <a:sym typeface="Hepta Slab"/>
              </a:rPr>
              <a:t>Severity Numeric</a:t>
            </a:r>
            <a:endParaRPr sz="1600" b="0" i="0" u="none" strike="noStrike" cap="none" dirty="0">
              <a:solidFill>
                <a:schemeClr val="dk1"/>
              </a:solidFill>
              <a:latin typeface="Hepta Slab"/>
              <a:ea typeface="Hepta Slab"/>
              <a:cs typeface="Hepta Slab"/>
              <a:sym typeface="Hepta Slab"/>
            </a:endParaRPr>
          </a:p>
          <a:p>
            <a:pPr marL="609600" marR="0" lvl="0" indent="-404135" algn="l" rtl="0">
              <a:lnSpc>
                <a:spcPct val="133000"/>
              </a:lnSpc>
              <a:spcBef>
                <a:spcPts val="0"/>
              </a:spcBef>
              <a:spcAft>
                <a:spcPts val="0"/>
              </a:spcAft>
              <a:buClr>
                <a:schemeClr val="dk1"/>
              </a:buClr>
              <a:buSzPts val="1564"/>
              <a:buFont typeface="Hepta Slab"/>
              <a:buAutoNum type="arabicPeriod"/>
            </a:pPr>
            <a:r>
              <a:rPr lang="en" sz="1600" b="0" i="0" u="none" strike="noStrike" cap="none" dirty="0">
                <a:solidFill>
                  <a:srgbClr val="475569"/>
                </a:solidFill>
                <a:latin typeface="Aptos"/>
                <a:ea typeface="Hepta Slab"/>
                <a:cs typeface="Hepta Slab"/>
                <a:sym typeface="Hepta Slab"/>
              </a:rPr>
              <a:t>Year</a:t>
            </a:r>
            <a:endParaRPr sz="1600" b="0" i="0" u="none" strike="noStrike" cap="none" dirty="0">
              <a:solidFill>
                <a:schemeClr val="dk1"/>
              </a:solidFill>
              <a:latin typeface="Hepta Slab"/>
              <a:ea typeface="Hepta Slab"/>
              <a:cs typeface="Hepta Slab"/>
              <a:sym typeface="Hepta Slab"/>
            </a:endParaRPr>
          </a:p>
          <a:p>
            <a:pPr marL="609600" marR="0" lvl="0" indent="-404135" algn="l" rtl="0">
              <a:lnSpc>
                <a:spcPct val="133000"/>
              </a:lnSpc>
              <a:spcBef>
                <a:spcPts val="0"/>
              </a:spcBef>
              <a:spcAft>
                <a:spcPts val="0"/>
              </a:spcAft>
              <a:buClr>
                <a:schemeClr val="dk1"/>
              </a:buClr>
              <a:buSzPts val="1564"/>
              <a:buFont typeface="Hepta Slab"/>
              <a:buAutoNum type="arabicPeriod"/>
            </a:pPr>
            <a:r>
              <a:rPr lang="en" sz="1600" b="0" i="0" u="none" strike="noStrike" cap="none" dirty="0">
                <a:solidFill>
                  <a:srgbClr val="475569"/>
                </a:solidFill>
                <a:latin typeface="Aptos"/>
                <a:ea typeface="Hepta Slab"/>
                <a:cs typeface="Hepta Slab"/>
                <a:sym typeface="Hepta Slab"/>
              </a:rPr>
              <a:t>Month-Year</a:t>
            </a:r>
            <a:endParaRPr sz="1600" b="0" i="0" u="none" strike="noStrike" cap="none" dirty="0">
              <a:solidFill>
                <a:schemeClr val="dk1"/>
              </a:solidFill>
              <a:latin typeface="Hepta Slab"/>
              <a:ea typeface="Hepta Slab"/>
              <a:cs typeface="Hepta Slab"/>
              <a:sym typeface="Hepta Slab"/>
            </a:endParaRPr>
          </a:p>
          <a:p>
            <a:pPr marL="609600" marR="0" lvl="0" indent="0" algn="l" rtl="0">
              <a:lnSpc>
                <a:spcPct val="133000"/>
              </a:lnSpc>
              <a:spcBef>
                <a:spcPts val="0"/>
              </a:spcBef>
              <a:spcAft>
                <a:spcPts val="0"/>
              </a:spcAft>
              <a:buClr>
                <a:srgbClr val="000000"/>
              </a:buClr>
              <a:buSzPts val="1564"/>
              <a:buFont typeface="Arial"/>
              <a:buNone/>
            </a:pPr>
            <a:endParaRPr sz="1564" b="0" i="0" u="none" strike="noStrike" cap="none" dirty="0">
              <a:solidFill>
                <a:schemeClr val="dk1"/>
              </a:solidFill>
              <a:latin typeface="Hepta Slab"/>
              <a:ea typeface="Hepta Slab"/>
              <a:cs typeface="Hepta Slab"/>
              <a:sym typeface="Hepta Slab"/>
            </a:endParaRPr>
          </a:p>
        </p:txBody>
      </p:sp>
      <p:sp>
        <p:nvSpPr>
          <p:cNvPr id="423" name="Google Shape;423;p7"/>
          <p:cNvSpPr/>
          <p:nvPr/>
        </p:nvSpPr>
        <p:spPr>
          <a:xfrm>
            <a:off x="7355932" y="4113900"/>
            <a:ext cx="4374400" cy="3688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E5E0DF"/>
              </a:buClr>
              <a:buSzPts val="1920"/>
              <a:buFont typeface="Poppins Light"/>
              <a:buNone/>
            </a:pPr>
            <a:r>
              <a:rPr lang="en" sz="1920" b="1" i="0" u="none" strike="noStrike" cap="none" dirty="0">
                <a:solidFill>
                  <a:srgbClr val="475569"/>
                </a:solidFill>
                <a:latin typeface="Aptos"/>
                <a:ea typeface="Hepta Slab SemiBold"/>
                <a:cs typeface="Hepta Slab SemiBold"/>
                <a:sym typeface="Hepta Slab SemiBold"/>
              </a:rPr>
              <a:t>Key Insight</a:t>
            </a:r>
            <a:endParaRPr sz="1920" b="1" i="0" u="none" strike="noStrike" cap="none" dirty="0">
              <a:solidFill>
                <a:srgbClr val="000000"/>
              </a:solidFill>
              <a:latin typeface="Hepta Slab SemiBold"/>
              <a:ea typeface="Hepta Slab SemiBold"/>
              <a:cs typeface="Hepta Slab SemiBold"/>
              <a:sym typeface="Hepta Slab SemiBold"/>
            </a:endParaRPr>
          </a:p>
        </p:txBody>
      </p:sp>
      <p:sp>
        <p:nvSpPr>
          <p:cNvPr id="424" name="Google Shape;424;p7"/>
          <p:cNvSpPr/>
          <p:nvPr/>
        </p:nvSpPr>
        <p:spPr>
          <a:xfrm>
            <a:off x="6451733" y="4652019"/>
            <a:ext cx="5278599" cy="1601600"/>
          </a:xfrm>
          <a:prstGeom prst="rect">
            <a:avLst/>
          </a:prstGeom>
          <a:noFill/>
          <a:ln>
            <a:noFill/>
          </a:ln>
        </p:spPr>
        <p:txBody>
          <a:bodyPr spcFirstLastPara="1" wrap="square" lIns="0" tIns="0" rIns="0" bIns="0" anchor="t" anchorCtr="0">
            <a:noAutofit/>
          </a:bodyPr>
          <a:lstStyle/>
          <a:p>
            <a:pPr marL="609600" marR="0" lvl="0" indent="0" algn="l" rtl="0">
              <a:lnSpc>
                <a:spcPct val="133000"/>
              </a:lnSpc>
              <a:spcBef>
                <a:spcPts val="0"/>
              </a:spcBef>
              <a:spcAft>
                <a:spcPts val="0"/>
              </a:spcAft>
              <a:buClr>
                <a:srgbClr val="000000"/>
              </a:buClr>
              <a:buSzPts val="1431"/>
              <a:buFont typeface="Arial"/>
              <a:buNone/>
            </a:pPr>
            <a:r>
              <a:rPr lang="en" sz="1600" b="0" i="0" u="none" strike="noStrike" cap="none" dirty="0">
                <a:solidFill>
                  <a:srgbClr val="475569"/>
                </a:solidFill>
                <a:latin typeface="Aptos"/>
                <a:ea typeface="Hepta Slab Medium"/>
                <a:cs typeface="Hepta Slab Medium"/>
                <a:sym typeface="Hepta Slab Medium"/>
              </a:rPr>
              <a:t>The methodology enabled the identification of workload trends, service quality patterns, operational bottlenecks, and performance opportunities, forming the foundation for the dashboard and business recommendations.</a:t>
            </a:r>
            <a:endParaRPr sz="1600" b="0" i="0" u="none" strike="noStrike" cap="none" dirty="0">
              <a:solidFill>
                <a:schemeClr val="dk1"/>
              </a:solidFill>
              <a:latin typeface="Hepta Slab Medium"/>
              <a:ea typeface="Hepta Slab Medium"/>
              <a:cs typeface="Hepta Slab Medium"/>
              <a:sym typeface="Hepta Slab Medium"/>
            </a:endParaRPr>
          </a:p>
        </p:txBody>
      </p:sp>
      <p:sp>
        <p:nvSpPr>
          <p:cNvPr id="425" name="Google Shape;425;p7"/>
          <p:cNvSpPr/>
          <p:nvPr/>
        </p:nvSpPr>
        <p:spPr>
          <a:xfrm>
            <a:off x="1373132" y="4113900"/>
            <a:ext cx="4433600" cy="3688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E5E0DF"/>
              </a:buClr>
              <a:buSzPts val="1920"/>
              <a:buFont typeface="Poppins Light"/>
              <a:buNone/>
            </a:pPr>
            <a:r>
              <a:rPr lang="en" sz="1920" b="1" i="0" u="none" strike="noStrike" cap="none" dirty="0">
                <a:solidFill>
                  <a:srgbClr val="475569"/>
                </a:solidFill>
                <a:latin typeface="Aptos"/>
                <a:ea typeface="Hepta Slab SemiBold"/>
                <a:cs typeface="Hepta Slab SemiBold"/>
                <a:sym typeface="Hepta Slab SemiBold"/>
              </a:rPr>
              <a:t>Analytical Techniques Used</a:t>
            </a:r>
            <a:endParaRPr sz="1920" b="1" i="0" u="none" strike="noStrike" cap="none" dirty="0">
              <a:solidFill>
                <a:srgbClr val="E5E0DF"/>
              </a:solidFill>
              <a:latin typeface="Hepta Slab SemiBold"/>
              <a:ea typeface="Hepta Slab SemiBold"/>
              <a:cs typeface="Hepta Slab SemiBold"/>
              <a:sym typeface="Hepta Slab SemiBold"/>
            </a:endParaRPr>
          </a:p>
          <a:p>
            <a:pPr marL="0" marR="0" lvl="0" indent="0" algn="r" rtl="0">
              <a:lnSpc>
                <a:spcPct val="104000"/>
              </a:lnSpc>
              <a:spcBef>
                <a:spcPts val="0"/>
              </a:spcBef>
              <a:spcAft>
                <a:spcPts val="0"/>
              </a:spcAft>
              <a:buClr>
                <a:srgbClr val="E5E0DF"/>
              </a:buClr>
              <a:buSzPts val="1920"/>
              <a:buFont typeface="Poppins Light"/>
              <a:buNone/>
            </a:pPr>
            <a:endParaRPr sz="1920" b="0" i="0" u="none" strike="noStrike" cap="none" dirty="0">
              <a:solidFill>
                <a:srgbClr val="E5E0DF"/>
              </a:solidFill>
              <a:latin typeface="Hepta Slab SemiBold"/>
              <a:ea typeface="Hepta Slab SemiBold"/>
              <a:cs typeface="Hepta Slab SemiBold"/>
              <a:sym typeface="Hepta Slab SemiBold"/>
            </a:endParaRPr>
          </a:p>
        </p:txBody>
      </p:sp>
      <p:sp>
        <p:nvSpPr>
          <p:cNvPr id="426" name="Google Shape;426;p7"/>
          <p:cNvSpPr/>
          <p:nvPr/>
        </p:nvSpPr>
        <p:spPr>
          <a:xfrm>
            <a:off x="527767" y="4652019"/>
            <a:ext cx="5278800" cy="1697981"/>
          </a:xfrm>
          <a:prstGeom prst="rect">
            <a:avLst/>
          </a:prstGeom>
          <a:noFill/>
          <a:ln>
            <a:noFill/>
          </a:ln>
        </p:spPr>
        <p:txBody>
          <a:bodyPr spcFirstLastPara="1" wrap="square" lIns="0" tIns="0" rIns="0" bIns="0" anchor="t" anchorCtr="0">
            <a:noAutofit/>
          </a:bodyPr>
          <a:lstStyle/>
          <a:p>
            <a:pPr marL="609600" marR="0" lvl="0" indent="-404135" algn="l" rtl="0">
              <a:lnSpc>
                <a:spcPct val="133000"/>
              </a:lnSpc>
              <a:spcBef>
                <a:spcPts val="0"/>
              </a:spcBef>
              <a:spcAft>
                <a:spcPts val="0"/>
              </a:spcAft>
              <a:buClr>
                <a:schemeClr val="dk1"/>
              </a:buClr>
              <a:buSzPts val="1564"/>
              <a:buFont typeface="Hepta Slab Medium"/>
              <a:buAutoNum type="arabicPeriod"/>
            </a:pPr>
            <a:r>
              <a:rPr lang="en" sz="1600" b="0" i="0" u="none" strike="noStrike" cap="none" dirty="0">
                <a:solidFill>
                  <a:srgbClr val="475569"/>
                </a:solidFill>
                <a:latin typeface="Aptos"/>
                <a:ea typeface="Hepta Slab Medium"/>
                <a:cs typeface="Hepta Slab Medium"/>
                <a:sym typeface="Hepta Slab Medium"/>
              </a:rPr>
              <a:t>Trend Analysis</a:t>
            </a:r>
            <a:endParaRPr sz="1600" b="0" i="0" u="none" strike="noStrike" cap="none" dirty="0">
              <a:solidFill>
                <a:schemeClr val="dk1"/>
              </a:solidFill>
              <a:latin typeface="Hepta Slab Medium"/>
              <a:ea typeface="Hepta Slab Medium"/>
              <a:cs typeface="Hepta Slab Medium"/>
              <a:sym typeface="Hepta Slab Medium"/>
            </a:endParaRPr>
          </a:p>
          <a:p>
            <a:pPr marL="609600" marR="0" lvl="0" indent="-404135" algn="l" rtl="0">
              <a:lnSpc>
                <a:spcPct val="133000"/>
              </a:lnSpc>
              <a:spcBef>
                <a:spcPts val="0"/>
              </a:spcBef>
              <a:spcAft>
                <a:spcPts val="0"/>
              </a:spcAft>
              <a:buClr>
                <a:schemeClr val="dk1"/>
              </a:buClr>
              <a:buSzPts val="1564"/>
              <a:buFont typeface="Hepta Slab Medium"/>
              <a:buAutoNum type="arabicPeriod"/>
            </a:pPr>
            <a:r>
              <a:rPr lang="en" sz="1600" b="0" i="0" u="none" strike="noStrike" cap="none" dirty="0">
                <a:solidFill>
                  <a:srgbClr val="475569"/>
                </a:solidFill>
                <a:latin typeface="Aptos"/>
                <a:ea typeface="Hepta Slab Medium"/>
                <a:cs typeface="Hepta Slab Medium"/>
                <a:sym typeface="Hepta Slab Medium"/>
              </a:rPr>
              <a:t>Distribution Analysis</a:t>
            </a:r>
            <a:endParaRPr sz="1600" b="0" i="0" u="none" strike="noStrike" cap="none" dirty="0">
              <a:solidFill>
                <a:schemeClr val="dk1"/>
              </a:solidFill>
              <a:latin typeface="Hepta Slab Medium"/>
              <a:ea typeface="Hepta Slab Medium"/>
              <a:cs typeface="Hepta Slab Medium"/>
              <a:sym typeface="Hepta Slab Medium"/>
            </a:endParaRPr>
          </a:p>
          <a:p>
            <a:pPr marL="609600" marR="0" lvl="0" indent="-404135" algn="l" rtl="0">
              <a:lnSpc>
                <a:spcPct val="133000"/>
              </a:lnSpc>
              <a:spcBef>
                <a:spcPts val="0"/>
              </a:spcBef>
              <a:spcAft>
                <a:spcPts val="0"/>
              </a:spcAft>
              <a:buClr>
                <a:schemeClr val="dk1"/>
              </a:buClr>
              <a:buSzPts val="1564"/>
              <a:buFont typeface="Hepta Slab Medium"/>
              <a:buAutoNum type="arabicPeriod"/>
            </a:pPr>
            <a:r>
              <a:rPr lang="en" sz="1600" b="0" i="0" u="none" strike="noStrike" cap="none" dirty="0">
                <a:solidFill>
                  <a:srgbClr val="475569"/>
                </a:solidFill>
                <a:latin typeface="Aptos"/>
                <a:ea typeface="Hepta Slab Medium"/>
                <a:cs typeface="Hepta Slab Medium"/>
                <a:sym typeface="Hepta Slab Medium"/>
              </a:rPr>
              <a:t>Comparative Analysis</a:t>
            </a:r>
            <a:endParaRPr sz="1600" b="0" i="0" u="none" strike="noStrike" cap="none" dirty="0">
              <a:solidFill>
                <a:schemeClr val="dk1"/>
              </a:solidFill>
              <a:latin typeface="Hepta Slab Medium"/>
              <a:ea typeface="Hepta Slab Medium"/>
              <a:cs typeface="Hepta Slab Medium"/>
              <a:sym typeface="Hepta Slab Medium"/>
            </a:endParaRPr>
          </a:p>
          <a:p>
            <a:pPr marL="609600" marR="0" lvl="0" indent="-404135" algn="l" rtl="0">
              <a:lnSpc>
                <a:spcPct val="133000"/>
              </a:lnSpc>
              <a:spcBef>
                <a:spcPts val="0"/>
              </a:spcBef>
              <a:spcAft>
                <a:spcPts val="0"/>
              </a:spcAft>
              <a:buClr>
                <a:schemeClr val="dk1"/>
              </a:buClr>
              <a:buSzPts val="1564"/>
              <a:buFont typeface="Hepta Slab Medium"/>
              <a:buAutoNum type="arabicPeriod"/>
            </a:pPr>
            <a:r>
              <a:rPr lang="en" sz="1600" b="0" i="0" u="none" strike="noStrike" cap="none" dirty="0">
                <a:solidFill>
                  <a:srgbClr val="475569"/>
                </a:solidFill>
                <a:latin typeface="Aptos"/>
                <a:ea typeface="Hepta Slab Medium"/>
                <a:cs typeface="Hepta Slab Medium"/>
                <a:sym typeface="Hepta Slab Medium"/>
              </a:rPr>
              <a:t>KPI Evaluation</a:t>
            </a:r>
            <a:endParaRPr sz="1600" b="0" i="0" u="none" strike="noStrike" cap="none" dirty="0">
              <a:solidFill>
                <a:schemeClr val="dk1"/>
              </a:solidFill>
              <a:latin typeface="Hepta Slab Medium"/>
              <a:ea typeface="Hepta Slab Medium"/>
              <a:cs typeface="Hepta Slab Medium"/>
              <a:sym typeface="Hepta Slab Medium"/>
            </a:endParaRPr>
          </a:p>
          <a:p>
            <a:pPr marL="609600" marR="0" lvl="0" indent="0" algn="l" rtl="0">
              <a:lnSpc>
                <a:spcPct val="133000"/>
              </a:lnSpc>
              <a:spcBef>
                <a:spcPts val="0"/>
              </a:spcBef>
              <a:spcAft>
                <a:spcPts val="0"/>
              </a:spcAft>
              <a:buClr>
                <a:srgbClr val="000000"/>
              </a:buClr>
              <a:buSzPts val="1564"/>
              <a:buFont typeface="Arial"/>
              <a:buNone/>
            </a:pPr>
            <a:endParaRPr sz="1564" b="0" i="0" u="none" strike="noStrike" cap="none" dirty="0">
              <a:solidFill>
                <a:schemeClr val="dk1"/>
              </a:solidFill>
              <a:latin typeface="Hepta Slab"/>
              <a:ea typeface="Hepta Slab"/>
              <a:cs typeface="Hepta Slab"/>
              <a:sym typeface="Hepta Slab"/>
            </a:endParaRPr>
          </a:p>
        </p:txBody>
      </p:sp>
      <p:sp>
        <p:nvSpPr>
          <p:cNvPr id="427" name="Google Shape;427;p7"/>
          <p:cNvSpPr txBox="1">
            <a:spLocks noGrp="1"/>
          </p:cNvSpPr>
          <p:nvPr>
            <p:ph type="title"/>
          </p:nvPr>
        </p:nvSpPr>
        <p:spPr>
          <a:xfrm>
            <a:off x="44567" y="0"/>
            <a:ext cx="8058400" cy="412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2133" i="1" dirty="0">
                <a:solidFill>
                  <a:schemeClr val="accent4"/>
                </a:solidFill>
                <a:latin typeface="Aptos"/>
              </a:rPr>
              <a:t>"How was the data transformed into actionable insights?"</a:t>
            </a:r>
            <a:endParaRPr sz="2133" i="1" dirty="0">
              <a:solidFill>
                <a:schemeClr val="accent4"/>
              </a:solidFill>
            </a:endParaRPr>
          </a:p>
        </p:txBody>
      </p:sp>
      <p:sp>
        <p:nvSpPr>
          <p:cNvPr id="428" name="Rectangle 427"/>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1"/>
        <p:cNvGrpSpPr/>
        <p:nvPr/>
      </p:nvGrpSpPr>
      <p:grpSpPr>
        <a:xfrm>
          <a:off x="0" y="0"/>
          <a:ext cx="0" cy="0"/>
          <a:chOff x="0" y="0"/>
          <a:chExt cx="0" cy="0"/>
        </a:xfrm>
      </p:grpSpPr>
      <p:sp>
        <p:nvSpPr>
          <p:cNvPr id="432" name="Google Shape;432;p8"/>
          <p:cNvSpPr/>
          <p:nvPr/>
        </p:nvSpPr>
        <p:spPr>
          <a:xfrm>
            <a:off x="1650467" y="484300"/>
            <a:ext cx="9034800" cy="5908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F2F2F3"/>
              </a:buClr>
              <a:buSzPts val="3667"/>
              <a:buFont typeface="Poppins Light"/>
              <a:buNone/>
            </a:pPr>
            <a:r>
              <a:rPr lang="en" sz="4000" b="1" i="0" u="none" strike="noStrike" cap="none" dirty="0">
                <a:solidFill>
                  <a:srgbClr val="12375C"/>
                </a:solidFill>
                <a:latin typeface="Aptos"/>
                <a:ea typeface="Hepta Slab SemiBold"/>
                <a:cs typeface="Hepta Slab SemiBold"/>
                <a:sym typeface="Hepta Slab SemiBold"/>
              </a:rPr>
              <a:t>Key Performance Indicators</a:t>
            </a:r>
            <a:endParaRPr sz="4000" b="1" i="0" u="none" strike="noStrike" cap="none" dirty="0">
              <a:solidFill>
                <a:srgbClr val="FF0000"/>
              </a:solidFill>
              <a:latin typeface="Hepta Slab SemiBold"/>
              <a:ea typeface="Hepta Slab SemiBold"/>
              <a:cs typeface="Hepta Slab SemiBold"/>
              <a:sym typeface="Hepta Slab SemiBold"/>
            </a:endParaRPr>
          </a:p>
        </p:txBody>
      </p:sp>
      <p:sp>
        <p:nvSpPr>
          <p:cNvPr id="433" name="Google Shape;433;p8"/>
          <p:cNvSpPr/>
          <p:nvPr/>
        </p:nvSpPr>
        <p:spPr>
          <a:xfrm>
            <a:off x="733800" y="1123051"/>
            <a:ext cx="11121200" cy="3024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E5E0DF"/>
              </a:buClr>
              <a:buSzPts val="1467"/>
              <a:buFont typeface="Roboto Light"/>
              <a:buNone/>
            </a:pPr>
            <a:r>
              <a:rPr lang="en" sz="1600" b="0" i="0" u="none" strike="noStrike" cap="none" dirty="0">
                <a:solidFill>
                  <a:srgbClr val="475569"/>
                </a:solidFill>
                <a:latin typeface="Aptos"/>
                <a:ea typeface="Hepta Slab"/>
                <a:cs typeface="Hepta Slab"/>
                <a:sym typeface="Hepta Slab"/>
              </a:rPr>
              <a:t>The following KPIs provide a high-level overview of IT support operations and establish the baseline for further analysis.</a:t>
            </a:r>
            <a:endParaRPr sz="1600" b="0" i="0" u="none" strike="noStrike" cap="none" dirty="0">
              <a:solidFill>
                <a:srgbClr val="000000"/>
              </a:solidFill>
              <a:latin typeface="Hepta Slab"/>
              <a:ea typeface="Hepta Slab"/>
              <a:cs typeface="Hepta Slab"/>
              <a:sym typeface="Hepta Slab"/>
            </a:endParaRPr>
          </a:p>
        </p:txBody>
      </p:sp>
      <p:sp>
        <p:nvSpPr>
          <p:cNvPr id="438" name="Google Shape;438;p8"/>
          <p:cNvSpPr txBox="1"/>
          <p:nvPr/>
        </p:nvSpPr>
        <p:spPr>
          <a:xfrm>
            <a:off x="193000" y="4228992"/>
            <a:ext cx="11806000" cy="1847200"/>
          </a:xfrm>
          <a:prstGeom prst="rect">
            <a:avLst/>
          </a:prstGeom>
          <a:solidFill>
            <a:schemeClr val="accent1">
              <a:lumMod val="20000"/>
              <a:lumOff val="80000"/>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33"/>
              <a:buFont typeface="Arial"/>
              <a:buNone/>
            </a:pPr>
            <a:r>
              <a:rPr lang="en" sz="1733" b="0" i="0" u="none" strike="noStrike" cap="none" dirty="0">
                <a:solidFill>
                  <a:srgbClr val="475569"/>
                </a:solidFill>
                <a:latin typeface="Aptos"/>
                <a:ea typeface="Hepta Slab SemiBold"/>
                <a:cs typeface="Hepta Slab SemiBold"/>
                <a:sym typeface="Hepta Slab SemiBold"/>
              </a:rPr>
              <a:t>Key Insights:</a:t>
            </a:r>
            <a:endParaRPr sz="1733" b="0" i="0" u="none" strike="noStrike" cap="none" dirty="0">
              <a:solidFill>
                <a:schemeClr val="dk1"/>
              </a:solidFill>
              <a:latin typeface="Hepta Slab SemiBold"/>
              <a:ea typeface="Hepta Slab SemiBold"/>
              <a:cs typeface="Hepta Slab SemiBold"/>
              <a:sym typeface="Hepta Slab SemiBold"/>
            </a:endParaRPr>
          </a:p>
          <a:p>
            <a:pPr marL="609600" marR="0" lvl="0" indent="-414867" algn="l" rtl="0">
              <a:lnSpc>
                <a:spcPct val="100000"/>
              </a:lnSpc>
              <a:spcBef>
                <a:spcPts val="0"/>
              </a:spcBef>
              <a:spcAft>
                <a:spcPts val="0"/>
              </a:spcAft>
              <a:buClr>
                <a:schemeClr val="dk1"/>
              </a:buClr>
              <a:buSzPts val="1733"/>
              <a:buFont typeface="Hepta Slab Medium"/>
              <a:buChar char="●"/>
            </a:pPr>
            <a:r>
              <a:rPr lang="en" sz="1733" b="0" i="0" u="none" strike="noStrike" cap="none" dirty="0">
                <a:solidFill>
                  <a:srgbClr val="475569"/>
                </a:solidFill>
                <a:latin typeface="Aptos"/>
                <a:ea typeface="Hepta Slab Medium"/>
                <a:cs typeface="Hepta Slab Medium"/>
                <a:sym typeface="Hepta Slab Medium"/>
              </a:rPr>
              <a:t>The IT support team handled 97,498 tickets across the analysis period.</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414867" algn="l" rtl="0">
              <a:lnSpc>
                <a:spcPct val="100000"/>
              </a:lnSpc>
              <a:spcBef>
                <a:spcPts val="0"/>
              </a:spcBef>
              <a:spcAft>
                <a:spcPts val="0"/>
              </a:spcAft>
              <a:buClr>
                <a:schemeClr val="dk1"/>
              </a:buClr>
              <a:buSzPts val="1733"/>
              <a:buFont typeface="Hepta Slab Medium"/>
              <a:buChar char="●"/>
            </a:pPr>
            <a:r>
              <a:rPr lang="en" sz="1733" b="0" i="0" u="none" strike="noStrike" cap="none" dirty="0">
                <a:solidFill>
                  <a:srgbClr val="475569"/>
                </a:solidFill>
                <a:latin typeface="Aptos"/>
                <a:ea typeface="Hepta Slab Medium"/>
                <a:cs typeface="Hepta Slab Medium"/>
                <a:sym typeface="Hepta Slab Medium"/>
              </a:rPr>
              <a:t>Employee satisfaction remained high at approximately 4.1/5, indicating consistent service quality.</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414867" algn="l" rtl="0">
              <a:lnSpc>
                <a:spcPct val="100000"/>
              </a:lnSpc>
              <a:spcBef>
                <a:spcPts val="0"/>
              </a:spcBef>
              <a:spcAft>
                <a:spcPts val="0"/>
              </a:spcAft>
              <a:buClr>
                <a:schemeClr val="dk1"/>
              </a:buClr>
              <a:buSzPts val="1733"/>
              <a:buFont typeface="Hepta Slab Medium"/>
              <a:buChar char="●"/>
            </a:pPr>
            <a:r>
              <a:rPr lang="en" sz="1733" b="0" i="0" u="none" strike="noStrike" cap="none" dirty="0">
                <a:solidFill>
                  <a:srgbClr val="475569"/>
                </a:solidFill>
                <a:latin typeface="Aptos"/>
                <a:ea typeface="Hepta Slab Medium"/>
                <a:cs typeface="Hepta Slab Medium"/>
                <a:sym typeface="Hepta Slab Medium"/>
              </a:rPr>
              <a:t>An average resolution time of 4.55 days highlights opportunities for process and technology improvements.</a:t>
            </a:r>
            <a:endParaRPr sz="1733" b="1" i="0" u="none" strike="noStrike" cap="none" dirty="0">
              <a:solidFill>
                <a:schemeClr val="dk1"/>
              </a:solidFill>
              <a:latin typeface="Hepta Slab"/>
              <a:ea typeface="Hepta Slab"/>
              <a:cs typeface="Hepta Slab"/>
              <a:sym typeface="Hepta Slab"/>
            </a:endParaRPr>
          </a:p>
        </p:txBody>
      </p:sp>
      <p:sp>
        <p:nvSpPr>
          <p:cNvPr id="439" name="Google Shape;439;p8"/>
          <p:cNvSpPr txBox="1">
            <a:spLocks noGrp="1"/>
          </p:cNvSpPr>
          <p:nvPr>
            <p:ph type="title"/>
          </p:nvPr>
        </p:nvSpPr>
        <p:spPr>
          <a:xfrm>
            <a:off x="44567" y="0"/>
            <a:ext cx="8058400" cy="412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2133" i="1" dirty="0">
                <a:solidFill>
                  <a:schemeClr val="accent4"/>
                </a:solidFill>
                <a:latin typeface="Aptos"/>
              </a:rPr>
              <a:t>"What does the current state of IT support operations look like?"</a:t>
            </a:r>
            <a:endParaRPr sz="2133" i="1" dirty="0">
              <a:solidFill>
                <a:schemeClr val="accent4"/>
              </a:solidFill>
            </a:endParaRPr>
          </a:p>
        </p:txBody>
      </p:sp>
      <p:sp>
        <p:nvSpPr>
          <p:cNvPr id="2" name="Rectangle: Rounded Corners 1">
            <a:extLst>
              <a:ext uri="{FF2B5EF4-FFF2-40B4-BE49-F238E27FC236}">
                <a16:creationId xmlns:a16="http://schemas.microsoft.com/office/drawing/2014/main" id="{1E221BDA-1018-C8FB-DFE8-637570D8F3A7}"/>
              </a:ext>
            </a:extLst>
          </p:cNvPr>
          <p:cNvSpPr/>
          <p:nvPr/>
        </p:nvSpPr>
        <p:spPr>
          <a:xfrm>
            <a:off x="56733" y="1705408"/>
            <a:ext cx="2545500" cy="1700548"/>
          </a:xfrm>
          <a:prstGeom prst="roundRect">
            <a:avLst/>
          </a:prstGeom>
          <a:solidFill>
            <a:schemeClr val="accent1">
              <a:lumMod val="40000"/>
              <a:lumOff val="60000"/>
            </a:schemeClr>
          </a:solidFill>
          <a:ln w="19050">
            <a:solidFill>
              <a:schemeClr val="accent1">
                <a:lumMod val="60000"/>
                <a:lumOff val="10000"/>
              </a:schemeClr>
            </a:solidFill>
          </a:ln>
          <a:effectLst>
            <a:outerShdw blurRad="150000" dist="40000" dir="5400000" rotWithShape="0">
              <a:schemeClr val="accent1">
                <a:lumMod val="60000"/>
                <a:alpha val="45000"/>
              </a:schemeClr>
            </a:outerShdw>
          </a:effectLst>
        </p:spPr>
        <p:style>
          <a:lnRef idx="2">
            <a:schemeClr val="accent1"/>
          </a:lnRef>
          <a:fillRef idx="1">
            <a:schemeClr val="lt1"/>
          </a:fillRef>
          <a:effectRef idx="0">
            <a:schemeClr val="accent1"/>
          </a:effectRef>
          <a:fontRef idx="minor">
            <a:schemeClr val="dk1"/>
          </a:fontRef>
        </p:style>
        <p:txBody>
          <a:bodyPr rtlCol="0" anchor="t"/>
          <a:lstStyle>
            <a:lvl1pPr marL="0" indent="0">
              <a:defRPr sz="1467">
                <a:solidFill>
                  <a:schemeClr val="dk1"/>
                </a:solidFill>
                <a:latin typeface="+mn-lt"/>
                <a:ea typeface="+mn-ea"/>
                <a:cs typeface="+mn-cs"/>
              </a:defRPr>
            </a:lvl1pPr>
            <a:lvl2pPr marL="609600" indent="0">
              <a:defRPr sz="1467">
                <a:solidFill>
                  <a:schemeClr val="dk1"/>
                </a:solidFill>
                <a:latin typeface="+mn-lt"/>
                <a:ea typeface="+mn-ea"/>
                <a:cs typeface="+mn-cs"/>
              </a:defRPr>
            </a:lvl2pPr>
            <a:lvl3pPr marL="1219200" indent="0">
              <a:defRPr sz="1467">
                <a:solidFill>
                  <a:schemeClr val="dk1"/>
                </a:solidFill>
                <a:latin typeface="+mn-lt"/>
                <a:ea typeface="+mn-ea"/>
                <a:cs typeface="+mn-cs"/>
              </a:defRPr>
            </a:lvl3pPr>
            <a:lvl4pPr marL="1828800" indent="0">
              <a:defRPr sz="1467">
                <a:solidFill>
                  <a:schemeClr val="dk1"/>
                </a:solidFill>
                <a:latin typeface="+mn-lt"/>
                <a:ea typeface="+mn-ea"/>
                <a:cs typeface="+mn-cs"/>
              </a:defRPr>
            </a:lvl4pPr>
            <a:lvl5pPr marL="2438400" indent="0">
              <a:defRPr sz="1467">
                <a:solidFill>
                  <a:schemeClr val="dk1"/>
                </a:solidFill>
                <a:latin typeface="+mn-lt"/>
                <a:ea typeface="+mn-ea"/>
                <a:cs typeface="+mn-cs"/>
              </a:defRPr>
            </a:lvl5pPr>
            <a:lvl6pPr marL="3048000" indent="0">
              <a:defRPr sz="1467">
                <a:solidFill>
                  <a:schemeClr val="dk1"/>
                </a:solidFill>
                <a:latin typeface="+mn-lt"/>
                <a:ea typeface="+mn-ea"/>
                <a:cs typeface="+mn-cs"/>
              </a:defRPr>
            </a:lvl6pPr>
            <a:lvl7pPr marL="3657600" indent="0">
              <a:defRPr sz="1467">
                <a:solidFill>
                  <a:schemeClr val="dk1"/>
                </a:solidFill>
                <a:latin typeface="+mn-lt"/>
                <a:ea typeface="+mn-ea"/>
                <a:cs typeface="+mn-cs"/>
              </a:defRPr>
            </a:lvl7pPr>
            <a:lvl8pPr marL="4267200" indent="0">
              <a:defRPr sz="1467">
                <a:solidFill>
                  <a:schemeClr val="dk1"/>
                </a:solidFill>
                <a:latin typeface="+mn-lt"/>
                <a:ea typeface="+mn-ea"/>
                <a:cs typeface="+mn-cs"/>
              </a:defRPr>
            </a:lvl8pPr>
            <a:lvl9pPr marL="4876800" indent="0">
              <a:defRPr sz="1467">
                <a:solidFill>
                  <a:schemeClr val="dk1"/>
                </a:solidFill>
                <a:latin typeface="+mn-lt"/>
                <a:ea typeface="+mn-ea"/>
                <a:cs typeface="+mn-cs"/>
              </a:defRPr>
            </a:lvl9pPr>
          </a:lstStyle>
          <a:p>
            <a:pPr marL="0" marR="0" lvl="0" indent="0" algn="l" defTabSz="1219200" eaLnBrk="1" fontAlgn="auto" latinLnBrk="0" hangingPunct="1">
              <a:lnSpc>
                <a:spcPct val="100000"/>
              </a:lnSpc>
              <a:spcBef>
                <a:spcPts val="0"/>
              </a:spcBef>
              <a:spcAft>
                <a:spcPts val="0"/>
              </a:spcAft>
              <a:buClrTx/>
              <a:buSzTx/>
              <a:buFontTx/>
              <a:buNone/>
              <a:tabLst/>
              <a:defRPr/>
            </a:pPr>
            <a:r>
              <a:rPr lang="en-US" sz="3200" b="1" i="0" dirty="0">
                <a:solidFill>
                  <a:srgbClr val="12375C"/>
                </a:solidFill>
                <a:effectLst/>
                <a:latin typeface="Aptos"/>
                <a:ea typeface="+mn-ea"/>
                <a:cs typeface="+mn-cs"/>
              </a:rPr>
              <a:t>Total</a:t>
            </a:r>
            <a:r>
              <a:rPr lang="en-US" sz="3200" b="1" i="0" baseline="0" dirty="0">
                <a:solidFill>
                  <a:srgbClr val="12375C"/>
                </a:solidFill>
                <a:effectLst/>
                <a:latin typeface="Aptos"/>
                <a:ea typeface="+mn-ea"/>
                <a:cs typeface="+mn-cs"/>
              </a:rPr>
              <a:t> Tickets </a:t>
            </a:r>
          </a:p>
          <a:p>
            <a:pPr marL="0" marR="0" lvl="0" indent="0" algn="l" defTabSz="1219200" eaLnBrk="1" fontAlgn="auto" latinLnBrk="0" hangingPunct="1">
              <a:lnSpc>
                <a:spcPct val="100000"/>
              </a:lnSpc>
              <a:spcBef>
                <a:spcPts val="0"/>
              </a:spcBef>
              <a:spcAft>
                <a:spcPts val="0"/>
              </a:spcAft>
              <a:buClrTx/>
              <a:buSzTx/>
              <a:buFontTx/>
              <a:buNone/>
              <a:tabLst/>
              <a:defRPr/>
            </a:pPr>
            <a:r>
              <a:rPr lang="en-US" sz="3200" b="1" dirty="0">
                <a:solidFill>
                  <a:srgbClr val="12375C"/>
                </a:solidFill>
                <a:latin typeface="Aptos"/>
              </a:rPr>
              <a:t>97498</a:t>
            </a:r>
            <a:endParaRPr lang="en-US" sz="3200" b="1" i="0" baseline="0" dirty="0">
              <a:solidFill>
                <a:srgbClr val="12375C"/>
              </a:solidFill>
              <a:effectLst/>
              <a:latin typeface="Aptos"/>
              <a:ea typeface="+mn-ea"/>
              <a:cs typeface="+mn-cs"/>
            </a:endParaRPr>
          </a:p>
          <a:p>
            <a:pPr marL="0" marR="0" lvl="0" indent="0" algn="l" defTabSz="1219200" eaLnBrk="1" fontAlgn="auto" latinLnBrk="0" hangingPunct="1">
              <a:lnSpc>
                <a:spcPct val="100000"/>
              </a:lnSpc>
              <a:spcBef>
                <a:spcPts val="0"/>
              </a:spcBef>
              <a:spcAft>
                <a:spcPts val="0"/>
              </a:spcAft>
              <a:buClrTx/>
              <a:buSzTx/>
              <a:buFontTx/>
              <a:buNone/>
              <a:tabLst/>
              <a:defRPr/>
            </a:pPr>
            <a:endParaRPr lang="en-US" sz="3200" dirty="0">
              <a:effectLst/>
            </a:endParaRPr>
          </a:p>
          <a:p>
            <a:pPr algn="l"/>
            <a:endParaRPr lang="en-US" sz="1467" b="0" cap="none" spc="0" dirty="0">
              <a:ln w="0"/>
              <a:solidFill>
                <a:schemeClr val="tx1"/>
              </a:solidFill>
              <a:effectLst>
                <a:outerShdw blurRad="38100" dist="19050" dir="2700000" algn="tl" rotWithShape="0">
                  <a:schemeClr val="dk1">
                    <a:alpha val="40000"/>
                  </a:schemeClr>
                </a:outerShdw>
              </a:effectLst>
            </a:endParaRPr>
          </a:p>
        </p:txBody>
      </p:sp>
      <p:sp>
        <p:nvSpPr>
          <p:cNvPr id="4" name="Rectangle: Rounded Corners 3">
            <a:extLst>
              <a:ext uri="{FF2B5EF4-FFF2-40B4-BE49-F238E27FC236}">
                <a16:creationId xmlns:a16="http://schemas.microsoft.com/office/drawing/2014/main" id="{0BA57ECF-4280-5250-B4E1-DD5FFAC662C1}"/>
              </a:ext>
            </a:extLst>
          </p:cNvPr>
          <p:cNvSpPr/>
          <p:nvPr/>
        </p:nvSpPr>
        <p:spPr>
          <a:xfrm>
            <a:off x="2893249" y="1701159"/>
            <a:ext cx="3570385" cy="1700549"/>
          </a:xfrm>
          <a:prstGeom prst="roundRect">
            <a:avLst/>
          </a:prstGeom>
          <a:solidFill>
            <a:schemeClr val="accent1">
              <a:lumMod val="40000"/>
              <a:lumOff val="60000"/>
            </a:schemeClr>
          </a:solidFill>
          <a:ln w="19050">
            <a:solidFill>
              <a:schemeClr val="accent1">
                <a:lumMod val="60000"/>
                <a:lumOff val="10000"/>
              </a:schemeClr>
            </a:solidFill>
          </a:ln>
          <a:effectLst>
            <a:outerShdw blurRad="150000" dist="40000" dir="5400000" rotWithShape="0">
              <a:schemeClr val="accent1">
                <a:lumMod val="60000"/>
                <a:alpha val="45000"/>
              </a:schemeClr>
            </a:outerShdw>
          </a:effectLst>
        </p:spPr>
        <p:style>
          <a:lnRef idx="2">
            <a:schemeClr val="accent1"/>
          </a:lnRef>
          <a:fillRef idx="1">
            <a:schemeClr val="lt1"/>
          </a:fillRef>
          <a:effectRef idx="0">
            <a:schemeClr val="accent1"/>
          </a:effectRef>
          <a:fontRef idx="minor">
            <a:schemeClr val="dk1"/>
          </a:fontRef>
        </p:style>
        <p:txBody>
          <a:bodyPr rtlCol="0" anchor="t"/>
          <a:lstStyle>
            <a:lvl1pPr marL="0" indent="0">
              <a:defRPr sz="1467">
                <a:solidFill>
                  <a:schemeClr val="dk1"/>
                </a:solidFill>
                <a:latin typeface="+mn-lt"/>
                <a:ea typeface="+mn-ea"/>
                <a:cs typeface="+mn-cs"/>
              </a:defRPr>
            </a:lvl1pPr>
            <a:lvl2pPr marL="609600" indent="0">
              <a:defRPr sz="1467">
                <a:solidFill>
                  <a:schemeClr val="dk1"/>
                </a:solidFill>
                <a:latin typeface="+mn-lt"/>
                <a:ea typeface="+mn-ea"/>
                <a:cs typeface="+mn-cs"/>
              </a:defRPr>
            </a:lvl2pPr>
            <a:lvl3pPr marL="1219200" indent="0">
              <a:defRPr sz="1467">
                <a:solidFill>
                  <a:schemeClr val="dk1"/>
                </a:solidFill>
                <a:latin typeface="+mn-lt"/>
                <a:ea typeface="+mn-ea"/>
                <a:cs typeface="+mn-cs"/>
              </a:defRPr>
            </a:lvl3pPr>
            <a:lvl4pPr marL="1828800" indent="0">
              <a:defRPr sz="1467">
                <a:solidFill>
                  <a:schemeClr val="dk1"/>
                </a:solidFill>
                <a:latin typeface="+mn-lt"/>
                <a:ea typeface="+mn-ea"/>
                <a:cs typeface="+mn-cs"/>
              </a:defRPr>
            </a:lvl4pPr>
            <a:lvl5pPr marL="2438400" indent="0">
              <a:defRPr sz="1467">
                <a:solidFill>
                  <a:schemeClr val="dk1"/>
                </a:solidFill>
                <a:latin typeface="+mn-lt"/>
                <a:ea typeface="+mn-ea"/>
                <a:cs typeface="+mn-cs"/>
              </a:defRPr>
            </a:lvl5pPr>
            <a:lvl6pPr marL="3048000" indent="0">
              <a:defRPr sz="1467">
                <a:solidFill>
                  <a:schemeClr val="dk1"/>
                </a:solidFill>
                <a:latin typeface="+mn-lt"/>
                <a:ea typeface="+mn-ea"/>
                <a:cs typeface="+mn-cs"/>
              </a:defRPr>
            </a:lvl6pPr>
            <a:lvl7pPr marL="3657600" indent="0">
              <a:defRPr sz="1467">
                <a:solidFill>
                  <a:schemeClr val="dk1"/>
                </a:solidFill>
                <a:latin typeface="+mn-lt"/>
                <a:ea typeface="+mn-ea"/>
                <a:cs typeface="+mn-cs"/>
              </a:defRPr>
            </a:lvl7pPr>
            <a:lvl8pPr marL="4267200" indent="0">
              <a:defRPr sz="1467">
                <a:solidFill>
                  <a:schemeClr val="dk1"/>
                </a:solidFill>
                <a:latin typeface="+mn-lt"/>
                <a:ea typeface="+mn-ea"/>
                <a:cs typeface="+mn-cs"/>
              </a:defRPr>
            </a:lvl8pPr>
            <a:lvl9pPr marL="4876800" indent="0">
              <a:defRPr sz="1467">
                <a:solidFill>
                  <a:schemeClr val="dk1"/>
                </a:solidFill>
                <a:latin typeface="+mn-lt"/>
                <a:ea typeface="+mn-ea"/>
                <a:cs typeface="+mn-cs"/>
              </a:defRPr>
            </a:lvl9pPr>
          </a:lstStyle>
          <a:p>
            <a:r>
              <a:rPr lang="en-US" sz="3200" b="1" i="0" dirty="0">
                <a:solidFill>
                  <a:srgbClr val="12375C"/>
                </a:solidFill>
                <a:effectLst/>
                <a:latin typeface="Aptos"/>
                <a:ea typeface="+mn-ea"/>
                <a:cs typeface="+mn-cs"/>
              </a:rPr>
              <a:t>Average of Resolution Time</a:t>
            </a:r>
          </a:p>
          <a:p>
            <a:r>
              <a:rPr lang="en-US" sz="3200" b="1" u="none" strike="noStrike" cap="none" dirty="0">
                <a:solidFill>
                  <a:srgbClr val="12375C"/>
                </a:solidFill>
                <a:latin typeface="Aptos"/>
                <a:ea typeface="Impact"/>
                <a:cs typeface="Impact"/>
                <a:sym typeface="Impact"/>
              </a:rPr>
              <a:t>4.55 Days</a:t>
            </a:r>
          </a:p>
          <a:p>
            <a:pPr algn="l"/>
            <a:endParaRPr lang="en-US" sz="1467" b="0" cap="none" spc="0" dirty="0">
              <a:ln w="0"/>
              <a:solidFill>
                <a:schemeClr val="tx1"/>
              </a:solidFill>
              <a:effectLst>
                <a:outerShdw blurRad="38100" dist="19050" dir="2700000" algn="tl" rotWithShape="0">
                  <a:schemeClr val="dk1">
                    <a:alpha val="40000"/>
                  </a:schemeClr>
                </a:outerShdw>
              </a:effectLst>
            </a:endParaRPr>
          </a:p>
        </p:txBody>
      </p:sp>
      <p:sp>
        <p:nvSpPr>
          <p:cNvPr id="5" name="Rectangle: Rounded Corners 4">
            <a:extLst>
              <a:ext uri="{FF2B5EF4-FFF2-40B4-BE49-F238E27FC236}">
                <a16:creationId xmlns:a16="http://schemas.microsoft.com/office/drawing/2014/main" id="{A75A422F-B934-954D-2085-A9382900210E}"/>
              </a:ext>
            </a:extLst>
          </p:cNvPr>
          <p:cNvSpPr/>
          <p:nvPr/>
        </p:nvSpPr>
        <p:spPr>
          <a:xfrm>
            <a:off x="6734267" y="1701157"/>
            <a:ext cx="3055344" cy="1676103"/>
          </a:xfrm>
          <a:prstGeom prst="roundRect">
            <a:avLst/>
          </a:prstGeom>
          <a:solidFill>
            <a:schemeClr val="accent1">
              <a:lumMod val="40000"/>
              <a:lumOff val="60000"/>
            </a:schemeClr>
          </a:solidFill>
          <a:ln w="19050">
            <a:solidFill>
              <a:schemeClr val="accent1">
                <a:lumMod val="60000"/>
                <a:lumOff val="10000"/>
              </a:schemeClr>
            </a:solidFill>
          </a:ln>
          <a:effectLst>
            <a:outerShdw blurRad="150000" dist="40000" dir="5400000" rotWithShape="0">
              <a:schemeClr val="accent1">
                <a:lumMod val="60000"/>
                <a:alpha val="45000"/>
              </a:schemeClr>
            </a:outerShdw>
          </a:effectLst>
        </p:spPr>
        <p:style>
          <a:lnRef idx="2">
            <a:schemeClr val="accent1"/>
          </a:lnRef>
          <a:fillRef idx="1">
            <a:schemeClr val="lt1"/>
          </a:fillRef>
          <a:effectRef idx="0">
            <a:schemeClr val="accent1"/>
          </a:effectRef>
          <a:fontRef idx="minor">
            <a:schemeClr val="dk1"/>
          </a:fontRef>
        </p:style>
        <p:txBody>
          <a:bodyPr rtlCol="0" anchor="t"/>
          <a:lstStyle>
            <a:lvl1pPr marL="0" indent="0">
              <a:defRPr sz="1467">
                <a:solidFill>
                  <a:schemeClr val="dk1"/>
                </a:solidFill>
                <a:latin typeface="+mn-lt"/>
                <a:ea typeface="+mn-ea"/>
                <a:cs typeface="+mn-cs"/>
              </a:defRPr>
            </a:lvl1pPr>
            <a:lvl2pPr marL="609600" indent="0">
              <a:defRPr sz="1467">
                <a:solidFill>
                  <a:schemeClr val="dk1"/>
                </a:solidFill>
                <a:latin typeface="+mn-lt"/>
                <a:ea typeface="+mn-ea"/>
                <a:cs typeface="+mn-cs"/>
              </a:defRPr>
            </a:lvl2pPr>
            <a:lvl3pPr marL="1219200" indent="0">
              <a:defRPr sz="1467">
                <a:solidFill>
                  <a:schemeClr val="dk1"/>
                </a:solidFill>
                <a:latin typeface="+mn-lt"/>
                <a:ea typeface="+mn-ea"/>
                <a:cs typeface="+mn-cs"/>
              </a:defRPr>
            </a:lvl3pPr>
            <a:lvl4pPr marL="1828800" indent="0">
              <a:defRPr sz="1467">
                <a:solidFill>
                  <a:schemeClr val="dk1"/>
                </a:solidFill>
                <a:latin typeface="+mn-lt"/>
                <a:ea typeface="+mn-ea"/>
                <a:cs typeface="+mn-cs"/>
              </a:defRPr>
            </a:lvl4pPr>
            <a:lvl5pPr marL="2438400" indent="0">
              <a:defRPr sz="1467">
                <a:solidFill>
                  <a:schemeClr val="dk1"/>
                </a:solidFill>
                <a:latin typeface="+mn-lt"/>
                <a:ea typeface="+mn-ea"/>
                <a:cs typeface="+mn-cs"/>
              </a:defRPr>
            </a:lvl5pPr>
            <a:lvl6pPr marL="3048000" indent="0">
              <a:defRPr sz="1467">
                <a:solidFill>
                  <a:schemeClr val="dk1"/>
                </a:solidFill>
                <a:latin typeface="+mn-lt"/>
                <a:ea typeface="+mn-ea"/>
                <a:cs typeface="+mn-cs"/>
              </a:defRPr>
            </a:lvl6pPr>
            <a:lvl7pPr marL="3657600" indent="0">
              <a:defRPr sz="1467">
                <a:solidFill>
                  <a:schemeClr val="dk1"/>
                </a:solidFill>
                <a:latin typeface="+mn-lt"/>
                <a:ea typeface="+mn-ea"/>
                <a:cs typeface="+mn-cs"/>
              </a:defRPr>
            </a:lvl7pPr>
            <a:lvl8pPr marL="4267200" indent="0">
              <a:defRPr sz="1467">
                <a:solidFill>
                  <a:schemeClr val="dk1"/>
                </a:solidFill>
                <a:latin typeface="+mn-lt"/>
                <a:ea typeface="+mn-ea"/>
                <a:cs typeface="+mn-cs"/>
              </a:defRPr>
            </a:lvl8pPr>
            <a:lvl9pPr marL="4876800" indent="0">
              <a:defRPr sz="1467">
                <a:solidFill>
                  <a:schemeClr val="dk1"/>
                </a:solidFill>
                <a:latin typeface="+mn-lt"/>
                <a:ea typeface="+mn-ea"/>
                <a:cs typeface="+mn-cs"/>
              </a:defRPr>
            </a:lvl9pPr>
          </a:lstStyle>
          <a:p>
            <a:r>
              <a:rPr lang="en-US" sz="3200" b="1" i="0" dirty="0">
                <a:solidFill>
                  <a:srgbClr val="12375C"/>
                </a:solidFill>
                <a:effectLst/>
                <a:latin typeface="Aptos"/>
                <a:ea typeface="+mn-ea"/>
                <a:cs typeface="+mn-cs"/>
              </a:rPr>
              <a:t>Average of Satisfaction Rate   </a:t>
            </a:r>
            <a:r>
              <a:rPr lang="en-US" sz="3200" b="1" dirty="0">
                <a:solidFill>
                  <a:srgbClr val="12375C"/>
                </a:solidFill>
                <a:latin typeface="Aptos"/>
              </a:rPr>
              <a:t>4.10</a:t>
            </a:r>
            <a:endParaRPr lang="en-US" sz="3200" b="1" i="0" dirty="0">
              <a:solidFill>
                <a:schemeClr val="dk1"/>
              </a:solidFill>
              <a:effectLst/>
              <a:latin typeface="+mn-lt"/>
              <a:ea typeface="+mn-ea"/>
              <a:cs typeface="+mn-cs"/>
            </a:endParaRPr>
          </a:p>
          <a:p>
            <a:endParaRPr lang="en-US" sz="3200" dirty="0">
              <a:effectLst/>
            </a:endParaRPr>
          </a:p>
          <a:p>
            <a:pPr algn="l"/>
            <a:r>
              <a:rPr lang="en-US" sz="1467" b="0" cap="none" spc="0" dirty="0">
                <a:ln w="0"/>
                <a:solidFill>
                  <a:srgbClr val="475569"/>
                </a:solidFill>
                <a:effectLst>
                  <a:outerShdw blurRad="38100" dist="19050" dir="2700000" algn="tl" rotWithShape="0">
                    <a:schemeClr val="dk1">
                      <a:alpha val="40000"/>
                    </a:schemeClr>
                  </a:outerShdw>
                </a:effectLst>
                <a:latin typeface="Aptos"/>
              </a:rPr>
              <a:t> </a:t>
            </a:r>
          </a:p>
        </p:txBody>
      </p:sp>
      <p:sp>
        <p:nvSpPr>
          <p:cNvPr id="7" name="Rectangle: Rounded Corners 6">
            <a:extLst>
              <a:ext uri="{FF2B5EF4-FFF2-40B4-BE49-F238E27FC236}">
                <a16:creationId xmlns:a16="http://schemas.microsoft.com/office/drawing/2014/main" id="{BCF7590F-65C3-4717-05FE-1D41DA5E2A24}"/>
              </a:ext>
            </a:extLst>
          </p:cNvPr>
          <p:cNvSpPr/>
          <p:nvPr/>
        </p:nvSpPr>
        <p:spPr>
          <a:xfrm>
            <a:off x="10060243" y="1701157"/>
            <a:ext cx="1938757" cy="1676103"/>
          </a:xfrm>
          <a:prstGeom prst="roundRect">
            <a:avLst/>
          </a:prstGeom>
          <a:solidFill>
            <a:schemeClr val="accent1">
              <a:lumMod val="40000"/>
              <a:lumOff val="60000"/>
            </a:schemeClr>
          </a:solidFill>
          <a:ln w="19050">
            <a:solidFill>
              <a:schemeClr val="accent1">
                <a:lumMod val="60000"/>
                <a:lumOff val="10000"/>
              </a:schemeClr>
            </a:solidFill>
          </a:ln>
          <a:effectLst>
            <a:outerShdw blurRad="150000" dist="40000" dir="5400000" rotWithShape="0">
              <a:schemeClr val="accent1">
                <a:lumMod val="60000"/>
                <a:alpha val="45000"/>
              </a:schemeClr>
            </a:outerShdw>
          </a:effectLst>
        </p:spPr>
        <p:style>
          <a:lnRef idx="2">
            <a:schemeClr val="accent1"/>
          </a:lnRef>
          <a:fillRef idx="1">
            <a:schemeClr val="lt1"/>
          </a:fillRef>
          <a:effectRef idx="0">
            <a:schemeClr val="accent1"/>
          </a:effectRef>
          <a:fontRef idx="minor">
            <a:schemeClr val="dk1"/>
          </a:fontRef>
        </p:style>
        <p:txBody>
          <a:bodyPr rtlCol="0" anchor="t"/>
          <a:lstStyle>
            <a:lvl1pPr marL="0" indent="0">
              <a:defRPr sz="1467">
                <a:solidFill>
                  <a:schemeClr val="dk1"/>
                </a:solidFill>
                <a:latin typeface="+mn-lt"/>
                <a:ea typeface="+mn-ea"/>
                <a:cs typeface="+mn-cs"/>
              </a:defRPr>
            </a:lvl1pPr>
            <a:lvl2pPr marL="609600" indent="0">
              <a:defRPr sz="1467">
                <a:solidFill>
                  <a:schemeClr val="dk1"/>
                </a:solidFill>
                <a:latin typeface="+mn-lt"/>
                <a:ea typeface="+mn-ea"/>
                <a:cs typeface="+mn-cs"/>
              </a:defRPr>
            </a:lvl2pPr>
            <a:lvl3pPr marL="1219200" indent="0">
              <a:defRPr sz="1467">
                <a:solidFill>
                  <a:schemeClr val="dk1"/>
                </a:solidFill>
                <a:latin typeface="+mn-lt"/>
                <a:ea typeface="+mn-ea"/>
                <a:cs typeface="+mn-cs"/>
              </a:defRPr>
            </a:lvl3pPr>
            <a:lvl4pPr marL="1828800" indent="0">
              <a:defRPr sz="1467">
                <a:solidFill>
                  <a:schemeClr val="dk1"/>
                </a:solidFill>
                <a:latin typeface="+mn-lt"/>
                <a:ea typeface="+mn-ea"/>
                <a:cs typeface="+mn-cs"/>
              </a:defRPr>
            </a:lvl4pPr>
            <a:lvl5pPr marL="2438400" indent="0">
              <a:defRPr sz="1467">
                <a:solidFill>
                  <a:schemeClr val="dk1"/>
                </a:solidFill>
                <a:latin typeface="+mn-lt"/>
                <a:ea typeface="+mn-ea"/>
                <a:cs typeface="+mn-cs"/>
              </a:defRPr>
            </a:lvl5pPr>
            <a:lvl6pPr marL="3048000" indent="0">
              <a:defRPr sz="1467">
                <a:solidFill>
                  <a:schemeClr val="dk1"/>
                </a:solidFill>
                <a:latin typeface="+mn-lt"/>
                <a:ea typeface="+mn-ea"/>
                <a:cs typeface="+mn-cs"/>
              </a:defRPr>
            </a:lvl6pPr>
            <a:lvl7pPr marL="3657600" indent="0">
              <a:defRPr sz="1467">
                <a:solidFill>
                  <a:schemeClr val="dk1"/>
                </a:solidFill>
                <a:latin typeface="+mn-lt"/>
                <a:ea typeface="+mn-ea"/>
                <a:cs typeface="+mn-cs"/>
              </a:defRPr>
            </a:lvl7pPr>
            <a:lvl8pPr marL="4267200" indent="0">
              <a:defRPr sz="1467">
                <a:solidFill>
                  <a:schemeClr val="dk1"/>
                </a:solidFill>
                <a:latin typeface="+mn-lt"/>
                <a:ea typeface="+mn-ea"/>
                <a:cs typeface="+mn-cs"/>
              </a:defRPr>
            </a:lvl8pPr>
            <a:lvl9pPr marL="4876800" indent="0">
              <a:defRPr sz="1467">
                <a:solidFill>
                  <a:schemeClr val="dk1"/>
                </a:solidFill>
                <a:latin typeface="+mn-lt"/>
                <a:ea typeface="+mn-ea"/>
                <a:cs typeface="+mn-cs"/>
              </a:defRPr>
            </a:lvl9pPr>
          </a:lstStyle>
          <a:p>
            <a:r>
              <a:rPr lang="en-US" sz="3200" b="1" i="0" dirty="0">
                <a:solidFill>
                  <a:srgbClr val="12375C"/>
                </a:solidFill>
                <a:effectLst/>
                <a:latin typeface="Aptos"/>
                <a:ea typeface="+mn-ea"/>
                <a:cs typeface="+mn-cs"/>
              </a:rPr>
              <a:t>Active Agent </a:t>
            </a:r>
            <a:endParaRPr lang="en-US" sz="3200" dirty="0">
              <a:effectLst/>
            </a:endParaRPr>
          </a:p>
          <a:p>
            <a:r>
              <a:rPr lang="en-US" sz="3200" b="1" i="0" dirty="0">
                <a:solidFill>
                  <a:srgbClr val="12375C"/>
                </a:solidFill>
                <a:effectLst/>
                <a:latin typeface="Aptos"/>
                <a:ea typeface="+mn-ea"/>
                <a:cs typeface="+mn-cs"/>
              </a:rPr>
              <a:t>50</a:t>
            </a:r>
          </a:p>
          <a:p>
            <a:endParaRPr lang="en-US" sz="3200" dirty="0">
              <a:effectLst/>
            </a:endParaRPr>
          </a:p>
          <a:p>
            <a:pPr algn="l"/>
            <a:r>
              <a:rPr lang="en-US" sz="1467" b="0" cap="none" spc="0" dirty="0">
                <a:ln w="0"/>
                <a:solidFill>
                  <a:srgbClr val="475569"/>
                </a:solidFill>
                <a:effectLst>
                  <a:outerShdw blurRad="38100" dist="19050" dir="2700000" algn="tl" rotWithShape="0">
                    <a:schemeClr val="dk1">
                      <a:alpha val="40000"/>
                    </a:schemeClr>
                  </a:outerShdw>
                </a:effectLst>
                <a:latin typeface="Aptos"/>
              </a:rPr>
              <a:t>   </a:t>
            </a:r>
          </a:p>
        </p:txBody>
      </p:sp>
      <p:sp>
        <p:nvSpPr>
          <p:cNvPr id="440" name="Rectangle 439"/>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3"/>
        <p:cNvGrpSpPr/>
        <p:nvPr/>
      </p:nvGrpSpPr>
      <p:grpSpPr>
        <a:xfrm>
          <a:off x="0" y="0"/>
          <a:ext cx="0" cy="0"/>
          <a:chOff x="0" y="0"/>
          <a:chExt cx="0" cy="0"/>
        </a:xfrm>
      </p:grpSpPr>
      <p:sp>
        <p:nvSpPr>
          <p:cNvPr id="444" name="Google Shape;444;p9"/>
          <p:cNvSpPr txBox="1">
            <a:spLocks noGrp="1"/>
          </p:cNvSpPr>
          <p:nvPr>
            <p:ph type="title"/>
          </p:nvPr>
        </p:nvSpPr>
        <p:spPr>
          <a:xfrm>
            <a:off x="469533" y="164200"/>
            <a:ext cx="112616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Ticket Category Distribution Analysis</a:t>
            </a:r>
            <a:endParaRPr sz="4000" b="1" dirty="0">
              <a:solidFill>
                <a:srgbClr val="FF0000"/>
              </a:solidFill>
            </a:endParaRPr>
          </a:p>
        </p:txBody>
      </p:sp>
      <p:sp>
        <p:nvSpPr>
          <p:cNvPr id="445" name="Google Shape;445;p9"/>
          <p:cNvSpPr txBox="1">
            <a:spLocks noGrp="1"/>
          </p:cNvSpPr>
          <p:nvPr>
            <p:ph type="title" idx="2"/>
          </p:nvPr>
        </p:nvSpPr>
        <p:spPr>
          <a:xfrm>
            <a:off x="820967" y="1333000"/>
            <a:ext cx="5521600" cy="4390400"/>
          </a:xfrm>
          <a:prstGeom prst="rect">
            <a:avLst/>
          </a:prstGeom>
          <a:noFill/>
          <a:ln w="12700" cap="flat" cmpd="sng">
            <a:solidFill>
              <a:srgbClr val="FF0000"/>
            </a:solidFill>
            <a:prstDash val="dot"/>
            <a:round/>
            <a:headEnd type="none" w="sm" len="sm"/>
            <a:tailEnd type="none" w="sm" len="sm"/>
          </a:ln>
        </p:spPr>
        <p:txBody>
          <a:bodyPr spcFirstLastPara="1" wrap="square" lIns="78675" tIns="78675" rIns="78675" bIns="78675" anchor="ctr" anchorCtr="0">
            <a:noAutofit/>
          </a:bodyPr>
          <a:lstStyle/>
          <a:p>
            <a:pPr marL="0" lvl="0" indent="0" algn="r" rtl="0">
              <a:lnSpc>
                <a:spcPct val="100000"/>
              </a:lnSpc>
              <a:spcBef>
                <a:spcPts val="0"/>
              </a:spcBef>
              <a:spcAft>
                <a:spcPts val="0"/>
              </a:spcAft>
              <a:buSzPts val="4800"/>
              <a:buNone/>
            </a:pPr>
            <a:endParaRPr sz="1492" dirty="0"/>
          </a:p>
        </p:txBody>
      </p:sp>
      <p:sp>
        <p:nvSpPr>
          <p:cNvPr id="446" name="Google Shape;446;p9"/>
          <p:cNvSpPr txBox="1">
            <a:spLocks noGrp="1"/>
          </p:cNvSpPr>
          <p:nvPr>
            <p:ph type="title" idx="4294967295"/>
          </p:nvPr>
        </p:nvSpPr>
        <p:spPr>
          <a:xfrm>
            <a:off x="6957484" y="1333500"/>
            <a:ext cx="5234516" cy="4603751"/>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1867"/>
              </a:spcBef>
              <a:spcAft>
                <a:spcPts val="0"/>
              </a:spcAft>
              <a:buSzPts val="4800"/>
              <a:buNone/>
            </a:pPr>
            <a:r>
              <a:rPr lang="en" sz="2133" b="1" dirty="0">
                <a:solidFill>
                  <a:srgbClr val="475569"/>
                </a:solidFill>
                <a:latin typeface="Aptos"/>
                <a:ea typeface="Hepta Slab SemiBold"/>
                <a:cs typeface="Hepta Slab SemiBold"/>
                <a:sym typeface="Hepta Slab SemiBold"/>
              </a:rPr>
              <a:t>Key Insights</a:t>
            </a:r>
            <a:endParaRPr sz="2133" b="1" dirty="0">
              <a:latin typeface="Hepta Slab SemiBold"/>
              <a:ea typeface="Hepta Slab SemiBold"/>
              <a:cs typeface="Hepta Slab SemiBold"/>
              <a:sym typeface="Hepta Slab SemiBold"/>
            </a:endParaRPr>
          </a:p>
          <a:p>
            <a:pPr marL="609600" lvl="0" indent="-414867" algn="l" rtl="0">
              <a:lnSpc>
                <a:spcPct val="150000"/>
              </a:lnSpc>
              <a:spcBef>
                <a:spcPts val="160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System requests account for the largest share of tickets, representing approximately 40% of total support requests.</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Login Access requests contribute nearly 30% of ticket volume, indicating frequent user access-related issues.</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Hardware requests represent the smallest category, accounting for approximately 10% of all tickets.</a:t>
            </a:r>
            <a:endParaRPr sz="1867" dirty="0">
              <a:latin typeface="Arial"/>
              <a:ea typeface="Arial"/>
              <a:cs typeface="Arial"/>
              <a:sym typeface="Arial"/>
            </a:endParaRPr>
          </a:p>
          <a:p>
            <a:pPr marL="0" lvl="0" indent="0" algn="l" rtl="0">
              <a:lnSpc>
                <a:spcPct val="150000"/>
              </a:lnSpc>
              <a:spcBef>
                <a:spcPts val="1600"/>
              </a:spcBef>
              <a:spcAft>
                <a:spcPts val="0"/>
              </a:spcAft>
              <a:buSzPts val="4800"/>
              <a:buNone/>
            </a:pPr>
            <a:endParaRPr sz="2133" dirty="0"/>
          </a:p>
        </p:txBody>
      </p:sp>
      <p:graphicFrame>
        <p:nvGraphicFramePr>
          <p:cNvPr id="3" name="Chart 2">
            <a:extLst>
              <a:ext uri="{FF2B5EF4-FFF2-40B4-BE49-F238E27FC236}">
                <a16:creationId xmlns:a16="http://schemas.microsoft.com/office/drawing/2014/main" id="{9FB0BEEA-E47C-4CA2-9ACE-AF45FF83915B}"/>
              </a:ext>
            </a:extLst>
          </p:cNvPr>
          <p:cNvGraphicFramePr>
            <a:graphicFrameLocks/>
          </p:cNvGraphicFramePr>
          <p:nvPr>
            <p:extLst>
              <p:ext uri="{D42A27DB-BD31-4B8C-83A1-F6EECF244321}">
                <p14:modId xmlns:p14="http://schemas.microsoft.com/office/powerpoint/2010/main" val="53101235"/>
              </p:ext>
            </p:extLst>
          </p:nvPr>
        </p:nvGraphicFramePr>
        <p:xfrm>
          <a:off x="820967" y="1333000"/>
          <a:ext cx="5521600" cy="4390400"/>
        </p:xfrm>
        <a:graphic>
          <a:graphicData uri="http://schemas.openxmlformats.org/drawingml/2006/chart">
            <c:chart xmlns:c="http://schemas.openxmlformats.org/drawingml/2006/chart" xmlns:r="http://schemas.openxmlformats.org/officeDocument/2006/relationships" r:id="rId3"/>
          </a:graphicData>
        </a:graphic>
      </p:graphicFrame>
      <p:sp>
        <p:nvSpPr>
          <p:cNvPr id="449" name="Rectangle 448"/>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2"/>
        <p:cNvGrpSpPr/>
        <p:nvPr/>
      </p:nvGrpSpPr>
      <p:grpSpPr>
        <a:xfrm>
          <a:off x="0" y="0"/>
          <a:ext cx="0" cy="0"/>
          <a:chOff x="0" y="0"/>
          <a:chExt cx="0" cy="0"/>
        </a:xfrm>
      </p:grpSpPr>
      <p:sp>
        <p:nvSpPr>
          <p:cNvPr id="453" name="Google Shape;453;p10"/>
          <p:cNvSpPr txBox="1">
            <a:spLocks noGrp="1"/>
          </p:cNvSpPr>
          <p:nvPr>
            <p:ph type="title"/>
          </p:nvPr>
        </p:nvSpPr>
        <p:spPr>
          <a:xfrm>
            <a:off x="929800" y="164200"/>
            <a:ext cx="103324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Resolution Time Analysis - 1</a:t>
            </a:r>
            <a:endParaRPr sz="4000" b="1" dirty="0">
              <a:solidFill>
                <a:srgbClr val="FF0000"/>
              </a:solidFill>
            </a:endParaRPr>
          </a:p>
        </p:txBody>
      </p:sp>
      <p:sp>
        <p:nvSpPr>
          <p:cNvPr id="454" name="Google Shape;454;p10"/>
          <p:cNvSpPr txBox="1">
            <a:spLocks noGrp="1"/>
          </p:cNvSpPr>
          <p:nvPr>
            <p:ph type="title" idx="2"/>
          </p:nvPr>
        </p:nvSpPr>
        <p:spPr>
          <a:xfrm>
            <a:off x="7093667" y="1333000"/>
            <a:ext cx="4737200" cy="4984400"/>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1867"/>
              </a:spcBef>
              <a:spcAft>
                <a:spcPts val="0"/>
              </a:spcAft>
              <a:buSzPts val="4800"/>
              <a:buNone/>
            </a:pPr>
            <a:br>
              <a:rPr lang="en" sz="2133" dirty="0">
                <a:latin typeface="Hepta Slab SemiBold"/>
                <a:ea typeface="Hepta Slab SemiBold"/>
                <a:cs typeface="Hepta Slab SemiBold"/>
                <a:sym typeface="Hepta Slab SemiBold"/>
              </a:rPr>
            </a:br>
            <a:r>
              <a:rPr lang="en" sz="2133" b="1" dirty="0">
                <a:solidFill>
                  <a:srgbClr val="475569"/>
                </a:solidFill>
                <a:latin typeface="Aptos"/>
                <a:ea typeface="Hepta Slab SemiBold"/>
                <a:cs typeface="Hepta Slab SemiBold"/>
                <a:sym typeface="Hepta Slab SemiBold"/>
              </a:rPr>
              <a:t>Key Insights</a:t>
            </a:r>
            <a:endParaRPr sz="2133" b="1" dirty="0">
              <a:latin typeface="Hepta Slab SemiBold"/>
              <a:ea typeface="Hepta Slab SemiBold"/>
              <a:cs typeface="Hepta Slab SemiBold"/>
              <a:sym typeface="Hepta Slab SemiBold"/>
            </a:endParaRPr>
          </a:p>
          <a:p>
            <a:pPr marL="609600" lvl="0" indent="-414867" algn="l" rtl="0">
              <a:lnSpc>
                <a:spcPct val="150000"/>
              </a:lnSpc>
              <a:spcBef>
                <a:spcPts val="160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Hardware requests consistently have the highest resolution times, averaging approximately 7.6 days across quarters.</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System requests require the second-highest resolution times, averaging approximately 6.6 days.</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Login Access requests are resolved rapidly, averaging less than 1 day, indicating highly efficient support processes.</a:t>
            </a:r>
            <a:endParaRPr sz="1867" dirty="0">
              <a:latin typeface="Arial"/>
              <a:ea typeface="Arial"/>
              <a:cs typeface="Arial"/>
              <a:sym typeface="Arial"/>
            </a:endParaRPr>
          </a:p>
          <a:p>
            <a:pPr marL="0" lvl="0" indent="0" algn="l" rtl="0">
              <a:lnSpc>
                <a:spcPct val="150000"/>
              </a:lnSpc>
              <a:spcBef>
                <a:spcPts val="1600"/>
              </a:spcBef>
              <a:spcAft>
                <a:spcPts val="0"/>
              </a:spcAft>
              <a:buSzPts val="4800"/>
              <a:buNone/>
            </a:pPr>
            <a:r>
              <a:rPr lang="en-US" sz="2133" dirty="0"/>
              <a:t> </a:t>
            </a:r>
            <a:endParaRPr sz="2133" dirty="0"/>
          </a:p>
        </p:txBody>
      </p:sp>
      <p:graphicFrame>
        <p:nvGraphicFramePr>
          <p:cNvPr id="2" name="Chart 1">
            <a:extLst>
              <a:ext uri="{FF2B5EF4-FFF2-40B4-BE49-F238E27FC236}">
                <a16:creationId xmlns:a16="http://schemas.microsoft.com/office/drawing/2014/main" id="{3D5BA4D2-5E0F-23CE-51D0-5AEF35A0F56D}"/>
              </a:ext>
            </a:extLst>
          </p:cNvPr>
          <p:cNvGraphicFramePr>
            <a:graphicFrameLocks/>
          </p:cNvGraphicFramePr>
          <p:nvPr>
            <p:extLst>
              <p:ext uri="{D42A27DB-BD31-4B8C-83A1-F6EECF244321}">
                <p14:modId xmlns:p14="http://schemas.microsoft.com/office/powerpoint/2010/main" val="200775898"/>
              </p:ext>
            </p:extLst>
          </p:nvPr>
        </p:nvGraphicFramePr>
        <p:xfrm>
          <a:off x="409767" y="1446400"/>
          <a:ext cx="6506100" cy="4984400"/>
        </p:xfrm>
        <a:graphic>
          <a:graphicData uri="http://schemas.openxmlformats.org/drawingml/2006/chart">
            <c:chart xmlns:c="http://schemas.openxmlformats.org/drawingml/2006/chart" xmlns:r="http://schemas.openxmlformats.org/officeDocument/2006/relationships" r:id="rId3"/>
          </a:graphicData>
        </a:graphic>
      </p:graphicFrame>
      <p:sp>
        <p:nvSpPr>
          <p:cNvPr id="457" name="Rectangle 456"/>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0"/>
        <p:cNvGrpSpPr/>
        <p:nvPr/>
      </p:nvGrpSpPr>
      <p:grpSpPr>
        <a:xfrm>
          <a:off x="0" y="0"/>
          <a:ext cx="0" cy="0"/>
          <a:chOff x="0" y="0"/>
          <a:chExt cx="0" cy="0"/>
        </a:xfrm>
      </p:grpSpPr>
      <p:sp>
        <p:nvSpPr>
          <p:cNvPr id="462" name="Google Shape;462;p11"/>
          <p:cNvSpPr txBox="1">
            <a:spLocks noGrp="1"/>
          </p:cNvSpPr>
          <p:nvPr>
            <p:ph type="title"/>
          </p:nvPr>
        </p:nvSpPr>
        <p:spPr>
          <a:xfrm>
            <a:off x="415600" y="308800"/>
            <a:ext cx="11360800" cy="763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Resolution Time Analysis -2</a:t>
            </a:r>
            <a:endParaRPr sz="4000" b="1" dirty="0">
              <a:solidFill>
                <a:srgbClr val="FF0000"/>
              </a:solidFill>
            </a:endParaRPr>
          </a:p>
        </p:txBody>
      </p:sp>
      <p:sp>
        <p:nvSpPr>
          <p:cNvPr id="461" name="Google Shape;461;p11"/>
          <p:cNvSpPr txBox="1">
            <a:spLocks noGrp="1"/>
          </p:cNvSpPr>
          <p:nvPr>
            <p:ph type="body" idx="1"/>
          </p:nvPr>
        </p:nvSpPr>
        <p:spPr>
          <a:xfrm>
            <a:off x="7322367" y="1655167"/>
            <a:ext cx="4596000" cy="411767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000"/>
              <a:buNone/>
            </a:pPr>
            <a:r>
              <a:rPr lang="en" sz="2133" dirty="0">
                <a:solidFill>
                  <a:srgbClr val="475569"/>
                </a:solidFill>
                <a:latin typeface="Aptos"/>
                <a:ea typeface="Hepta Slab SemiBold"/>
                <a:cs typeface="Hepta Slab SemiBold"/>
                <a:sym typeface="Hepta Slab SemiBold"/>
              </a:rPr>
              <a:t>Key Insights:</a:t>
            </a:r>
            <a:endParaRPr sz="2133" dirty="0">
              <a:latin typeface="Hepta Slab SemiBold"/>
              <a:ea typeface="Hepta Slab SemiBold"/>
              <a:cs typeface="Hepta Slab SemiBold"/>
              <a:sym typeface="Hepta Slab SemiBold"/>
            </a:endParaRPr>
          </a:p>
          <a:p>
            <a:pPr marL="609600" lvl="0" indent="-431800" algn="l" rtl="0">
              <a:lnSpc>
                <a:spcPct val="115000"/>
              </a:lnSpc>
              <a:spcBef>
                <a:spcPts val="1600"/>
              </a:spcBef>
              <a:spcAft>
                <a:spcPts val="0"/>
              </a:spcAft>
              <a:buSzPts val="2000"/>
              <a:buChar char="❏"/>
            </a:pPr>
            <a:r>
              <a:rPr lang="en" sz="1733" dirty="0">
                <a:solidFill>
                  <a:srgbClr val="475569"/>
                </a:solidFill>
                <a:latin typeface="Aptos"/>
                <a:ea typeface="Hepta Slab"/>
                <a:cs typeface="Hepta Slab"/>
                <a:sym typeface="Hepta Slab"/>
              </a:rPr>
              <a:t>Severity Level 2 requires the highest average resolution time. </a:t>
            </a:r>
            <a:endParaRPr sz="1733" dirty="0">
              <a:latin typeface="Hepta Slab"/>
              <a:ea typeface="Hepta Slab"/>
              <a:cs typeface="Hepta Slab"/>
              <a:sym typeface="Hepta Slab"/>
            </a:endParaRPr>
          </a:p>
          <a:p>
            <a:pPr marL="609600" lvl="0" indent="-431800" algn="l" rtl="0">
              <a:lnSpc>
                <a:spcPct val="115000"/>
              </a:lnSpc>
              <a:spcBef>
                <a:spcPts val="0"/>
              </a:spcBef>
              <a:spcAft>
                <a:spcPts val="0"/>
              </a:spcAft>
              <a:buSzPts val="2000"/>
              <a:buChar char="❏"/>
            </a:pPr>
            <a:r>
              <a:rPr lang="en" sz="1733" dirty="0">
                <a:solidFill>
                  <a:srgbClr val="475569"/>
                </a:solidFill>
                <a:latin typeface="Aptos"/>
                <a:ea typeface="Hepta Slab"/>
                <a:cs typeface="Hepta Slab"/>
                <a:sym typeface="Hepta Slab"/>
              </a:rPr>
              <a:t>Critical issues are generally resolved faster due to prioritization. </a:t>
            </a:r>
            <a:endParaRPr sz="1733" dirty="0">
              <a:latin typeface="Hepta Slab"/>
              <a:ea typeface="Hepta Slab"/>
              <a:cs typeface="Hepta Slab"/>
              <a:sym typeface="Hepta Slab"/>
            </a:endParaRPr>
          </a:p>
          <a:p>
            <a:pPr marL="609600" lvl="0" indent="-431800" algn="l" rtl="0">
              <a:lnSpc>
                <a:spcPct val="115000"/>
              </a:lnSpc>
              <a:spcBef>
                <a:spcPts val="0"/>
              </a:spcBef>
              <a:spcAft>
                <a:spcPts val="0"/>
              </a:spcAft>
              <a:buSzPts val="2000"/>
              <a:buChar char="❏"/>
            </a:pPr>
            <a:r>
              <a:rPr lang="en" sz="1733" dirty="0">
                <a:solidFill>
                  <a:srgbClr val="475569"/>
                </a:solidFill>
                <a:latin typeface="Aptos"/>
                <a:ea typeface="Hepta Slab"/>
                <a:cs typeface="Hepta Slab"/>
                <a:sym typeface="Hepta Slab"/>
              </a:rPr>
              <a:t>Resolution time does not consistently increase with severity.</a:t>
            </a:r>
            <a:endParaRPr sz="1733" dirty="0">
              <a:latin typeface="Hepta Slab"/>
              <a:ea typeface="Hepta Slab"/>
              <a:cs typeface="Hepta Slab"/>
              <a:sym typeface="Hepta Slab"/>
            </a:endParaRPr>
          </a:p>
          <a:p>
            <a:pPr marL="0" lvl="0" indent="0" algn="l" rtl="0">
              <a:lnSpc>
                <a:spcPct val="100000"/>
              </a:lnSpc>
              <a:spcBef>
                <a:spcPts val="1600"/>
              </a:spcBef>
              <a:spcAft>
                <a:spcPts val="0"/>
              </a:spcAft>
              <a:buSzPts val="2000"/>
              <a:buNone/>
            </a:pPr>
            <a:br>
              <a:rPr lang="en" sz="2133" dirty="0"/>
            </a:br>
            <a:endParaRPr sz="2133" dirty="0"/>
          </a:p>
        </p:txBody>
      </p:sp>
      <p:sp>
        <p:nvSpPr>
          <p:cNvPr id="463" name="Google Shape;463;p11"/>
          <p:cNvSpPr txBox="1">
            <a:spLocks noGrp="1"/>
          </p:cNvSpPr>
          <p:nvPr>
            <p:ph type="body" idx="4294967295"/>
          </p:nvPr>
        </p:nvSpPr>
        <p:spPr>
          <a:xfrm>
            <a:off x="0" y="5916084"/>
            <a:ext cx="11501967" cy="762000"/>
          </a:xfrm>
          <a:prstGeom prst="rect">
            <a:avLst/>
          </a:prstGeom>
          <a:noFill/>
          <a:ln w="12700" cap="flat" cmpd="sng">
            <a:solidFill>
              <a:srgbClr val="FFFFFF"/>
            </a:solidFill>
            <a:prstDash val="solid"/>
            <a:round/>
            <a:headEnd type="none" w="sm" len="sm"/>
            <a:tailEnd type="none" w="sm" len="sm"/>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000"/>
              <a:buNone/>
            </a:pPr>
            <a:r>
              <a:rPr lang="en" sz="1600">
                <a:solidFill>
                  <a:srgbClr val="475569"/>
                </a:solidFill>
                <a:latin typeface="Aptos"/>
                <a:ea typeface="Hepta Slab SemiBold"/>
                <a:cs typeface="Hepta Slab SemiBold"/>
                <a:sym typeface="Hepta Slab SemiBold"/>
              </a:rPr>
              <a:t>Business Impact:</a:t>
            </a:r>
            <a:endParaRPr sz="1467">
              <a:latin typeface="Hepta Slab SemiBold"/>
              <a:ea typeface="Hepta Slab SemiBold"/>
              <a:cs typeface="Hepta Slab SemiBold"/>
              <a:sym typeface="Hepta Slab SemiBold"/>
            </a:endParaRPr>
          </a:p>
          <a:p>
            <a:pPr marL="0" lvl="0" indent="0" algn="ctr" rtl="0">
              <a:lnSpc>
                <a:spcPct val="100000"/>
              </a:lnSpc>
              <a:spcBef>
                <a:spcPts val="0"/>
              </a:spcBef>
              <a:spcAft>
                <a:spcPts val="0"/>
              </a:spcAft>
              <a:buSzPts val="2000"/>
              <a:buNone/>
            </a:pPr>
            <a:r>
              <a:rPr lang="en" sz="1467">
                <a:solidFill>
                  <a:srgbClr val="475569"/>
                </a:solidFill>
                <a:latin typeface="Aptos"/>
                <a:ea typeface="Hepta Slab Medium"/>
                <a:cs typeface="Hepta Slab Medium"/>
                <a:sym typeface="Hepta Slab Medium"/>
              </a:rPr>
              <a:t>Support teams may prioritize high-severity tickets, resulting in faster resolution despite higher urgency.</a:t>
            </a:r>
            <a:endParaRPr sz="1467">
              <a:latin typeface="Hepta Slab Medium"/>
              <a:ea typeface="Hepta Slab Medium"/>
              <a:cs typeface="Hepta Slab Medium"/>
              <a:sym typeface="Hepta Slab Medium"/>
            </a:endParaRPr>
          </a:p>
          <a:p>
            <a:pPr marL="0" lvl="0" indent="0" algn="ctr" rtl="0">
              <a:lnSpc>
                <a:spcPct val="100000"/>
              </a:lnSpc>
              <a:spcBef>
                <a:spcPts val="0"/>
              </a:spcBef>
              <a:spcAft>
                <a:spcPts val="0"/>
              </a:spcAft>
              <a:buSzPts val="2000"/>
              <a:buNone/>
            </a:pPr>
            <a:endParaRPr sz="1467"/>
          </a:p>
          <a:p>
            <a:pPr marL="0" lvl="0" indent="0" algn="ctr" rtl="0">
              <a:lnSpc>
                <a:spcPct val="100000"/>
              </a:lnSpc>
              <a:spcBef>
                <a:spcPts val="0"/>
              </a:spcBef>
              <a:spcAft>
                <a:spcPts val="0"/>
              </a:spcAft>
              <a:buSzPts val="2000"/>
              <a:buNone/>
            </a:pPr>
            <a:endParaRPr sz="1467"/>
          </a:p>
          <a:p>
            <a:pPr marL="0" lvl="0" indent="0" algn="ctr" rtl="0">
              <a:lnSpc>
                <a:spcPct val="100000"/>
              </a:lnSpc>
              <a:spcBef>
                <a:spcPts val="0"/>
              </a:spcBef>
              <a:spcAft>
                <a:spcPts val="0"/>
              </a:spcAft>
              <a:buSzPts val="2000"/>
              <a:buNone/>
            </a:pPr>
            <a:endParaRPr sz="1467"/>
          </a:p>
        </p:txBody>
      </p:sp>
      <p:graphicFrame>
        <p:nvGraphicFramePr>
          <p:cNvPr id="2" name="Chart 1">
            <a:extLst>
              <a:ext uri="{FF2B5EF4-FFF2-40B4-BE49-F238E27FC236}">
                <a16:creationId xmlns:a16="http://schemas.microsoft.com/office/drawing/2014/main" id="{88545222-0B33-45D5-8768-86FE2EE177AD}"/>
              </a:ext>
            </a:extLst>
          </p:cNvPr>
          <p:cNvGraphicFramePr>
            <a:graphicFrameLocks/>
          </p:cNvGraphicFramePr>
          <p:nvPr>
            <p:extLst>
              <p:ext uri="{D42A27DB-BD31-4B8C-83A1-F6EECF244321}">
                <p14:modId xmlns:p14="http://schemas.microsoft.com/office/powerpoint/2010/main" val="2555639336"/>
              </p:ext>
            </p:extLst>
          </p:nvPr>
        </p:nvGraphicFramePr>
        <p:xfrm>
          <a:off x="800555" y="1603989"/>
          <a:ext cx="6338375" cy="4311476"/>
        </p:xfrm>
        <a:graphic>
          <a:graphicData uri="http://schemas.openxmlformats.org/drawingml/2006/chart">
            <c:chart xmlns:c="http://schemas.openxmlformats.org/drawingml/2006/chart" xmlns:r="http://schemas.openxmlformats.org/officeDocument/2006/relationships" r:id="rId3"/>
          </a:graphicData>
        </a:graphic>
      </p:graphicFrame>
      <p:sp>
        <p:nvSpPr>
          <p:cNvPr id="464" name="Rectangle 463"/>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8"/>
        <p:cNvGrpSpPr/>
        <p:nvPr/>
      </p:nvGrpSpPr>
      <p:grpSpPr>
        <a:xfrm>
          <a:off x="0" y="0"/>
          <a:ext cx="0" cy="0"/>
          <a:chOff x="0" y="0"/>
          <a:chExt cx="0" cy="0"/>
        </a:xfrm>
      </p:grpSpPr>
      <p:sp>
        <p:nvSpPr>
          <p:cNvPr id="469" name="Google Shape;469;p12"/>
          <p:cNvSpPr/>
          <p:nvPr/>
        </p:nvSpPr>
        <p:spPr>
          <a:xfrm>
            <a:off x="596733" y="5989967"/>
            <a:ext cx="11389200" cy="367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2F2F3"/>
              </a:buClr>
              <a:buSzPts val="3667"/>
              <a:buFont typeface="Poppins Light"/>
              <a:buNone/>
            </a:pPr>
            <a:r>
              <a:rPr lang="en" sz="2067" b="0" i="0" u="none" strike="noStrike" cap="none">
                <a:solidFill>
                  <a:srgbClr val="475569"/>
                </a:solidFill>
                <a:latin typeface="Aptos"/>
                <a:ea typeface="Hepta Slab SemiBold"/>
                <a:cs typeface="Hepta Slab SemiBold"/>
                <a:sym typeface="Hepta Slab SemiBold"/>
              </a:rPr>
              <a:t>Business Impact </a:t>
            </a:r>
            <a:r>
              <a:rPr lang="en" sz="2067" b="0" i="0" u="none" strike="noStrike" cap="none">
                <a:solidFill>
                  <a:srgbClr val="475569"/>
                </a:solidFill>
                <a:latin typeface="Aptos"/>
                <a:ea typeface="Poppins Light"/>
                <a:cs typeface="Poppins Light"/>
                <a:sym typeface="Poppins Light"/>
              </a:rPr>
              <a:t>: </a:t>
            </a:r>
            <a:r>
              <a:rPr lang="en" sz="1400" b="0" i="0" u="none" strike="noStrike" cap="none">
                <a:solidFill>
                  <a:srgbClr val="475569"/>
                </a:solidFill>
                <a:latin typeface="Aptos"/>
                <a:ea typeface="Hepta Slab Medium"/>
                <a:cs typeface="Hepta Slab Medium"/>
                <a:sym typeface="Hepta Slab Medium"/>
              </a:rPr>
              <a:t>Increasing ticket volumes highlight the importance of efficient support processes, workforce planning, and technology investments to maintain service quality.</a:t>
            </a:r>
            <a:endParaRPr sz="1667" b="0" i="0" u="none" strike="noStrike" cap="none">
              <a:solidFill>
                <a:srgbClr val="000000"/>
              </a:solidFill>
              <a:latin typeface="Hepta Slab Medium"/>
              <a:ea typeface="Hepta Slab Medium"/>
              <a:cs typeface="Hepta Slab Medium"/>
              <a:sym typeface="Hepta Slab Medium"/>
            </a:endParaRPr>
          </a:p>
        </p:txBody>
      </p:sp>
      <p:sp>
        <p:nvSpPr>
          <p:cNvPr id="470" name="Google Shape;470;p12"/>
          <p:cNvSpPr txBox="1">
            <a:spLocks noGrp="1"/>
          </p:cNvSpPr>
          <p:nvPr>
            <p:ph type="title"/>
          </p:nvPr>
        </p:nvSpPr>
        <p:spPr>
          <a:xfrm>
            <a:off x="929800" y="164200"/>
            <a:ext cx="103324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Ticket Volume Trend Analysis</a:t>
            </a:r>
            <a:endParaRPr sz="4000" b="1" dirty="0">
              <a:solidFill>
                <a:srgbClr val="FF0000"/>
              </a:solidFill>
            </a:endParaRPr>
          </a:p>
        </p:txBody>
      </p:sp>
      <p:sp>
        <p:nvSpPr>
          <p:cNvPr id="471" name="Google Shape;471;p12"/>
          <p:cNvSpPr txBox="1">
            <a:spLocks noGrp="1"/>
          </p:cNvSpPr>
          <p:nvPr>
            <p:ph type="title" idx="2"/>
          </p:nvPr>
        </p:nvSpPr>
        <p:spPr>
          <a:xfrm>
            <a:off x="7093667" y="1333000"/>
            <a:ext cx="4737200" cy="3551756"/>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867"/>
              </a:spcBef>
              <a:spcAft>
                <a:spcPts val="0"/>
              </a:spcAft>
              <a:buSzPts val="4800"/>
              <a:buNone/>
            </a:pPr>
            <a:r>
              <a:rPr lang="en" sz="2133" b="1" dirty="0">
                <a:solidFill>
                  <a:srgbClr val="475569"/>
                </a:solidFill>
                <a:latin typeface="Aptos"/>
                <a:ea typeface="Hepta Slab SemiBold"/>
                <a:cs typeface="Hepta Slab SemiBold"/>
                <a:sym typeface="Hepta Slab SemiBold"/>
              </a:rPr>
              <a:t> Key Insights</a:t>
            </a:r>
            <a:endParaRPr sz="2133" dirty="0">
              <a:latin typeface="Hepta Slab SemiBold"/>
              <a:ea typeface="Hepta Slab SemiBold"/>
              <a:cs typeface="Hepta Slab SemiBold"/>
              <a:sym typeface="Hepta Slab SemiBold"/>
            </a:endParaRPr>
          </a:p>
          <a:p>
            <a:pPr marL="609600" lvl="0" indent="-414867" algn="l" rtl="0">
              <a:lnSpc>
                <a:spcPct val="150000"/>
              </a:lnSpc>
              <a:spcBef>
                <a:spcPts val="160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Ticket volume increased over the analysis period.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Peak ticket volumes occurred during 2020.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Recurring fluctuations suggest cyclical workload patterns. </a:t>
            </a:r>
            <a:endParaRPr sz="1867" dirty="0">
              <a:latin typeface="Arial"/>
              <a:ea typeface="Arial"/>
              <a:cs typeface="Arial"/>
              <a:sym typeface="Arial"/>
            </a:endParaRPr>
          </a:p>
          <a:p>
            <a:pPr marL="0" lvl="0" indent="0" algn="l" rtl="0">
              <a:lnSpc>
                <a:spcPct val="100000"/>
              </a:lnSpc>
              <a:spcBef>
                <a:spcPts val="1600"/>
              </a:spcBef>
              <a:spcAft>
                <a:spcPts val="0"/>
              </a:spcAft>
              <a:buSzPts val="4800"/>
              <a:buNone/>
            </a:pPr>
            <a:endParaRPr sz="2133" dirty="0"/>
          </a:p>
        </p:txBody>
      </p:sp>
      <p:graphicFrame>
        <p:nvGraphicFramePr>
          <p:cNvPr id="2" name="Chart 1">
            <a:extLst>
              <a:ext uri="{FF2B5EF4-FFF2-40B4-BE49-F238E27FC236}">
                <a16:creationId xmlns:a16="http://schemas.microsoft.com/office/drawing/2014/main" id="{E8C4B9A9-9B4E-3510-43C0-FDDA48AB8BE5}"/>
              </a:ext>
            </a:extLst>
          </p:cNvPr>
          <p:cNvGraphicFramePr>
            <a:graphicFrameLocks/>
          </p:cNvGraphicFramePr>
          <p:nvPr>
            <p:extLst>
              <p:ext uri="{D42A27DB-BD31-4B8C-83A1-F6EECF244321}">
                <p14:modId xmlns:p14="http://schemas.microsoft.com/office/powerpoint/2010/main" val="562946801"/>
              </p:ext>
            </p:extLst>
          </p:nvPr>
        </p:nvGraphicFramePr>
        <p:xfrm>
          <a:off x="361133" y="1497200"/>
          <a:ext cx="6451269" cy="4440200"/>
        </p:xfrm>
        <a:graphic>
          <a:graphicData uri="http://schemas.openxmlformats.org/drawingml/2006/chart">
            <c:chart xmlns:c="http://schemas.openxmlformats.org/drawingml/2006/chart" xmlns:r="http://schemas.openxmlformats.org/officeDocument/2006/relationships" r:id="rId3"/>
          </a:graphicData>
        </a:graphic>
      </p:graphicFrame>
      <p:sp>
        <p:nvSpPr>
          <p:cNvPr id="474" name="Rectangle 473"/>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7"/>
        <p:cNvGrpSpPr/>
        <p:nvPr/>
      </p:nvGrpSpPr>
      <p:grpSpPr>
        <a:xfrm>
          <a:off x="0" y="0"/>
          <a:ext cx="0" cy="0"/>
          <a:chOff x="0" y="0"/>
          <a:chExt cx="0" cy="0"/>
        </a:xfrm>
      </p:grpSpPr>
      <p:sp>
        <p:nvSpPr>
          <p:cNvPr id="478" name="Google Shape;478;p14"/>
          <p:cNvSpPr txBox="1">
            <a:spLocks noGrp="1"/>
          </p:cNvSpPr>
          <p:nvPr>
            <p:ph type="title"/>
          </p:nvPr>
        </p:nvSpPr>
        <p:spPr>
          <a:xfrm>
            <a:off x="203200" y="164200"/>
            <a:ext cx="117268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a:solidFill>
                  <a:srgbClr val="12375C"/>
                </a:solidFill>
                <a:latin typeface="Aptos"/>
              </a:rPr>
              <a:t>Customer Satisfaction Trend Analysis</a:t>
            </a:r>
            <a:endParaRPr sz="4000">
              <a:solidFill>
                <a:srgbClr val="FF0000"/>
              </a:solidFill>
            </a:endParaRPr>
          </a:p>
        </p:txBody>
      </p:sp>
      <p:sp>
        <p:nvSpPr>
          <p:cNvPr id="479" name="Google Shape;479;p14"/>
          <p:cNvSpPr txBox="1">
            <a:spLocks noGrp="1"/>
          </p:cNvSpPr>
          <p:nvPr>
            <p:ph type="title" idx="2"/>
          </p:nvPr>
        </p:nvSpPr>
        <p:spPr>
          <a:xfrm>
            <a:off x="7015373" y="1024529"/>
            <a:ext cx="4737200" cy="3514421"/>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867"/>
              </a:spcBef>
              <a:spcAft>
                <a:spcPts val="0"/>
              </a:spcAft>
              <a:buSzPts val="4800"/>
              <a:buNone/>
            </a:pPr>
            <a:r>
              <a:rPr lang="en" sz="2133" dirty="0">
                <a:solidFill>
                  <a:srgbClr val="475569"/>
                </a:solidFill>
                <a:latin typeface="Aptos"/>
                <a:ea typeface="Hepta Slab SemiBold"/>
                <a:cs typeface="Hepta Slab SemiBold"/>
                <a:sym typeface="Hepta Slab SemiBold"/>
              </a:rPr>
              <a:t>Key Insights</a:t>
            </a:r>
            <a:endParaRPr sz="2133" dirty="0">
              <a:latin typeface="Hepta Slab SemiBold"/>
              <a:ea typeface="Hepta Slab SemiBold"/>
              <a:cs typeface="Hepta Slab SemiBold"/>
              <a:sym typeface="Hepta Slab SemiBold"/>
            </a:endParaRPr>
          </a:p>
          <a:p>
            <a:pPr marL="609600" lvl="0" indent="-414867" algn="l" rtl="0">
              <a:lnSpc>
                <a:spcPct val="150000"/>
              </a:lnSpc>
              <a:spcBef>
                <a:spcPts val="160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Satisfaction remained consistently high throughout the analysis period.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Satisfaction improved gradually over time.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Increased ticket volume did not significantly reduce satisfaction levels. </a:t>
            </a:r>
            <a:endParaRPr sz="1867" dirty="0">
              <a:latin typeface="Arial"/>
              <a:ea typeface="Arial"/>
              <a:cs typeface="Arial"/>
              <a:sym typeface="Arial"/>
            </a:endParaRPr>
          </a:p>
          <a:p>
            <a:pPr marL="0" lvl="0" indent="0" algn="l" rtl="0">
              <a:lnSpc>
                <a:spcPct val="100000"/>
              </a:lnSpc>
              <a:spcBef>
                <a:spcPts val="1600"/>
              </a:spcBef>
              <a:spcAft>
                <a:spcPts val="0"/>
              </a:spcAft>
              <a:buSzPts val="4800"/>
              <a:buNone/>
            </a:pPr>
            <a:endParaRPr sz="2133" dirty="0"/>
          </a:p>
        </p:txBody>
      </p:sp>
      <p:graphicFrame>
        <p:nvGraphicFramePr>
          <p:cNvPr id="2" name="Chart 1">
            <a:extLst>
              <a:ext uri="{FF2B5EF4-FFF2-40B4-BE49-F238E27FC236}">
                <a16:creationId xmlns:a16="http://schemas.microsoft.com/office/drawing/2014/main" id="{07F5655C-6663-42CE-35B9-8DD97BEF5882}"/>
              </a:ext>
            </a:extLst>
          </p:cNvPr>
          <p:cNvGraphicFramePr>
            <a:graphicFrameLocks/>
          </p:cNvGraphicFramePr>
          <p:nvPr>
            <p:extLst>
              <p:ext uri="{D42A27DB-BD31-4B8C-83A1-F6EECF244321}">
                <p14:modId xmlns:p14="http://schemas.microsoft.com/office/powerpoint/2010/main" val="1741136206"/>
              </p:ext>
            </p:extLst>
          </p:nvPr>
        </p:nvGraphicFramePr>
        <p:xfrm>
          <a:off x="476251" y="1204512"/>
          <a:ext cx="6266072" cy="5288096"/>
        </p:xfrm>
        <a:graphic>
          <a:graphicData uri="http://schemas.openxmlformats.org/drawingml/2006/chart">
            <c:chart xmlns:c="http://schemas.openxmlformats.org/drawingml/2006/chart" xmlns:r="http://schemas.openxmlformats.org/officeDocument/2006/relationships" r:id="rId3"/>
          </a:graphicData>
        </a:graphic>
      </p:graphicFrame>
      <p:sp>
        <p:nvSpPr>
          <p:cNvPr id="482" name="Rectangle 481"/>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5"/>
        <p:cNvGrpSpPr/>
        <p:nvPr/>
      </p:nvGrpSpPr>
      <p:grpSpPr>
        <a:xfrm>
          <a:off x="0" y="0"/>
          <a:ext cx="0" cy="0"/>
          <a:chOff x="0" y="0"/>
          <a:chExt cx="0" cy="0"/>
        </a:xfrm>
      </p:grpSpPr>
      <p:sp>
        <p:nvSpPr>
          <p:cNvPr id="486" name="Google Shape;486;p19"/>
          <p:cNvSpPr txBox="1">
            <a:spLocks noGrp="1"/>
          </p:cNvSpPr>
          <p:nvPr>
            <p:ph type="title"/>
          </p:nvPr>
        </p:nvSpPr>
        <p:spPr>
          <a:xfrm>
            <a:off x="929800" y="164200"/>
            <a:ext cx="103324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Workforce Demographics Analysis</a:t>
            </a:r>
            <a:endParaRPr sz="4000" b="1" dirty="0">
              <a:solidFill>
                <a:srgbClr val="FF0000"/>
              </a:solidFill>
            </a:endParaRPr>
          </a:p>
        </p:txBody>
      </p:sp>
      <p:sp>
        <p:nvSpPr>
          <p:cNvPr id="487" name="Google Shape;487;p19"/>
          <p:cNvSpPr txBox="1">
            <a:spLocks noGrp="1"/>
          </p:cNvSpPr>
          <p:nvPr>
            <p:ph type="title" idx="2"/>
          </p:nvPr>
        </p:nvSpPr>
        <p:spPr>
          <a:xfrm>
            <a:off x="7093667" y="1333000"/>
            <a:ext cx="4737200" cy="3566445"/>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1867"/>
              </a:spcBef>
              <a:spcAft>
                <a:spcPts val="0"/>
              </a:spcAft>
              <a:buSzPts val="4800"/>
              <a:buNone/>
            </a:pPr>
            <a:r>
              <a:rPr lang="en" sz="2133" dirty="0">
                <a:solidFill>
                  <a:srgbClr val="475569"/>
                </a:solidFill>
                <a:latin typeface="Aptos"/>
                <a:ea typeface="Hepta Slab SemiBold"/>
                <a:cs typeface="Hepta Slab SemiBold"/>
                <a:sym typeface="Hepta Slab SemiBold"/>
              </a:rPr>
              <a:t>Key Insights</a:t>
            </a:r>
            <a:endParaRPr sz="2133" dirty="0">
              <a:latin typeface="Hepta Slab SemiBold"/>
              <a:ea typeface="Hepta Slab SemiBold"/>
              <a:cs typeface="Hepta Slab SemiBold"/>
              <a:sym typeface="Hepta Slab SemiBold"/>
            </a:endParaRPr>
          </a:p>
          <a:p>
            <a:pPr marL="609600" lvl="0" indent="-414867" algn="l" rtl="0">
              <a:lnSpc>
                <a:spcPct val="150000"/>
              </a:lnSpc>
              <a:spcBef>
                <a:spcPts val="160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Satisfaction ratings remain relatively consistent across age groups.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No significant performance differences are observed between age groups.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Employee satisfaction remains above 4.0 across the workforce. </a:t>
            </a:r>
            <a:endParaRPr sz="1867" dirty="0">
              <a:latin typeface="Arial"/>
              <a:ea typeface="Arial"/>
              <a:cs typeface="Arial"/>
              <a:sym typeface="Arial"/>
            </a:endParaRPr>
          </a:p>
          <a:p>
            <a:pPr marL="0" lvl="0" indent="0" algn="l" rtl="0">
              <a:lnSpc>
                <a:spcPct val="150000"/>
              </a:lnSpc>
              <a:spcBef>
                <a:spcPts val="1600"/>
              </a:spcBef>
              <a:spcAft>
                <a:spcPts val="0"/>
              </a:spcAft>
              <a:buSzPts val="4800"/>
              <a:buNone/>
            </a:pPr>
            <a:endParaRPr sz="2133" dirty="0"/>
          </a:p>
        </p:txBody>
      </p:sp>
      <p:graphicFrame>
        <p:nvGraphicFramePr>
          <p:cNvPr id="2" name="Chart 1">
            <a:extLst>
              <a:ext uri="{FF2B5EF4-FFF2-40B4-BE49-F238E27FC236}">
                <a16:creationId xmlns:a16="http://schemas.microsoft.com/office/drawing/2014/main" id="{313EEDAE-A082-F164-C084-5DF4686F2C05}"/>
              </a:ext>
            </a:extLst>
          </p:cNvPr>
          <p:cNvGraphicFramePr>
            <a:graphicFrameLocks/>
          </p:cNvGraphicFramePr>
          <p:nvPr>
            <p:extLst>
              <p:ext uri="{D42A27DB-BD31-4B8C-83A1-F6EECF244321}">
                <p14:modId xmlns:p14="http://schemas.microsoft.com/office/powerpoint/2010/main" val="1515317813"/>
              </p:ext>
            </p:extLst>
          </p:nvPr>
        </p:nvGraphicFramePr>
        <p:xfrm>
          <a:off x="929800" y="1497199"/>
          <a:ext cx="5726339" cy="4848516"/>
        </p:xfrm>
        <a:graphic>
          <a:graphicData uri="http://schemas.openxmlformats.org/drawingml/2006/chart">
            <c:chart xmlns:c="http://schemas.openxmlformats.org/drawingml/2006/chart" xmlns:r="http://schemas.openxmlformats.org/officeDocument/2006/relationships" r:id="rId3"/>
          </a:graphicData>
        </a:graphic>
      </p:graphicFrame>
      <p:sp>
        <p:nvSpPr>
          <p:cNvPr id="490" name="Rectangle 489"/>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3"/>
        <p:cNvGrpSpPr/>
        <p:nvPr/>
      </p:nvGrpSpPr>
      <p:grpSpPr>
        <a:xfrm>
          <a:off x="0" y="0"/>
          <a:ext cx="0" cy="0"/>
          <a:chOff x="0" y="0"/>
          <a:chExt cx="0" cy="0"/>
        </a:xfrm>
      </p:grpSpPr>
      <p:sp>
        <p:nvSpPr>
          <p:cNvPr id="494" name="Google Shape;494;p20"/>
          <p:cNvSpPr txBox="1">
            <a:spLocks noGrp="1"/>
          </p:cNvSpPr>
          <p:nvPr>
            <p:ph type="title"/>
          </p:nvPr>
        </p:nvSpPr>
        <p:spPr>
          <a:xfrm>
            <a:off x="929800" y="164200"/>
            <a:ext cx="10332400" cy="11688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a:solidFill>
                  <a:srgbClr val="12375C"/>
                </a:solidFill>
                <a:latin typeface="Aptos"/>
              </a:rPr>
              <a:t>Severity &amp; Service Quality Analysis</a:t>
            </a:r>
            <a:endParaRPr sz="4000">
              <a:solidFill>
                <a:srgbClr val="FF0000"/>
              </a:solidFill>
            </a:endParaRPr>
          </a:p>
        </p:txBody>
      </p:sp>
      <p:sp>
        <p:nvSpPr>
          <p:cNvPr id="495" name="Google Shape;495;p20"/>
          <p:cNvSpPr txBox="1">
            <a:spLocks noGrp="1"/>
          </p:cNvSpPr>
          <p:nvPr>
            <p:ph type="title" idx="2"/>
          </p:nvPr>
        </p:nvSpPr>
        <p:spPr>
          <a:xfrm>
            <a:off x="7093667" y="1333000"/>
            <a:ext cx="4737200" cy="4604400"/>
          </a:xfrm>
          <a:prstGeom prst="rect">
            <a:avLst/>
          </a:prstGeom>
          <a:noFill/>
          <a:ln>
            <a:noFill/>
          </a:ln>
        </p:spPr>
        <p:txBody>
          <a:bodyPr spcFirstLastPara="1" wrap="square" lIns="91425" tIns="91425" rIns="91425" bIns="91425" anchor="ctr" anchorCtr="0">
            <a:noAutofit/>
          </a:bodyPr>
          <a:lstStyle/>
          <a:p>
            <a:pPr marL="0" lvl="0" indent="0" algn="l" rtl="0">
              <a:lnSpc>
                <a:spcPct val="150000"/>
              </a:lnSpc>
              <a:spcBef>
                <a:spcPts val="1867"/>
              </a:spcBef>
              <a:spcAft>
                <a:spcPts val="0"/>
              </a:spcAft>
              <a:buSzPts val="4800"/>
              <a:buNone/>
            </a:pPr>
            <a:r>
              <a:rPr lang="en" sz="2133" dirty="0">
                <a:solidFill>
                  <a:srgbClr val="475569"/>
                </a:solidFill>
                <a:latin typeface="Aptos"/>
                <a:ea typeface="Hepta Slab SemiBold"/>
                <a:cs typeface="Hepta Slab SemiBold"/>
                <a:sym typeface="Hepta Slab SemiBold"/>
              </a:rPr>
              <a:t>Key Insights</a:t>
            </a:r>
            <a:endParaRPr sz="2133" dirty="0">
              <a:latin typeface="Hepta Slab SemiBold"/>
              <a:ea typeface="Hepta Slab SemiBold"/>
              <a:cs typeface="Hepta Slab SemiBold"/>
              <a:sym typeface="Hepta Slab SemiBold"/>
            </a:endParaRPr>
          </a:p>
          <a:p>
            <a:pPr marL="609600" lvl="0" indent="-414867" algn="l" rtl="0">
              <a:lnSpc>
                <a:spcPct val="150000"/>
              </a:lnSpc>
              <a:spcBef>
                <a:spcPts val="160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Most tickets fall under Severity Level 2.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High-severity tickets represent a smaller portion of the workload. </a:t>
            </a:r>
            <a:endParaRPr sz="1733" dirty="0">
              <a:latin typeface="Hepta Slab"/>
              <a:ea typeface="Hepta Slab"/>
              <a:cs typeface="Hepta Slab"/>
              <a:sym typeface="Hepta Slab"/>
            </a:endParaRPr>
          </a:p>
          <a:p>
            <a:pPr marL="609600" lvl="0" indent="-414867" algn="l" rtl="0">
              <a:lnSpc>
                <a:spcPct val="150000"/>
              </a:lnSpc>
              <a:spcBef>
                <a:spcPts val="0"/>
              </a:spcBef>
              <a:spcAft>
                <a:spcPts val="0"/>
              </a:spcAft>
              <a:buClr>
                <a:srgbClr val="FF0000"/>
              </a:buClr>
              <a:buSzPts val="1733"/>
              <a:buFont typeface="Hepta Slab"/>
              <a:buChar char="❏"/>
            </a:pPr>
            <a:r>
              <a:rPr lang="en" sz="1733" dirty="0">
                <a:solidFill>
                  <a:srgbClr val="475569"/>
                </a:solidFill>
                <a:latin typeface="Aptos"/>
                <a:ea typeface="Hepta Slab"/>
                <a:cs typeface="Hepta Slab"/>
                <a:sym typeface="Hepta Slab"/>
              </a:rPr>
              <a:t>Operations primarily focus on moderate and recurring issues. </a:t>
            </a:r>
            <a:endParaRPr sz="1867" dirty="0">
              <a:latin typeface="Arial"/>
              <a:ea typeface="Arial"/>
              <a:cs typeface="Arial"/>
              <a:sym typeface="Arial"/>
            </a:endParaRPr>
          </a:p>
          <a:p>
            <a:pPr marL="0" lvl="0" indent="0" algn="l" rtl="0">
              <a:lnSpc>
                <a:spcPct val="150000"/>
              </a:lnSpc>
              <a:spcBef>
                <a:spcPts val="1600"/>
              </a:spcBef>
              <a:spcAft>
                <a:spcPts val="0"/>
              </a:spcAft>
              <a:buSzPts val="4800"/>
              <a:buNone/>
            </a:pPr>
            <a:endParaRPr sz="2133" dirty="0"/>
          </a:p>
        </p:txBody>
      </p:sp>
      <p:sp>
        <p:nvSpPr>
          <p:cNvPr id="498" name="Rectangle 497"/>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Chart 2">
            <a:extLst>
              <a:ext uri="{FF2B5EF4-FFF2-40B4-BE49-F238E27FC236}">
                <a16:creationId xmlns:a16="http://schemas.microsoft.com/office/drawing/2014/main" id="{7C6F03EB-7EA9-4483-AAC1-0390080574DC}"/>
              </a:ext>
            </a:extLst>
          </p:cNvPr>
          <p:cNvGraphicFramePr>
            <a:graphicFrameLocks/>
          </p:cNvGraphicFramePr>
          <p:nvPr>
            <p:extLst>
              <p:ext uri="{D42A27DB-BD31-4B8C-83A1-F6EECF244321}">
                <p14:modId xmlns:p14="http://schemas.microsoft.com/office/powerpoint/2010/main" val="980673310"/>
              </p:ext>
            </p:extLst>
          </p:nvPr>
        </p:nvGraphicFramePr>
        <p:xfrm>
          <a:off x="361134" y="1879600"/>
          <a:ext cx="6393628" cy="437174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1"/>
        <p:cNvGrpSpPr/>
        <p:nvPr/>
      </p:nvGrpSpPr>
      <p:grpSpPr>
        <a:xfrm>
          <a:off x="0" y="0"/>
          <a:ext cx="0" cy="0"/>
          <a:chOff x="0" y="0"/>
          <a:chExt cx="0" cy="0"/>
        </a:xfrm>
      </p:grpSpPr>
      <p:sp>
        <p:nvSpPr>
          <p:cNvPr id="502" name="Google Shape;502;p21"/>
          <p:cNvSpPr txBox="1"/>
          <p:nvPr/>
        </p:nvSpPr>
        <p:spPr>
          <a:xfrm>
            <a:off x="497000" y="1975600"/>
            <a:ext cx="5278800" cy="326800"/>
          </a:xfrm>
          <a:prstGeom prst="rect">
            <a:avLst/>
          </a:prstGeom>
          <a:solidFill>
            <a:schemeClr val="accent1">
              <a:lumMod val="40000"/>
              <a:lumOff val="60000"/>
            </a:schemeClr>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rgbClr val="475569"/>
                </a:solidFill>
                <a:latin typeface="Aptos"/>
                <a:ea typeface="Hepta Slab SemiBold"/>
                <a:cs typeface="Hepta Slab SemiBold"/>
                <a:sym typeface="Hepta Slab SemiBold"/>
              </a:rPr>
              <a:t>Insight 1</a:t>
            </a:r>
            <a:endParaRPr sz="2000" b="1" i="0" u="none" strike="noStrike" cap="none" dirty="0">
              <a:solidFill>
                <a:schemeClr val="lt1"/>
              </a:solidFill>
              <a:latin typeface="Hepta Slab SemiBold"/>
              <a:ea typeface="Hepta Slab SemiBold"/>
              <a:cs typeface="Hepta Slab SemiBold"/>
              <a:sym typeface="Hepta Slab SemiBold"/>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503" name="Google Shape;503;p21"/>
          <p:cNvSpPr txBox="1">
            <a:spLocks noGrp="1"/>
          </p:cNvSpPr>
          <p:nvPr>
            <p:ph type="subTitle" idx="1"/>
          </p:nvPr>
        </p:nvSpPr>
        <p:spPr>
          <a:xfrm>
            <a:off x="1562299" y="334433"/>
            <a:ext cx="9144000" cy="449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67"/>
              <a:buNone/>
            </a:pPr>
            <a:r>
              <a:rPr lang="en" sz="4000" dirty="0">
                <a:solidFill>
                  <a:srgbClr val="12375C"/>
                </a:solidFill>
                <a:latin typeface="Aptos"/>
              </a:rPr>
              <a:t>Key Business Insights</a:t>
            </a:r>
            <a:endParaRPr sz="4000" dirty="0">
              <a:solidFill>
                <a:srgbClr val="FF0000"/>
              </a:solidFill>
            </a:endParaRPr>
          </a:p>
          <a:p>
            <a:pPr marL="0" lvl="0" indent="0" algn="l" rtl="0">
              <a:lnSpc>
                <a:spcPct val="100000"/>
              </a:lnSpc>
              <a:spcBef>
                <a:spcPts val="0"/>
              </a:spcBef>
              <a:spcAft>
                <a:spcPts val="0"/>
              </a:spcAft>
              <a:buSzPts val="1867"/>
              <a:buNone/>
            </a:pPr>
            <a:endParaRPr sz="2133" dirty="0">
              <a:solidFill>
                <a:schemeClr val="dk1"/>
              </a:solidFill>
            </a:endParaRPr>
          </a:p>
        </p:txBody>
      </p:sp>
      <p:sp>
        <p:nvSpPr>
          <p:cNvPr id="504" name="Google Shape;504;p21"/>
          <p:cNvSpPr txBox="1">
            <a:spLocks noGrp="1"/>
          </p:cNvSpPr>
          <p:nvPr>
            <p:ph type="sldNum" idx="12"/>
          </p:nvPr>
        </p:nvSpPr>
        <p:spPr>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467"/>
              <a:buNone/>
            </a:pPr>
            <a:fld id="{00000000-1234-1234-1234-123412341234}" type="slidenum">
              <a:rPr lang="en"/>
              <a:t>16</a:t>
            </a:fld>
            <a:endParaRPr/>
          </a:p>
        </p:txBody>
      </p:sp>
      <p:sp>
        <p:nvSpPr>
          <p:cNvPr id="505" name="Google Shape;505;p21"/>
          <p:cNvSpPr txBox="1"/>
          <p:nvPr/>
        </p:nvSpPr>
        <p:spPr>
          <a:xfrm>
            <a:off x="497000" y="2408600"/>
            <a:ext cx="5278800" cy="3268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chemeClr val="lt1"/>
              </a:buClr>
              <a:buSzPts val="1467"/>
              <a:buFont typeface="Arial"/>
              <a:buNone/>
            </a:pPr>
            <a:r>
              <a:rPr lang="en" sz="2000" b="0" i="0" u="none" strike="noStrike" cap="none" dirty="0">
                <a:solidFill>
                  <a:srgbClr val="475569"/>
                </a:solidFill>
                <a:latin typeface="Aptos"/>
                <a:ea typeface="Hepta Slab Medium"/>
                <a:cs typeface="Hepta Slab Medium"/>
                <a:sym typeface="Hepta Slab Medium"/>
              </a:rPr>
              <a:t>High Support Demand Concentration</a:t>
            </a:r>
            <a:endParaRPr sz="2000" b="0" i="0" u="none" strike="noStrike" cap="none" dirty="0">
              <a:solidFill>
                <a:schemeClr val="lt1"/>
              </a:solidFill>
              <a:latin typeface="Hepta Slab Medium"/>
              <a:ea typeface="Hepta Slab Medium"/>
              <a:cs typeface="Hepta Slab Medium"/>
              <a:sym typeface="Hepta Slab Medium"/>
            </a:endParaRPr>
          </a:p>
          <a:p>
            <a:pPr marL="0" marR="0" lvl="0" indent="0" algn="l" rtl="0">
              <a:lnSpc>
                <a:spcPct val="115000"/>
              </a:lnSpc>
              <a:spcBef>
                <a:spcPts val="4267"/>
              </a:spcBef>
              <a:spcAft>
                <a:spcPts val="0"/>
              </a:spcAft>
              <a:buClr>
                <a:schemeClr val="lt1"/>
              </a:buClr>
              <a:buSzPts val="1467"/>
              <a:buFont typeface="Arial"/>
              <a:buNone/>
            </a:pPr>
            <a:endParaRPr sz="1467" b="0" i="0" u="none" strike="noStrike" cap="none" dirty="0">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506" name="Google Shape;506;p21"/>
          <p:cNvSpPr txBox="1"/>
          <p:nvPr/>
        </p:nvSpPr>
        <p:spPr>
          <a:xfrm>
            <a:off x="412333" y="2841600"/>
            <a:ext cx="5278800" cy="924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4267"/>
              </a:spcAft>
              <a:buClr>
                <a:srgbClr val="000000"/>
              </a:buClr>
              <a:buSzPts val="1600"/>
              <a:buFont typeface="Arial"/>
              <a:buNone/>
            </a:pPr>
            <a:r>
              <a:rPr lang="en" sz="1600" b="0" i="0" u="none" strike="noStrike" cap="none" dirty="0">
                <a:solidFill>
                  <a:srgbClr val="475569"/>
                </a:solidFill>
                <a:latin typeface="Aptos"/>
                <a:ea typeface="Hepta Slab"/>
                <a:cs typeface="Hepta Slab"/>
                <a:sym typeface="Hepta Slab"/>
              </a:rPr>
              <a:t>System and Login Access requests account for approximately 70% of all tickets, indicating that improvements in these areas can significantly reduce overall support workload.</a:t>
            </a:r>
            <a:endParaRPr sz="1600" b="0" i="0" u="none" strike="noStrike" cap="none" dirty="0">
              <a:solidFill>
                <a:schemeClr val="lt1"/>
              </a:solidFill>
              <a:latin typeface="Hepta Slab Medium"/>
              <a:ea typeface="Hepta Slab Medium"/>
              <a:cs typeface="Hepta Slab Medium"/>
              <a:sym typeface="Hepta Slab Medium"/>
            </a:endParaRPr>
          </a:p>
        </p:txBody>
      </p:sp>
      <p:sp>
        <p:nvSpPr>
          <p:cNvPr id="507" name="Google Shape;507;p21"/>
          <p:cNvSpPr txBox="1"/>
          <p:nvPr/>
        </p:nvSpPr>
        <p:spPr>
          <a:xfrm>
            <a:off x="6507100" y="1975600"/>
            <a:ext cx="5278800" cy="326800"/>
          </a:xfrm>
          <a:prstGeom prst="rect">
            <a:avLst/>
          </a:prstGeom>
          <a:solidFill>
            <a:schemeClr val="accent1">
              <a:lumMod val="40000"/>
              <a:lumOff val="60000"/>
            </a:schemeClr>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rgbClr val="475569"/>
                </a:solidFill>
                <a:latin typeface="Aptos"/>
                <a:ea typeface="Hepta Slab SemiBold"/>
                <a:cs typeface="Hepta Slab SemiBold"/>
                <a:sym typeface="Hepta Slab SemiBold"/>
              </a:rPr>
              <a:t>Insight 2</a:t>
            </a:r>
            <a:endParaRPr sz="2000" b="1" i="0" u="none" strike="noStrike" cap="none" dirty="0">
              <a:solidFill>
                <a:schemeClr val="lt1"/>
              </a:solidFill>
              <a:latin typeface="Hepta Slab SemiBold"/>
              <a:ea typeface="Hepta Slab SemiBold"/>
              <a:cs typeface="Hepta Slab SemiBold"/>
              <a:sym typeface="Hepta Slab SemiBold"/>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508" name="Google Shape;508;p21"/>
          <p:cNvSpPr txBox="1"/>
          <p:nvPr/>
        </p:nvSpPr>
        <p:spPr>
          <a:xfrm>
            <a:off x="6507100" y="2408600"/>
            <a:ext cx="5278800" cy="3268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2000"/>
              <a:buFont typeface="Arial"/>
              <a:buNone/>
            </a:pPr>
            <a:r>
              <a:rPr lang="en" sz="2000" b="0" i="0" u="none" strike="noStrike" cap="none" dirty="0">
                <a:solidFill>
                  <a:srgbClr val="475569"/>
                </a:solidFill>
                <a:latin typeface="Aptos"/>
                <a:ea typeface="Hepta Slab Medium"/>
                <a:cs typeface="Hepta Slab Medium"/>
                <a:sym typeface="Hepta Slab Medium"/>
              </a:rPr>
              <a:t>Stable Customer Satisfaction</a:t>
            </a:r>
            <a:endParaRPr sz="2000" b="0" i="0" u="none" strike="noStrike" cap="none" dirty="0">
              <a:solidFill>
                <a:schemeClr val="lt1"/>
              </a:solidFill>
              <a:latin typeface="Hepta Slab Medium"/>
              <a:ea typeface="Hepta Slab Medium"/>
              <a:cs typeface="Hepta Slab Medium"/>
              <a:sym typeface="Hepta Slab Medium"/>
            </a:endParaRPr>
          </a:p>
          <a:p>
            <a:pPr marL="0" marR="0" lvl="0" indent="0" algn="l" rtl="0">
              <a:lnSpc>
                <a:spcPct val="115000"/>
              </a:lnSpc>
              <a:spcBef>
                <a:spcPts val="4267"/>
              </a:spcBef>
              <a:spcAft>
                <a:spcPts val="0"/>
              </a:spcAft>
              <a:buClr>
                <a:srgbClr val="000000"/>
              </a:buClr>
              <a:buSzPts val="1467"/>
              <a:buFont typeface="Arial"/>
              <a:buNone/>
            </a:pPr>
            <a:endParaRPr sz="1467" b="0" i="0" u="none" strike="noStrike" cap="none" dirty="0">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509" name="Google Shape;509;p21"/>
          <p:cNvSpPr txBox="1"/>
          <p:nvPr/>
        </p:nvSpPr>
        <p:spPr>
          <a:xfrm>
            <a:off x="6422433" y="2841600"/>
            <a:ext cx="5278800" cy="924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4267"/>
              </a:spcAft>
              <a:buClr>
                <a:srgbClr val="000000"/>
              </a:buClr>
              <a:buSzPts val="1600"/>
              <a:buFont typeface="Arial"/>
              <a:buNone/>
            </a:pPr>
            <a:r>
              <a:rPr lang="en" sz="1600" i="0" u="none" strike="noStrike" cap="none" dirty="0">
                <a:solidFill>
                  <a:srgbClr val="475569"/>
                </a:solidFill>
                <a:latin typeface="Aptos"/>
                <a:ea typeface="Hepta Slab"/>
                <a:cs typeface="Hepta Slab"/>
                <a:sym typeface="Hepta Slab"/>
              </a:rPr>
              <a:t>Despite fluctuations in ticket volume, average satisfaction remains around 4.1/5, demonstrating consistent service quality.</a:t>
            </a:r>
            <a:endParaRPr sz="1600" i="0" u="none" strike="noStrike" cap="none" dirty="0">
              <a:solidFill>
                <a:schemeClr val="lt1"/>
              </a:solidFill>
              <a:latin typeface="Hepta Slab Medium"/>
              <a:ea typeface="Hepta Slab Medium"/>
              <a:cs typeface="Hepta Slab Medium"/>
              <a:sym typeface="Hepta Slab Medium"/>
            </a:endParaRPr>
          </a:p>
        </p:txBody>
      </p:sp>
      <p:sp>
        <p:nvSpPr>
          <p:cNvPr id="510" name="Google Shape;510;p21"/>
          <p:cNvSpPr txBox="1"/>
          <p:nvPr/>
        </p:nvSpPr>
        <p:spPr>
          <a:xfrm>
            <a:off x="6549433" y="4569784"/>
            <a:ext cx="5278800" cy="326800"/>
          </a:xfrm>
          <a:prstGeom prst="rect">
            <a:avLst/>
          </a:prstGeom>
          <a:solidFill>
            <a:schemeClr val="accent1">
              <a:lumMod val="40000"/>
              <a:lumOff val="60000"/>
            </a:schemeClr>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rgbClr val="475569"/>
                </a:solidFill>
                <a:latin typeface="Aptos"/>
                <a:ea typeface="Hepta Slab SemiBold"/>
                <a:cs typeface="Hepta Slab SemiBold"/>
                <a:sym typeface="Hepta Slab SemiBold"/>
              </a:rPr>
              <a:t>Insight 4</a:t>
            </a:r>
            <a:endParaRPr sz="2000" b="1" i="0" u="none" strike="noStrike" cap="none" dirty="0">
              <a:solidFill>
                <a:schemeClr val="lt1"/>
              </a:solidFill>
              <a:latin typeface="Hepta Slab SemiBold"/>
              <a:ea typeface="Hepta Slab SemiBold"/>
              <a:cs typeface="Hepta Slab SemiBold"/>
              <a:sym typeface="Hepta Slab SemiBold"/>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lt1"/>
              </a:solidFill>
              <a:latin typeface="Hepta Slab Medium"/>
              <a:ea typeface="Hepta Slab Medium"/>
              <a:cs typeface="Hepta Slab Medium"/>
              <a:sym typeface="Hepta Slab Medium"/>
            </a:endParaRPr>
          </a:p>
        </p:txBody>
      </p:sp>
      <p:sp>
        <p:nvSpPr>
          <p:cNvPr id="511" name="Google Shape;511;p21"/>
          <p:cNvSpPr txBox="1"/>
          <p:nvPr/>
        </p:nvSpPr>
        <p:spPr>
          <a:xfrm>
            <a:off x="6549433" y="5002784"/>
            <a:ext cx="5278800" cy="3268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2000"/>
              <a:buFont typeface="Arial"/>
              <a:buNone/>
            </a:pPr>
            <a:r>
              <a:rPr lang="en" sz="2000" b="0" i="0" u="none" strike="noStrike" cap="none">
                <a:solidFill>
                  <a:srgbClr val="475569"/>
                </a:solidFill>
                <a:latin typeface="Aptos"/>
                <a:ea typeface="Hepta Slab Medium"/>
                <a:cs typeface="Hepta Slab Medium"/>
                <a:sym typeface="Hepta Slab Medium"/>
              </a:rPr>
              <a:t>Technology Bottlenecks Identified</a:t>
            </a:r>
            <a:endParaRPr sz="2000" b="0" i="0" u="none" strike="noStrike" cap="none">
              <a:solidFill>
                <a:schemeClr val="lt1"/>
              </a:solidFill>
              <a:latin typeface="Hepta Slab Medium"/>
              <a:ea typeface="Hepta Slab Medium"/>
              <a:cs typeface="Hepta Slab Medium"/>
              <a:sym typeface="Hepta Slab Medium"/>
            </a:endParaRPr>
          </a:p>
          <a:p>
            <a:pPr marL="0" marR="0" lvl="0" indent="0" algn="l" rtl="0">
              <a:lnSpc>
                <a:spcPct val="115000"/>
              </a:lnSpc>
              <a:spcBef>
                <a:spcPts val="4267"/>
              </a:spcBef>
              <a:spcAft>
                <a:spcPts val="0"/>
              </a:spcAft>
              <a:buClr>
                <a:srgbClr val="000000"/>
              </a:buClr>
              <a:buSzPts val="1467"/>
              <a:buFont typeface="Arial"/>
              <a:buNone/>
            </a:pPr>
            <a:endParaRPr sz="1467"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a:solidFill>
                <a:schemeClr val="lt1"/>
              </a:solidFill>
              <a:latin typeface="Hepta Slab Medium"/>
              <a:ea typeface="Hepta Slab Medium"/>
              <a:cs typeface="Hepta Slab Medium"/>
              <a:sym typeface="Hepta Slab Medium"/>
            </a:endParaRPr>
          </a:p>
        </p:txBody>
      </p:sp>
      <p:sp>
        <p:nvSpPr>
          <p:cNvPr id="512" name="Google Shape;512;p21"/>
          <p:cNvSpPr txBox="1"/>
          <p:nvPr/>
        </p:nvSpPr>
        <p:spPr>
          <a:xfrm>
            <a:off x="6464767" y="5435784"/>
            <a:ext cx="5278800" cy="924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4267"/>
              </a:spcAft>
              <a:buClr>
                <a:srgbClr val="000000"/>
              </a:buClr>
              <a:buSzPts val="1600"/>
              <a:buFont typeface="Arial"/>
              <a:buNone/>
            </a:pPr>
            <a:r>
              <a:rPr lang="en" sz="1600" b="0" i="0" u="none" strike="noStrike" cap="none">
                <a:solidFill>
                  <a:srgbClr val="475569"/>
                </a:solidFill>
                <a:latin typeface="Aptos"/>
                <a:ea typeface="Hepta Slab"/>
                <a:cs typeface="Hepta Slab"/>
                <a:sym typeface="Hepta Slab"/>
              </a:rPr>
              <a:t>Hardware and System issues require significantly longer resolution times than Login Access requests, indicating opportunities for process and technology improvements.</a:t>
            </a:r>
            <a:endParaRPr sz="1600" b="0" i="0" u="none" strike="noStrike" cap="none">
              <a:solidFill>
                <a:schemeClr val="lt1"/>
              </a:solidFill>
              <a:latin typeface="Hepta Slab Medium"/>
              <a:ea typeface="Hepta Slab Medium"/>
              <a:cs typeface="Hepta Slab Medium"/>
              <a:sym typeface="Hepta Slab Medium"/>
            </a:endParaRPr>
          </a:p>
        </p:txBody>
      </p:sp>
      <p:sp>
        <p:nvSpPr>
          <p:cNvPr id="513" name="Google Shape;513;p21"/>
          <p:cNvSpPr txBox="1"/>
          <p:nvPr/>
        </p:nvSpPr>
        <p:spPr>
          <a:xfrm>
            <a:off x="454667" y="4569767"/>
            <a:ext cx="5278800" cy="326800"/>
          </a:xfrm>
          <a:prstGeom prst="rect">
            <a:avLst/>
          </a:prstGeom>
          <a:solidFill>
            <a:schemeClr val="accent1">
              <a:lumMod val="40000"/>
              <a:lumOff val="60000"/>
            </a:schemeClr>
          </a:solid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dirty="0">
                <a:solidFill>
                  <a:srgbClr val="475569"/>
                </a:solidFill>
                <a:latin typeface="Aptos"/>
                <a:ea typeface="Hepta Slab SemiBold"/>
                <a:cs typeface="Hepta Slab SemiBold"/>
                <a:sym typeface="Hepta Slab SemiBold"/>
              </a:rPr>
              <a:t>Insight 3</a:t>
            </a:r>
            <a:endParaRPr sz="2000" b="1" i="0" u="none" strike="noStrike" cap="none" dirty="0">
              <a:solidFill>
                <a:schemeClr val="dk1"/>
              </a:solidFill>
              <a:latin typeface="Hepta Slab SemiBold"/>
              <a:ea typeface="Hepta Slab SemiBold"/>
              <a:cs typeface="Hepta Slab SemiBold"/>
              <a:sym typeface="Hepta Slab SemiBold"/>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dk1"/>
              </a:solidFill>
              <a:latin typeface="Hepta Slab Medium"/>
              <a:ea typeface="Hepta Slab Medium"/>
              <a:cs typeface="Hepta Slab Medium"/>
              <a:sym typeface="Hepta Slab Medium"/>
            </a:endParaRPr>
          </a:p>
        </p:txBody>
      </p:sp>
      <p:sp>
        <p:nvSpPr>
          <p:cNvPr id="514" name="Google Shape;514;p21"/>
          <p:cNvSpPr txBox="1"/>
          <p:nvPr/>
        </p:nvSpPr>
        <p:spPr>
          <a:xfrm>
            <a:off x="454667" y="5002767"/>
            <a:ext cx="5278800" cy="3268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000000"/>
              </a:buClr>
              <a:buSzPts val="2000"/>
              <a:buFont typeface="Arial"/>
              <a:buNone/>
            </a:pPr>
            <a:r>
              <a:rPr lang="en" sz="2000" b="0" i="0" u="none" strike="noStrike" cap="none" dirty="0">
                <a:solidFill>
                  <a:srgbClr val="475569"/>
                </a:solidFill>
                <a:latin typeface="Aptos"/>
                <a:ea typeface="Hepta Slab Medium"/>
                <a:cs typeface="Hepta Slab Medium"/>
                <a:sym typeface="Hepta Slab Medium"/>
              </a:rPr>
              <a:t>Balanced Agent Workload</a:t>
            </a:r>
            <a:endParaRPr sz="2000" b="0"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15000"/>
              </a:lnSpc>
              <a:spcBef>
                <a:spcPts val="4267"/>
              </a:spcBef>
              <a:spcAft>
                <a:spcPts val="0"/>
              </a:spcAft>
              <a:buClr>
                <a:srgbClr val="000000"/>
              </a:buClr>
              <a:buSzPts val="1467"/>
              <a:buFont typeface="Arial"/>
              <a:buNone/>
            </a:pPr>
            <a:endParaRPr sz="1467"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Hepta Slab Medium"/>
              <a:ea typeface="Hepta Slab Medium"/>
              <a:cs typeface="Hepta Slab Medium"/>
              <a:sym typeface="Hepta Slab Medium"/>
            </a:endParaRPr>
          </a:p>
          <a:p>
            <a:pPr marL="0" marR="0" lvl="0" indent="0" algn="ctr" rtl="0">
              <a:lnSpc>
                <a:spcPct val="100000"/>
              </a:lnSpc>
              <a:spcBef>
                <a:spcPts val="4267"/>
              </a:spcBef>
              <a:spcAft>
                <a:spcPts val="4267"/>
              </a:spcAft>
              <a:buClr>
                <a:srgbClr val="000000"/>
              </a:buClr>
              <a:buSzPts val="2000"/>
              <a:buFont typeface="Arial"/>
              <a:buNone/>
            </a:pPr>
            <a:endParaRPr sz="2000" b="0" i="0" u="none" strike="noStrike" cap="none" dirty="0">
              <a:solidFill>
                <a:schemeClr val="dk1"/>
              </a:solidFill>
              <a:latin typeface="Hepta Slab Medium"/>
              <a:ea typeface="Hepta Slab Medium"/>
              <a:cs typeface="Hepta Slab Medium"/>
              <a:sym typeface="Hepta Slab Medium"/>
            </a:endParaRPr>
          </a:p>
        </p:txBody>
      </p:sp>
      <p:sp>
        <p:nvSpPr>
          <p:cNvPr id="515" name="Google Shape;515;p21"/>
          <p:cNvSpPr txBox="1"/>
          <p:nvPr/>
        </p:nvSpPr>
        <p:spPr>
          <a:xfrm>
            <a:off x="370000" y="5435767"/>
            <a:ext cx="5278800" cy="924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4267"/>
              </a:spcAft>
              <a:buClr>
                <a:srgbClr val="000000"/>
              </a:buClr>
              <a:buSzPts val="1600"/>
              <a:buFont typeface="Arial"/>
              <a:buNone/>
            </a:pPr>
            <a:r>
              <a:rPr lang="en" sz="1600" b="0" i="0" u="none" strike="noStrike" cap="none">
                <a:solidFill>
                  <a:srgbClr val="475569"/>
                </a:solidFill>
                <a:latin typeface="Aptos"/>
                <a:ea typeface="Hepta Slab"/>
                <a:cs typeface="Hepta Slab"/>
                <a:sym typeface="Hepta Slab"/>
              </a:rPr>
              <a:t>Ticket handling is evenly distributed among agents, with most agents resolving between 1,800 and 2,000 tickets.</a:t>
            </a:r>
            <a:endParaRPr sz="1600" b="0" i="0" u="none" strike="noStrike" cap="none">
              <a:solidFill>
                <a:schemeClr val="dk1"/>
              </a:solidFill>
              <a:latin typeface="Hepta Slab Medium"/>
              <a:ea typeface="Hepta Slab Medium"/>
              <a:cs typeface="Hepta Slab Medium"/>
              <a:sym typeface="Hepta Slab Medium"/>
            </a:endParaRPr>
          </a:p>
        </p:txBody>
      </p:sp>
      <p:sp>
        <p:nvSpPr>
          <p:cNvPr id="517" name="Rectangle 516"/>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0"/>
        <p:cNvGrpSpPr/>
        <p:nvPr/>
      </p:nvGrpSpPr>
      <p:grpSpPr>
        <a:xfrm>
          <a:off x="0" y="0"/>
          <a:ext cx="0" cy="0"/>
          <a:chOff x="0" y="0"/>
          <a:chExt cx="0" cy="0"/>
        </a:xfrm>
      </p:grpSpPr>
      <p:sp>
        <p:nvSpPr>
          <p:cNvPr id="521" name="Google Shape;521;p22"/>
          <p:cNvSpPr/>
          <p:nvPr/>
        </p:nvSpPr>
        <p:spPr>
          <a:xfrm>
            <a:off x="3491400" y="363367"/>
            <a:ext cx="5209200" cy="5908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2F2F3"/>
              </a:buClr>
              <a:buSzPts val="3667"/>
              <a:buFont typeface="Poppins Light"/>
              <a:buNone/>
            </a:pPr>
            <a:r>
              <a:rPr lang="en" sz="2867" b="0" i="0" u="none" strike="noStrike" cap="none">
                <a:solidFill>
                  <a:srgbClr val="12375C"/>
                </a:solidFill>
                <a:latin typeface="Aptos"/>
                <a:ea typeface="Poppins Light"/>
                <a:cs typeface="Poppins Light"/>
                <a:sym typeface="Poppins Light"/>
              </a:rPr>
              <a:t>Strategic Recommendations</a:t>
            </a:r>
            <a:endParaRPr sz="2867" b="0" i="0" u="none" strike="noStrike" cap="none">
              <a:solidFill>
                <a:srgbClr val="FF0000"/>
              </a:solidFill>
              <a:latin typeface="Arial"/>
              <a:ea typeface="Arial"/>
              <a:cs typeface="Arial"/>
              <a:sym typeface="Arial"/>
            </a:endParaRPr>
          </a:p>
        </p:txBody>
      </p:sp>
      <p:sp>
        <p:nvSpPr>
          <p:cNvPr id="522" name="Google Shape;522;p22"/>
          <p:cNvSpPr/>
          <p:nvPr/>
        </p:nvSpPr>
        <p:spPr>
          <a:xfrm>
            <a:off x="1018000" y="889233"/>
            <a:ext cx="5078000" cy="1270000"/>
          </a:xfrm>
          <a:prstGeom prst="roundRect">
            <a:avLst>
              <a:gd name="adj" fmla="val 16667"/>
            </a:avLst>
          </a:prstGeom>
          <a:solidFill>
            <a:srgbClr val="FFFFFF"/>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23" name="Google Shape;523;p22"/>
          <p:cNvSpPr/>
          <p:nvPr/>
        </p:nvSpPr>
        <p:spPr>
          <a:xfrm>
            <a:off x="6096000" y="889233"/>
            <a:ext cx="5078000" cy="1270000"/>
          </a:xfrm>
          <a:prstGeom prst="roundRect">
            <a:avLst>
              <a:gd name="adj" fmla="val 16667"/>
            </a:avLst>
          </a:prstGeom>
          <a:solidFill>
            <a:schemeClr val="accent1">
              <a:lumMod val="40000"/>
              <a:lumOff val="60000"/>
            </a:schemeClr>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24" name="Google Shape;524;p22"/>
          <p:cNvSpPr/>
          <p:nvPr/>
        </p:nvSpPr>
        <p:spPr>
          <a:xfrm>
            <a:off x="1966400" y="986900"/>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a:solidFill>
                  <a:srgbClr val="475569"/>
                </a:solidFill>
                <a:latin typeface="Aptos"/>
                <a:ea typeface="Hepta Slab SemiBold"/>
                <a:cs typeface="Hepta Slab SemiBold"/>
                <a:sym typeface="Hepta Slab SemiBold"/>
              </a:rPr>
              <a:t>Recommendation 1</a:t>
            </a:r>
            <a:endParaRPr sz="1920" b="0" i="0" u="none" strike="noStrike" cap="none">
              <a:solidFill>
                <a:srgbClr val="FF0000"/>
              </a:solidFill>
              <a:latin typeface="Hepta Slab SemiBold"/>
              <a:ea typeface="Hepta Slab SemiBold"/>
              <a:cs typeface="Hepta Slab SemiBold"/>
              <a:sym typeface="Hepta Slab SemiBold"/>
            </a:endParaRPr>
          </a:p>
        </p:txBody>
      </p:sp>
      <p:sp>
        <p:nvSpPr>
          <p:cNvPr id="525" name="Google Shape;525;p22"/>
          <p:cNvSpPr/>
          <p:nvPr/>
        </p:nvSpPr>
        <p:spPr>
          <a:xfrm>
            <a:off x="1018000" y="2374533"/>
            <a:ext cx="5078000" cy="1270000"/>
          </a:xfrm>
          <a:prstGeom prst="roundRect">
            <a:avLst>
              <a:gd name="adj" fmla="val 16667"/>
            </a:avLst>
          </a:prstGeom>
          <a:solidFill>
            <a:schemeClr val="accent1">
              <a:lumMod val="40000"/>
              <a:lumOff val="60000"/>
            </a:schemeClr>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26" name="Google Shape;526;p22"/>
          <p:cNvSpPr/>
          <p:nvPr/>
        </p:nvSpPr>
        <p:spPr>
          <a:xfrm>
            <a:off x="6096000" y="2374533"/>
            <a:ext cx="5078000" cy="1270000"/>
          </a:xfrm>
          <a:prstGeom prst="roundRect">
            <a:avLst>
              <a:gd name="adj" fmla="val 16667"/>
            </a:avLst>
          </a:prstGeom>
          <a:solidFill>
            <a:srgbClr val="FFFFFF"/>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27" name="Google Shape;527;p22"/>
          <p:cNvSpPr/>
          <p:nvPr/>
        </p:nvSpPr>
        <p:spPr>
          <a:xfrm>
            <a:off x="1018000" y="3859833"/>
            <a:ext cx="5078000" cy="1270000"/>
          </a:xfrm>
          <a:prstGeom prst="roundRect">
            <a:avLst>
              <a:gd name="adj" fmla="val 16667"/>
            </a:avLst>
          </a:prstGeom>
          <a:solidFill>
            <a:srgbClr val="FFFFFF"/>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28" name="Google Shape;528;p22"/>
          <p:cNvSpPr/>
          <p:nvPr/>
        </p:nvSpPr>
        <p:spPr>
          <a:xfrm>
            <a:off x="6096000" y="3859833"/>
            <a:ext cx="5078000" cy="1270000"/>
          </a:xfrm>
          <a:prstGeom prst="roundRect">
            <a:avLst>
              <a:gd name="adj" fmla="val 16667"/>
            </a:avLst>
          </a:prstGeom>
          <a:solidFill>
            <a:schemeClr val="accent1">
              <a:lumMod val="40000"/>
              <a:lumOff val="60000"/>
            </a:schemeClr>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29" name="Google Shape;529;p22"/>
          <p:cNvSpPr/>
          <p:nvPr/>
        </p:nvSpPr>
        <p:spPr>
          <a:xfrm>
            <a:off x="1018000" y="5345133"/>
            <a:ext cx="5078000" cy="1270000"/>
          </a:xfrm>
          <a:prstGeom prst="roundRect">
            <a:avLst>
              <a:gd name="adj" fmla="val 16667"/>
            </a:avLst>
          </a:prstGeom>
          <a:solidFill>
            <a:schemeClr val="accent1">
              <a:lumMod val="40000"/>
              <a:lumOff val="60000"/>
            </a:schemeClr>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30" name="Google Shape;530;p22"/>
          <p:cNvSpPr/>
          <p:nvPr/>
        </p:nvSpPr>
        <p:spPr>
          <a:xfrm>
            <a:off x="6096000" y="5345133"/>
            <a:ext cx="5078000" cy="1270000"/>
          </a:xfrm>
          <a:prstGeom prst="roundRect">
            <a:avLst>
              <a:gd name="adj" fmla="val 16667"/>
            </a:avLst>
          </a:prstGeom>
          <a:solidFill>
            <a:srgbClr val="FFFFFF"/>
          </a:solidFill>
          <a:ln w="19033"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Barlow Light"/>
              <a:ea typeface="Barlow Light"/>
              <a:cs typeface="Barlow Light"/>
              <a:sym typeface="Barlow Light"/>
            </a:endParaRPr>
          </a:p>
        </p:txBody>
      </p:sp>
      <p:sp>
        <p:nvSpPr>
          <p:cNvPr id="531" name="Google Shape;531;p22"/>
          <p:cNvSpPr/>
          <p:nvPr/>
        </p:nvSpPr>
        <p:spPr>
          <a:xfrm>
            <a:off x="1175267" y="1252100"/>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a:solidFill>
                  <a:srgbClr val="475569"/>
                </a:solidFill>
                <a:latin typeface="Aptos"/>
                <a:ea typeface="Hepta Slab Medium"/>
                <a:cs typeface="Hepta Slab Medium"/>
                <a:sym typeface="Hepta Slab Medium"/>
              </a:rPr>
              <a:t>Improve System Support Processes </a:t>
            </a:r>
            <a:endParaRPr sz="1920" b="0" i="0" u="none" strike="noStrike" cap="none">
              <a:solidFill>
                <a:schemeClr val="lt1"/>
              </a:solidFill>
              <a:latin typeface="Hepta Slab Medium"/>
              <a:ea typeface="Hepta Slab Medium"/>
              <a:cs typeface="Hepta Slab Medium"/>
              <a:sym typeface="Hepta Slab Medium"/>
            </a:endParaRPr>
          </a:p>
        </p:txBody>
      </p:sp>
      <p:sp>
        <p:nvSpPr>
          <p:cNvPr id="532" name="Google Shape;532;p22"/>
          <p:cNvSpPr/>
          <p:nvPr/>
        </p:nvSpPr>
        <p:spPr>
          <a:xfrm>
            <a:off x="1175267" y="1517300"/>
            <a:ext cx="4801600" cy="540800"/>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E5E0DF"/>
              </a:buClr>
              <a:buSzPts val="1920"/>
              <a:buFont typeface="Poppins Light"/>
              <a:buNone/>
            </a:pPr>
            <a:r>
              <a:rPr lang="en" sz="1520" b="1" i="0" u="none" strike="noStrike" cap="none">
                <a:solidFill>
                  <a:srgbClr val="475569"/>
                </a:solidFill>
                <a:latin typeface="Aptos"/>
                <a:ea typeface="Hepta Slab"/>
                <a:cs typeface="Hepta Slab"/>
                <a:sym typeface="Hepta Slab"/>
              </a:rPr>
              <a:t>Reason </a:t>
            </a:r>
            <a:r>
              <a:rPr lang="en" sz="1520" b="0" i="0" u="none" strike="noStrike" cap="none">
                <a:solidFill>
                  <a:srgbClr val="475569"/>
                </a:solidFill>
                <a:latin typeface="Aptos"/>
                <a:ea typeface="Hepta Slab"/>
                <a:cs typeface="Hepta Slab"/>
                <a:sym typeface="Hepta Slab"/>
              </a:rPr>
              <a:t>: System-related requests account for 40% of total tickets. </a:t>
            </a:r>
            <a:endParaRPr sz="1520" b="0" i="0" u="none" strike="noStrike" cap="none">
              <a:solidFill>
                <a:schemeClr val="lt1"/>
              </a:solidFill>
              <a:latin typeface="Hepta Slab"/>
              <a:ea typeface="Hepta Slab"/>
              <a:cs typeface="Hepta Slab"/>
              <a:sym typeface="Hepta Slab"/>
            </a:endParaRPr>
          </a:p>
        </p:txBody>
      </p:sp>
      <p:sp>
        <p:nvSpPr>
          <p:cNvPr id="533" name="Google Shape;533;p22"/>
          <p:cNvSpPr/>
          <p:nvPr/>
        </p:nvSpPr>
        <p:spPr>
          <a:xfrm>
            <a:off x="7044400" y="2630651"/>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a:solidFill>
                  <a:srgbClr val="475569"/>
                </a:solidFill>
                <a:latin typeface="Aptos"/>
                <a:ea typeface="Hepta Slab SemiBold"/>
                <a:cs typeface="Hepta Slab SemiBold"/>
                <a:sym typeface="Hepta Slab SemiBold"/>
              </a:rPr>
              <a:t>Expected Impact</a:t>
            </a:r>
            <a:endParaRPr sz="1920" b="0" i="0" u="none" strike="noStrike" cap="none">
              <a:solidFill>
                <a:srgbClr val="FF0000"/>
              </a:solidFill>
              <a:latin typeface="Hepta Slab SemiBold"/>
              <a:ea typeface="Hepta Slab SemiBold"/>
              <a:cs typeface="Hepta Slab SemiBold"/>
              <a:sym typeface="Hepta Slab SemiBold"/>
            </a:endParaRPr>
          </a:p>
        </p:txBody>
      </p:sp>
      <p:sp>
        <p:nvSpPr>
          <p:cNvPr id="534" name="Google Shape;534;p22"/>
          <p:cNvSpPr/>
          <p:nvPr/>
        </p:nvSpPr>
        <p:spPr>
          <a:xfrm>
            <a:off x="6234200" y="3123184"/>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dirty="0">
                <a:solidFill>
                  <a:srgbClr val="475569"/>
                </a:solidFill>
                <a:latin typeface="Aptos"/>
                <a:ea typeface="Hepta Slab Medium"/>
                <a:cs typeface="Hepta Slab Medium"/>
                <a:sym typeface="Hepta Slab Medium"/>
              </a:rPr>
              <a:t>Reduced resolution time and increased support efficiency.</a:t>
            </a:r>
            <a:endParaRPr sz="1920" b="0" i="0" u="none" strike="noStrike" cap="none" dirty="0">
              <a:solidFill>
                <a:schemeClr val="lt1"/>
              </a:solidFill>
              <a:latin typeface="Hepta Slab Medium"/>
              <a:ea typeface="Hepta Slab Medium"/>
              <a:cs typeface="Hepta Slab Medium"/>
              <a:sym typeface="Hepta Slab Medium"/>
            </a:endParaRPr>
          </a:p>
        </p:txBody>
      </p:sp>
      <p:sp>
        <p:nvSpPr>
          <p:cNvPr id="535" name="Google Shape;535;p22"/>
          <p:cNvSpPr/>
          <p:nvPr/>
        </p:nvSpPr>
        <p:spPr>
          <a:xfrm>
            <a:off x="1966400" y="2422700"/>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dirty="0">
                <a:solidFill>
                  <a:srgbClr val="475569"/>
                </a:solidFill>
                <a:latin typeface="Aptos"/>
                <a:ea typeface="Hepta Slab SemiBold"/>
                <a:cs typeface="Hepta Slab SemiBold"/>
                <a:sym typeface="Hepta Slab SemiBold"/>
              </a:rPr>
              <a:t>Recommendation 2</a:t>
            </a:r>
            <a:endParaRPr sz="1920" b="0" i="0" u="none" strike="noStrike" cap="none" dirty="0">
              <a:solidFill>
                <a:srgbClr val="FF0000"/>
              </a:solidFill>
              <a:latin typeface="Hepta Slab SemiBold"/>
              <a:ea typeface="Hepta Slab SemiBold"/>
              <a:cs typeface="Hepta Slab SemiBold"/>
              <a:sym typeface="Hepta Slab SemiBold"/>
            </a:endParaRPr>
          </a:p>
        </p:txBody>
      </p:sp>
      <p:sp>
        <p:nvSpPr>
          <p:cNvPr id="536" name="Google Shape;536;p22"/>
          <p:cNvSpPr/>
          <p:nvPr/>
        </p:nvSpPr>
        <p:spPr>
          <a:xfrm>
            <a:off x="1175267" y="2739133"/>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dirty="0">
                <a:solidFill>
                  <a:srgbClr val="475569"/>
                </a:solidFill>
                <a:latin typeface="Aptos"/>
                <a:ea typeface="Hepta Slab Medium"/>
                <a:cs typeface="Hepta Slab Medium"/>
                <a:sym typeface="Hepta Slab Medium"/>
              </a:rPr>
              <a:t>Invest in Hardware Troubleshooting Tools</a:t>
            </a:r>
            <a:endParaRPr sz="1920" b="0" i="0" u="none" strike="noStrike" cap="none" dirty="0">
              <a:solidFill>
                <a:schemeClr val="lt1"/>
              </a:solidFill>
              <a:latin typeface="Hepta Slab Medium"/>
              <a:ea typeface="Hepta Slab Medium"/>
              <a:cs typeface="Hepta Slab Medium"/>
              <a:sym typeface="Hepta Slab Medium"/>
            </a:endParaRPr>
          </a:p>
        </p:txBody>
      </p:sp>
      <p:sp>
        <p:nvSpPr>
          <p:cNvPr id="537" name="Google Shape;537;p22"/>
          <p:cNvSpPr/>
          <p:nvPr/>
        </p:nvSpPr>
        <p:spPr>
          <a:xfrm>
            <a:off x="1175267" y="3004333"/>
            <a:ext cx="4801600" cy="540800"/>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E5E0DF"/>
              </a:buClr>
              <a:buSzPts val="1920"/>
              <a:buFont typeface="Poppins Light"/>
              <a:buNone/>
            </a:pPr>
            <a:r>
              <a:rPr lang="en" sz="1520" b="1" i="0" u="none" strike="noStrike" cap="none" dirty="0">
                <a:solidFill>
                  <a:srgbClr val="475569"/>
                </a:solidFill>
                <a:latin typeface="Aptos"/>
                <a:ea typeface="Hepta Slab"/>
                <a:cs typeface="Hepta Slab"/>
                <a:sym typeface="Hepta Slab"/>
              </a:rPr>
              <a:t>Reason </a:t>
            </a:r>
            <a:r>
              <a:rPr lang="en" sz="1520" b="0" i="0" u="none" strike="noStrike" cap="none" dirty="0">
                <a:solidFill>
                  <a:srgbClr val="475569"/>
                </a:solidFill>
                <a:latin typeface="Aptos"/>
                <a:ea typeface="Hepta Slab"/>
                <a:cs typeface="Hepta Slab"/>
                <a:sym typeface="Hepta Slab"/>
              </a:rPr>
              <a:t>: Hardware tickets require the longest average resolution time. </a:t>
            </a:r>
            <a:endParaRPr sz="1520" b="0" i="0" u="none" strike="noStrike" cap="none" dirty="0">
              <a:solidFill>
                <a:schemeClr val="lt1"/>
              </a:solidFill>
              <a:latin typeface="Hepta Slab"/>
              <a:ea typeface="Hepta Slab"/>
              <a:cs typeface="Hepta Slab"/>
              <a:sym typeface="Hepta Slab"/>
            </a:endParaRPr>
          </a:p>
        </p:txBody>
      </p:sp>
      <p:sp>
        <p:nvSpPr>
          <p:cNvPr id="538" name="Google Shape;538;p22"/>
          <p:cNvSpPr/>
          <p:nvPr/>
        </p:nvSpPr>
        <p:spPr>
          <a:xfrm>
            <a:off x="1947333" y="3959233"/>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dirty="0">
                <a:solidFill>
                  <a:srgbClr val="475569"/>
                </a:solidFill>
                <a:latin typeface="Aptos"/>
                <a:ea typeface="Hepta Slab SemiBold"/>
                <a:cs typeface="Hepta Slab SemiBold"/>
                <a:sym typeface="Hepta Slab SemiBold"/>
              </a:rPr>
              <a:t>Recommendation 3</a:t>
            </a:r>
            <a:endParaRPr sz="1920" b="0" i="0" u="none" strike="noStrike" cap="none" dirty="0">
              <a:solidFill>
                <a:srgbClr val="FF0000"/>
              </a:solidFill>
              <a:latin typeface="Hepta Slab SemiBold"/>
              <a:ea typeface="Hepta Slab SemiBold"/>
              <a:cs typeface="Hepta Slab SemiBold"/>
              <a:sym typeface="Hepta Slab SemiBold"/>
            </a:endParaRPr>
          </a:p>
        </p:txBody>
      </p:sp>
      <p:sp>
        <p:nvSpPr>
          <p:cNvPr id="539" name="Google Shape;539;p22"/>
          <p:cNvSpPr/>
          <p:nvPr/>
        </p:nvSpPr>
        <p:spPr>
          <a:xfrm>
            <a:off x="1156200" y="4224433"/>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a:solidFill>
                  <a:srgbClr val="475569"/>
                </a:solidFill>
                <a:latin typeface="Aptos"/>
                <a:ea typeface="Hepta Slab Medium"/>
                <a:cs typeface="Hepta Slab Medium"/>
                <a:sym typeface="Hepta Slab Medium"/>
              </a:rPr>
              <a:t>Targeted Agent Coaching</a:t>
            </a:r>
            <a:endParaRPr sz="1920" b="0" i="0" u="none" strike="noStrike" cap="none">
              <a:solidFill>
                <a:schemeClr val="lt1"/>
              </a:solidFill>
              <a:latin typeface="Hepta Slab Medium"/>
              <a:ea typeface="Hepta Slab Medium"/>
              <a:cs typeface="Hepta Slab Medium"/>
              <a:sym typeface="Hepta Slab Medium"/>
            </a:endParaRPr>
          </a:p>
        </p:txBody>
      </p:sp>
      <p:sp>
        <p:nvSpPr>
          <p:cNvPr id="540" name="Google Shape;540;p22"/>
          <p:cNvSpPr/>
          <p:nvPr/>
        </p:nvSpPr>
        <p:spPr>
          <a:xfrm>
            <a:off x="1156200" y="4489633"/>
            <a:ext cx="4801600" cy="540800"/>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E5E0DF"/>
              </a:buClr>
              <a:buSzPts val="1920"/>
              <a:buFont typeface="Poppins Light"/>
              <a:buNone/>
            </a:pPr>
            <a:r>
              <a:rPr lang="en" sz="1520" b="1" i="0" u="none" strike="noStrike" cap="none">
                <a:solidFill>
                  <a:srgbClr val="475569"/>
                </a:solidFill>
                <a:latin typeface="Aptos"/>
                <a:ea typeface="Hepta Slab"/>
                <a:cs typeface="Hepta Slab"/>
                <a:sym typeface="Hepta Slab"/>
              </a:rPr>
              <a:t>Reason </a:t>
            </a:r>
            <a:r>
              <a:rPr lang="en" sz="1520" b="0" i="0" u="none" strike="noStrike" cap="none">
                <a:solidFill>
                  <a:srgbClr val="475569"/>
                </a:solidFill>
                <a:latin typeface="Aptos"/>
                <a:ea typeface="Hepta Slab"/>
                <a:cs typeface="Hepta Slab"/>
                <a:sym typeface="Hepta Slab"/>
              </a:rPr>
              <a:t>: A small number of agents show lower satisfaction ratings.</a:t>
            </a:r>
            <a:endParaRPr sz="1520" b="0" i="0" u="none" strike="noStrike" cap="none">
              <a:solidFill>
                <a:schemeClr val="lt1"/>
              </a:solidFill>
              <a:latin typeface="Hepta Slab"/>
              <a:ea typeface="Hepta Slab"/>
              <a:cs typeface="Hepta Slab"/>
              <a:sym typeface="Hepta Slab"/>
            </a:endParaRPr>
          </a:p>
        </p:txBody>
      </p:sp>
      <p:sp>
        <p:nvSpPr>
          <p:cNvPr id="541" name="Google Shape;541;p22"/>
          <p:cNvSpPr/>
          <p:nvPr/>
        </p:nvSpPr>
        <p:spPr>
          <a:xfrm>
            <a:off x="1947333" y="5444533"/>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a:solidFill>
                  <a:srgbClr val="475569"/>
                </a:solidFill>
                <a:latin typeface="Aptos"/>
                <a:ea typeface="Hepta Slab SemiBold"/>
                <a:cs typeface="Hepta Slab SemiBold"/>
                <a:sym typeface="Hepta Slab SemiBold"/>
              </a:rPr>
              <a:t>Recommendation 4</a:t>
            </a:r>
            <a:endParaRPr sz="1920" b="0" i="0" u="none" strike="noStrike" cap="none">
              <a:solidFill>
                <a:srgbClr val="FF0000"/>
              </a:solidFill>
              <a:latin typeface="Hepta Slab SemiBold"/>
              <a:ea typeface="Hepta Slab SemiBold"/>
              <a:cs typeface="Hepta Slab SemiBold"/>
              <a:sym typeface="Hepta Slab SemiBold"/>
            </a:endParaRPr>
          </a:p>
        </p:txBody>
      </p:sp>
      <p:sp>
        <p:nvSpPr>
          <p:cNvPr id="542" name="Google Shape;542;p22"/>
          <p:cNvSpPr/>
          <p:nvPr/>
        </p:nvSpPr>
        <p:spPr>
          <a:xfrm>
            <a:off x="1156200" y="5709733"/>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a:solidFill>
                  <a:srgbClr val="475569"/>
                </a:solidFill>
                <a:latin typeface="Aptos"/>
                <a:ea typeface="Hepta Slab Medium"/>
                <a:cs typeface="Hepta Slab Medium"/>
                <a:sym typeface="Hepta Slab Medium"/>
              </a:rPr>
              <a:t>Workforce Planning Based on Trends</a:t>
            </a:r>
            <a:endParaRPr sz="1920" b="0" i="0" u="none" strike="noStrike" cap="none">
              <a:solidFill>
                <a:schemeClr val="lt1"/>
              </a:solidFill>
              <a:latin typeface="Hepta Slab Medium"/>
              <a:ea typeface="Hepta Slab Medium"/>
              <a:cs typeface="Hepta Slab Medium"/>
              <a:sym typeface="Hepta Slab Medium"/>
            </a:endParaRPr>
          </a:p>
        </p:txBody>
      </p:sp>
      <p:sp>
        <p:nvSpPr>
          <p:cNvPr id="543" name="Google Shape;543;p22"/>
          <p:cNvSpPr/>
          <p:nvPr/>
        </p:nvSpPr>
        <p:spPr>
          <a:xfrm>
            <a:off x="1156200" y="5974933"/>
            <a:ext cx="4801600" cy="540800"/>
          </a:xfrm>
          <a:prstGeom prst="rect">
            <a:avLst/>
          </a:prstGeom>
          <a:noFill/>
          <a:ln>
            <a:noFill/>
          </a:ln>
        </p:spPr>
        <p:txBody>
          <a:bodyPr spcFirstLastPara="1" wrap="square" lIns="0" tIns="0" rIns="0" bIns="0" anchor="ctr" anchorCtr="0">
            <a:noAutofit/>
          </a:bodyPr>
          <a:lstStyle/>
          <a:p>
            <a:pPr marL="0" marR="0" lvl="0" indent="0" algn="l" rtl="0">
              <a:lnSpc>
                <a:spcPct val="104000"/>
              </a:lnSpc>
              <a:spcBef>
                <a:spcPts val="0"/>
              </a:spcBef>
              <a:spcAft>
                <a:spcPts val="0"/>
              </a:spcAft>
              <a:buClr>
                <a:srgbClr val="E5E0DF"/>
              </a:buClr>
              <a:buSzPts val="1920"/>
              <a:buFont typeface="Poppins Light"/>
              <a:buNone/>
            </a:pPr>
            <a:r>
              <a:rPr lang="en" sz="1520" b="1" i="0" u="none" strike="noStrike" cap="none">
                <a:solidFill>
                  <a:srgbClr val="475569"/>
                </a:solidFill>
                <a:latin typeface="Aptos"/>
                <a:ea typeface="Hepta Slab"/>
                <a:cs typeface="Hepta Slab"/>
                <a:sym typeface="Hepta Slab"/>
              </a:rPr>
              <a:t>Reason </a:t>
            </a:r>
            <a:r>
              <a:rPr lang="en" sz="1520" b="0" i="0" u="none" strike="noStrike" cap="none">
                <a:solidFill>
                  <a:srgbClr val="475569"/>
                </a:solidFill>
                <a:latin typeface="Aptos"/>
                <a:ea typeface="Hepta Slab"/>
                <a:cs typeface="Hepta Slab"/>
                <a:sym typeface="Hepta Slab"/>
              </a:rPr>
              <a:t>: Ticket volume follows recurring cyclical patterns. </a:t>
            </a:r>
            <a:endParaRPr sz="1520" b="0" i="0" u="none" strike="noStrike" cap="none">
              <a:solidFill>
                <a:schemeClr val="lt1"/>
              </a:solidFill>
              <a:latin typeface="Hepta Slab"/>
              <a:ea typeface="Hepta Slab"/>
              <a:cs typeface="Hepta Slab"/>
              <a:sym typeface="Hepta Slab"/>
            </a:endParaRPr>
          </a:p>
        </p:txBody>
      </p:sp>
      <p:sp>
        <p:nvSpPr>
          <p:cNvPr id="544" name="Google Shape;544;p22"/>
          <p:cNvSpPr/>
          <p:nvPr/>
        </p:nvSpPr>
        <p:spPr>
          <a:xfrm>
            <a:off x="7044400" y="4115967"/>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a:solidFill>
                  <a:srgbClr val="475569"/>
                </a:solidFill>
                <a:latin typeface="Aptos"/>
                <a:ea typeface="Hepta Slab SemiBold"/>
                <a:cs typeface="Hepta Slab SemiBold"/>
                <a:sym typeface="Hepta Slab SemiBold"/>
              </a:rPr>
              <a:t>Expected Impact</a:t>
            </a:r>
            <a:endParaRPr sz="1920" b="0" i="0" u="none" strike="noStrike" cap="none">
              <a:solidFill>
                <a:srgbClr val="FF0000"/>
              </a:solidFill>
              <a:latin typeface="Hepta Slab SemiBold"/>
              <a:ea typeface="Hepta Slab SemiBold"/>
              <a:cs typeface="Hepta Slab SemiBold"/>
              <a:sym typeface="Hepta Slab SemiBold"/>
            </a:endParaRPr>
          </a:p>
        </p:txBody>
      </p:sp>
      <p:sp>
        <p:nvSpPr>
          <p:cNvPr id="545" name="Google Shape;545;p22"/>
          <p:cNvSpPr/>
          <p:nvPr/>
        </p:nvSpPr>
        <p:spPr>
          <a:xfrm>
            <a:off x="6234200" y="4608500"/>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dirty="0">
                <a:solidFill>
                  <a:srgbClr val="475569"/>
                </a:solidFill>
                <a:latin typeface="Aptos"/>
                <a:ea typeface="Hepta Slab Medium"/>
                <a:cs typeface="Hepta Slab Medium"/>
                <a:sym typeface="Hepta Slab Medium"/>
              </a:rPr>
              <a:t>Improved customer experience and service consistency.</a:t>
            </a:r>
            <a:endParaRPr sz="1920" b="0" i="0" u="none" strike="noStrike" cap="none" dirty="0">
              <a:solidFill>
                <a:schemeClr val="lt1"/>
              </a:solidFill>
              <a:latin typeface="Hepta Slab Medium"/>
              <a:ea typeface="Hepta Slab Medium"/>
              <a:cs typeface="Hepta Slab Medium"/>
              <a:sym typeface="Hepta Slab Medium"/>
            </a:endParaRPr>
          </a:p>
        </p:txBody>
      </p:sp>
      <p:sp>
        <p:nvSpPr>
          <p:cNvPr id="546" name="Google Shape;546;p22"/>
          <p:cNvSpPr/>
          <p:nvPr/>
        </p:nvSpPr>
        <p:spPr>
          <a:xfrm>
            <a:off x="7102467" y="5601267"/>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a:solidFill>
                  <a:srgbClr val="475569"/>
                </a:solidFill>
                <a:latin typeface="Aptos"/>
                <a:ea typeface="Hepta Slab SemiBold"/>
                <a:cs typeface="Hepta Slab SemiBold"/>
                <a:sym typeface="Hepta Slab SemiBold"/>
              </a:rPr>
              <a:t>Expected Impact</a:t>
            </a:r>
            <a:endParaRPr sz="1920" b="0" i="0" u="none" strike="noStrike" cap="none">
              <a:solidFill>
                <a:srgbClr val="FF0000"/>
              </a:solidFill>
              <a:latin typeface="Hepta Slab SemiBold"/>
              <a:ea typeface="Hepta Slab SemiBold"/>
              <a:cs typeface="Hepta Slab SemiBold"/>
              <a:sym typeface="Hepta Slab SemiBold"/>
            </a:endParaRPr>
          </a:p>
        </p:txBody>
      </p:sp>
      <p:sp>
        <p:nvSpPr>
          <p:cNvPr id="547" name="Google Shape;547;p22"/>
          <p:cNvSpPr/>
          <p:nvPr/>
        </p:nvSpPr>
        <p:spPr>
          <a:xfrm>
            <a:off x="6292267" y="6093800"/>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a:solidFill>
                  <a:srgbClr val="475569"/>
                </a:solidFill>
                <a:latin typeface="Aptos"/>
                <a:ea typeface="Hepta Slab Medium"/>
                <a:cs typeface="Hepta Slab Medium"/>
                <a:sym typeface="Hepta Slab Medium"/>
              </a:rPr>
              <a:t>Better staffing decisions during high-demand periods.</a:t>
            </a:r>
            <a:endParaRPr sz="1920" b="0" i="0" u="none" strike="noStrike" cap="none">
              <a:solidFill>
                <a:schemeClr val="lt1"/>
              </a:solidFill>
              <a:latin typeface="Hepta Slab Medium"/>
              <a:ea typeface="Hepta Slab Medium"/>
              <a:cs typeface="Hepta Slab Medium"/>
              <a:sym typeface="Hepta Slab Medium"/>
            </a:endParaRPr>
          </a:p>
        </p:txBody>
      </p:sp>
      <p:sp>
        <p:nvSpPr>
          <p:cNvPr id="548" name="Google Shape;548;p22"/>
          <p:cNvSpPr/>
          <p:nvPr/>
        </p:nvSpPr>
        <p:spPr>
          <a:xfrm>
            <a:off x="7102467" y="1181484"/>
            <a:ext cx="31812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920" b="0" i="0" u="none" strike="noStrike" cap="none">
                <a:solidFill>
                  <a:srgbClr val="475569"/>
                </a:solidFill>
                <a:latin typeface="Aptos"/>
                <a:ea typeface="Hepta Slab SemiBold"/>
                <a:cs typeface="Hepta Slab SemiBold"/>
                <a:sym typeface="Hepta Slab SemiBold"/>
              </a:rPr>
              <a:t>Expected Impact</a:t>
            </a:r>
            <a:endParaRPr sz="1920" b="0" i="0" u="none" strike="noStrike" cap="none">
              <a:solidFill>
                <a:srgbClr val="FF0000"/>
              </a:solidFill>
              <a:latin typeface="Hepta Slab SemiBold"/>
              <a:ea typeface="Hepta Slab SemiBold"/>
              <a:cs typeface="Hepta Slab SemiBold"/>
              <a:sym typeface="Hepta Slab SemiBold"/>
            </a:endParaRPr>
          </a:p>
        </p:txBody>
      </p:sp>
      <p:sp>
        <p:nvSpPr>
          <p:cNvPr id="549" name="Google Shape;549;p22"/>
          <p:cNvSpPr/>
          <p:nvPr/>
        </p:nvSpPr>
        <p:spPr>
          <a:xfrm>
            <a:off x="6292267" y="1674017"/>
            <a:ext cx="4801600" cy="265200"/>
          </a:xfrm>
          <a:prstGeom prst="rect">
            <a:avLst/>
          </a:prstGeom>
          <a:noFill/>
          <a:ln>
            <a:noFill/>
          </a:ln>
        </p:spPr>
        <p:txBody>
          <a:bodyPr spcFirstLastPara="1" wrap="square" lIns="0" tIns="0" rIns="0" bIns="0" anchor="ctr" anchorCtr="0">
            <a:noAutofit/>
          </a:bodyPr>
          <a:lstStyle/>
          <a:p>
            <a:pPr marL="0" marR="0" lvl="0" indent="0" algn="ctr" rtl="0">
              <a:lnSpc>
                <a:spcPct val="104000"/>
              </a:lnSpc>
              <a:spcBef>
                <a:spcPts val="0"/>
              </a:spcBef>
              <a:spcAft>
                <a:spcPts val="0"/>
              </a:spcAft>
              <a:buClr>
                <a:srgbClr val="E5E0DF"/>
              </a:buClr>
              <a:buSzPts val="1920"/>
              <a:buFont typeface="Poppins Light"/>
              <a:buNone/>
            </a:pPr>
            <a:r>
              <a:rPr lang="en" sz="1653" b="0" i="0" u="none" strike="noStrike" cap="none">
                <a:solidFill>
                  <a:srgbClr val="475569"/>
                </a:solidFill>
                <a:latin typeface="Aptos"/>
                <a:ea typeface="Hepta Slab Medium"/>
                <a:cs typeface="Hepta Slab Medium"/>
                <a:sym typeface="Hepta Slab Medium"/>
              </a:rPr>
              <a:t>Reduction in overall ticket volume and faster service delivery.</a:t>
            </a:r>
            <a:endParaRPr sz="1920" b="0" i="0" u="none" strike="noStrike" cap="none">
              <a:solidFill>
                <a:schemeClr val="lt1"/>
              </a:solidFill>
              <a:latin typeface="Hepta Slab Medium"/>
              <a:ea typeface="Hepta Slab Medium"/>
              <a:cs typeface="Hepta Slab Medium"/>
              <a:sym typeface="Hepta Slab Medium"/>
            </a:endParaRPr>
          </a:p>
        </p:txBody>
      </p:sp>
      <p:sp>
        <p:nvSpPr>
          <p:cNvPr id="550" name="Google Shape;550;p22"/>
          <p:cNvSpPr txBox="1">
            <a:spLocks noGrp="1"/>
          </p:cNvSpPr>
          <p:nvPr>
            <p:ph type="title"/>
          </p:nvPr>
        </p:nvSpPr>
        <p:spPr>
          <a:xfrm>
            <a:off x="44567" y="0"/>
            <a:ext cx="10392000" cy="412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1733">
                <a:solidFill>
                  <a:srgbClr val="475569"/>
                </a:solidFill>
                <a:latin typeface="Aptos"/>
              </a:rPr>
              <a:t>"What actions should the organization take to improve performance?"</a:t>
            </a:r>
            <a:endParaRPr sz="1733">
              <a:solidFill>
                <a:srgbClr val="4A86E8"/>
              </a:solidFill>
            </a:endParaRPr>
          </a:p>
        </p:txBody>
      </p:sp>
      <p:sp>
        <p:nvSpPr>
          <p:cNvPr id="551" name="Rectangle 550"/>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4"/>
        <p:cNvGrpSpPr/>
        <p:nvPr/>
      </p:nvGrpSpPr>
      <p:grpSpPr>
        <a:xfrm>
          <a:off x="0" y="0"/>
          <a:ext cx="0" cy="0"/>
          <a:chOff x="0" y="0"/>
          <a:chExt cx="0" cy="0"/>
        </a:xfrm>
      </p:grpSpPr>
      <p:sp>
        <p:nvSpPr>
          <p:cNvPr id="555" name="Google Shape;555;p23"/>
          <p:cNvSpPr txBox="1">
            <a:spLocks noGrp="1"/>
          </p:cNvSpPr>
          <p:nvPr>
            <p:ph type="title"/>
          </p:nvPr>
        </p:nvSpPr>
        <p:spPr>
          <a:xfrm>
            <a:off x="1003247" y="368732"/>
            <a:ext cx="10332400" cy="652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rPr>
              <a:t>Dashboard</a:t>
            </a:r>
            <a:endParaRPr sz="3467" b="1" dirty="0">
              <a:solidFill>
                <a:srgbClr val="FF0000"/>
              </a:solidFill>
            </a:endParaRPr>
          </a:p>
        </p:txBody>
      </p:sp>
      <p:sp>
        <p:nvSpPr>
          <p:cNvPr id="556" name="Google Shape;556;p23"/>
          <p:cNvSpPr txBox="1">
            <a:spLocks noGrp="1"/>
          </p:cNvSpPr>
          <p:nvPr>
            <p:ph type="title" idx="2"/>
          </p:nvPr>
        </p:nvSpPr>
        <p:spPr>
          <a:xfrm>
            <a:off x="44567" y="0"/>
            <a:ext cx="10392000" cy="412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1733">
                <a:solidFill>
                  <a:srgbClr val="475569"/>
                </a:solidFill>
                <a:latin typeface="Aptos"/>
              </a:rPr>
              <a:t>"How can management quickly monitor overall IT support performance?"</a:t>
            </a:r>
            <a:endParaRPr sz="1733">
              <a:solidFill>
                <a:srgbClr val="4A86E8"/>
              </a:solidFill>
            </a:endParaRPr>
          </a:p>
        </p:txBody>
      </p:sp>
      <p:sp>
        <p:nvSpPr>
          <p:cNvPr id="557" name="Rectangle 556"/>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0" name="Dashboard Frame"/>
          <p:cNvSpPr/>
          <p:nvPr/>
        </p:nvSpPr>
        <p:spPr>
          <a:xfrm>
            <a:off x="650911" y="1274064"/>
            <a:ext cx="10294388" cy="5171135"/>
          </a:xfrm>
          <a:prstGeom prst="roundRect">
            <a:avLst>
              <a:gd name="adj" fmla="val 2200"/>
            </a:avLst>
          </a:prstGeom>
          <a:solidFill>
            <a:srgbClr val="FFFFFF"/>
          </a:solidFill>
          <a:ln w="19050">
            <a:solidFill>
              <a:schemeClr val="accent1">
                <a:lumMod val="60000"/>
                <a:lumOff val="10000"/>
              </a:schemeClr>
            </a:solidFill>
          </a:ln>
          <a:effectLst>
            <a:outerShdw blurRad="180000" dist="50000" dir="5400000" rotWithShape="0">
              <a:schemeClr val="accent1">
                <a:lumMod val="60000"/>
                <a:alpha val="45000"/>
              </a:schemeClr>
            </a:outerShdw>
          </a:effectLst>
        </p:spPr>
        <p:txBody>
          <a:bodyPr rtlCol="0" anchor="ctr"/>
          <a:lstStyle/>
          <a:p>
            <a:pPr algn="ctr"/>
            <a:endParaRPr lang="en-US"/>
          </a:p>
        </p:txBody>
      </p:sp>
      <p:pic>
        <p:nvPicPr>
          <p:cNvPr id="4" name="Picture 3">
            <a:extLst>
              <a:ext uri="{FF2B5EF4-FFF2-40B4-BE49-F238E27FC236}">
                <a16:creationId xmlns:a16="http://schemas.microsoft.com/office/drawing/2014/main" id="{27BDF23E-2C60-951F-9476-7420A15D07C4}"/>
              </a:ext>
            </a:extLst>
          </p:cNvPr>
          <p:cNvPicPr>
            <a:picLocks noChangeAspect="1"/>
          </p:cNvPicPr>
          <p:nvPr/>
        </p:nvPicPr>
        <p:blipFill>
          <a:blip r:embed="rId3"/>
          <a:stretch>
            <a:fillRect/>
          </a:stretch>
        </p:blipFill>
        <p:spPr>
          <a:xfrm>
            <a:off x="715911" y="1339064"/>
            <a:ext cx="10229388" cy="510613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1"/>
        <p:cNvGrpSpPr/>
        <p:nvPr/>
      </p:nvGrpSpPr>
      <p:grpSpPr>
        <a:xfrm>
          <a:off x="0" y="0"/>
          <a:ext cx="0" cy="0"/>
          <a:chOff x="0" y="0"/>
          <a:chExt cx="0" cy="0"/>
        </a:xfrm>
      </p:grpSpPr>
      <p:sp>
        <p:nvSpPr>
          <p:cNvPr id="562" name="Google Shape;562;p24"/>
          <p:cNvSpPr txBox="1">
            <a:spLocks noGrp="1"/>
          </p:cNvSpPr>
          <p:nvPr>
            <p:ph type="subTitle" idx="1"/>
          </p:nvPr>
        </p:nvSpPr>
        <p:spPr>
          <a:xfrm>
            <a:off x="1863900" y="466133"/>
            <a:ext cx="8238000" cy="476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867"/>
              <a:buNone/>
            </a:pPr>
            <a:r>
              <a:rPr lang="en" sz="4000" b="1" dirty="0">
                <a:solidFill>
                  <a:srgbClr val="12375C"/>
                </a:solidFill>
                <a:latin typeface="Aptos"/>
              </a:rPr>
              <a:t>Interactive Dashboard</a:t>
            </a:r>
            <a:endParaRPr sz="4000" b="1" dirty="0">
              <a:solidFill>
                <a:srgbClr val="FF0000"/>
              </a:solidFill>
            </a:endParaRPr>
          </a:p>
          <a:p>
            <a:pPr marL="0" lvl="0" indent="0" algn="ctr" rtl="0">
              <a:lnSpc>
                <a:spcPct val="100000"/>
              </a:lnSpc>
              <a:spcBef>
                <a:spcPts val="0"/>
              </a:spcBef>
              <a:spcAft>
                <a:spcPts val="0"/>
              </a:spcAft>
              <a:buSzPts val="1867"/>
              <a:buNone/>
            </a:pPr>
            <a:r>
              <a:rPr lang="en" sz="2267" dirty="0">
                <a:solidFill>
                  <a:srgbClr val="475569"/>
                </a:solidFill>
                <a:latin typeface="Aptos"/>
              </a:rPr>
              <a:t>  Executive Overview </a:t>
            </a:r>
            <a:endParaRPr sz="2267" dirty="0">
              <a:solidFill>
                <a:srgbClr val="FF0000"/>
              </a:solidFill>
            </a:endParaRPr>
          </a:p>
          <a:p>
            <a:pPr marL="0" lvl="0" indent="0" algn="ctr" rtl="0">
              <a:lnSpc>
                <a:spcPct val="100000"/>
              </a:lnSpc>
              <a:spcBef>
                <a:spcPts val="0"/>
              </a:spcBef>
              <a:spcAft>
                <a:spcPts val="0"/>
              </a:spcAft>
              <a:buSzPts val="1867"/>
              <a:buNone/>
            </a:pPr>
            <a:endParaRPr sz="2267" dirty="0">
              <a:solidFill>
                <a:srgbClr val="FF0000"/>
              </a:solidFill>
            </a:endParaRPr>
          </a:p>
        </p:txBody>
      </p:sp>
      <p:sp>
        <p:nvSpPr>
          <p:cNvPr id="563" name="Google Shape;563;p24"/>
          <p:cNvSpPr txBox="1">
            <a:spLocks noGrp="1"/>
          </p:cNvSpPr>
          <p:nvPr>
            <p:ph type="sldNum" idx="12"/>
          </p:nvPr>
        </p:nvSpPr>
        <p:spPr>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467"/>
              <a:buNone/>
            </a:pPr>
            <a:fld id="{00000000-1234-1234-1234-123412341234}" type="slidenum">
              <a:rPr lang="en"/>
              <a:t>19</a:t>
            </a:fld>
            <a:endParaRPr/>
          </a:p>
        </p:txBody>
      </p:sp>
      <p:sp>
        <p:nvSpPr>
          <p:cNvPr id="565" name="Google Shape;565;p24"/>
          <p:cNvSpPr txBox="1">
            <a:spLocks noGrp="1"/>
          </p:cNvSpPr>
          <p:nvPr>
            <p:ph type="title" idx="4294967295"/>
          </p:nvPr>
        </p:nvSpPr>
        <p:spPr>
          <a:xfrm>
            <a:off x="1863900" y="1625600"/>
            <a:ext cx="9028467" cy="4421717"/>
          </a:xfrm>
          <a:prstGeom prst="rect">
            <a:avLst/>
          </a:prstGeom>
          <a:solidFill>
            <a:schemeClr val="accent1">
              <a:lumMod val="40000"/>
              <a:lumOff val="60000"/>
            </a:schemeClr>
          </a:solidFill>
          <a:ln>
            <a:noFill/>
          </a:ln>
        </p:spPr>
        <p:txBody>
          <a:bodyPr spcFirstLastPara="1" wrap="square" lIns="91425" tIns="91425" rIns="91425" bIns="91425" anchor="t" anchorCtr="0">
            <a:noAutofit/>
          </a:bodyPr>
          <a:lstStyle/>
          <a:p>
            <a:pPr marL="0" lvl="0" indent="0" algn="l" rtl="0">
              <a:lnSpc>
                <a:spcPct val="115000"/>
              </a:lnSpc>
              <a:spcBef>
                <a:spcPts val="1867"/>
              </a:spcBef>
              <a:spcAft>
                <a:spcPts val="0"/>
              </a:spcAft>
              <a:buSzPts val="4800"/>
              <a:buNone/>
            </a:pPr>
            <a:r>
              <a:rPr lang="en" sz="2133" dirty="0">
                <a:solidFill>
                  <a:srgbClr val="475569"/>
                </a:solidFill>
                <a:latin typeface="Aptos"/>
                <a:ea typeface="Hepta Slab SemiBold"/>
                <a:cs typeface="Hepta Slab SemiBold"/>
                <a:sym typeface="Hepta Slab SemiBold"/>
              </a:rPr>
              <a:t>Key Highlights</a:t>
            </a:r>
            <a:endParaRPr sz="2133" dirty="0">
              <a:latin typeface="Hepta Slab SemiBold"/>
              <a:ea typeface="Hepta Slab SemiBold"/>
              <a:cs typeface="Hepta Slab SemiBold"/>
              <a:sym typeface="Hepta Slab SemiBold"/>
            </a:endParaRPr>
          </a:p>
          <a:p>
            <a:pPr marL="0" lvl="0" indent="0" algn="l" rtl="0">
              <a:lnSpc>
                <a:spcPct val="115000"/>
              </a:lnSpc>
              <a:spcBef>
                <a:spcPts val="0"/>
              </a:spcBef>
              <a:spcAft>
                <a:spcPts val="0"/>
              </a:spcAft>
              <a:buNone/>
            </a:pP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Provides an executive-level summary of IT support performance.</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Displays core operational KPIs and workload trends.</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Highlights overall ticket demand and top-performing agents.</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Tracks service quality and customer satisfaction trends.</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Identifies request categories with longer resolution times.</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Provides insights into ticket composition and workforce performance.</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Provides deeper visibility into service quality and resolution performance.</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Highlights workforce demographics and ticket handling patterns.</a:t>
            </a:r>
            <a:endParaRPr sz="1733" dirty="0"/>
          </a:p>
          <a:p>
            <a:pPr marL="609600" lvl="0" indent="-414867" algn="l" rtl="0">
              <a:lnSpc>
                <a:spcPct val="115000"/>
              </a:lnSpc>
              <a:spcBef>
                <a:spcPts val="0"/>
              </a:spcBef>
              <a:spcAft>
                <a:spcPts val="0"/>
              </a:spcAft>
              <a:buSzPts val="1733"/>
              <a:buChar char="❏"/>
            </a:pPr>
            <a:r>
              <a:rPr lang="en" sz="1733" dirty="0">
                <a:solidFill>
                  <a:srgbClr val="475569"/>
                </a:solidFill>
                <a:latin typeface="Aptos"/>
              </a:rPr>
              <a:t>Supports continuous monitoring and performance optimization.</a:t>
            </a:r>
            <a:endParaRPr sz="1733" dirty="0"/>
          </a:p>
          <a:p>
            <a:pPr marL="0" lvl="0" indent="0" algn="l" rtl="0">
              <a:lnSpc>
                <a:spcPct val="100000"/>
              </a:lnSpc>
              <a:spcBef>
                <a:spcPts val="1600"/>
              </a:spcBef>
              <a:spcAft>
                <a:spcPts val="0"/>
              </a:spcAft>
              <a:buSzPts val="4800"/>
              <a:buNone/>
            </a:pPr>
            <a:endParaRPr sz="2133" dirty="0"/>
          </a:p>
        </p:txBody>
      </p:sp>
      <p:sp>
        <p:nvSpPr>
          <p:cNvPr id="564" name="Google Shape;564;p24"/>
          <p:cNvSpPr/>
          <p:nvPr/>
        </p:nvSpPr>
        <p:spPr>
          <a:xfrm>
            <a:off x="5648368" y="5695633"/>
            <a:ext cx="6289200" cy="5684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F2F2F3"/>
              </a:buClr>
              <a:buSzPts val="1467"/>
              <a:buFont typeface="Poppins Light"/>
              <a:buNone/>
            </a:pPr>
            <a:endParaRPr sz="1467" b="0" i="0" u="none" strike="noStrike" cap="none">
              <a:solidFill>
                <a:srgbClr val="000000"/>
              </a:solidFill>
              <a:latin typeface="Hepta Slab Medium"/>
              <a:ea typeface="Hepta Slab Medium"/>
              <a:cs typeface="Hepta Slab Medium"/>
              <a:sym typeface="Hepta Slab Medium"/>
            </a:endParaRPr>
          </a:p>
        </p:txBody>
      </p:sp>
      <p:sp>
        <p:nvSpPr>
          <p:cNvPr id="567" name="Rectangle 566"/>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0"/>
        <p:cNvGrpSpPr/>
        <p:nvPr/>
      </p:nvGrpSpPr>
      <p:grpSpPr>
        <a:xfrm>
          <a:off x="0" y="0"/>
          <a:ext cx="0" cy="0"/>
          <a:chOff x="0" y="0"/>
          <a:chExt cx="0" cy="0"/>
        </a:xfrm>
      </p:grpSpPr>
      <p:sp>
        <p:nvSpPr>
          <p:cNvPr id="571" name="Google Shape;571;p30"/>
          <p:cNvSpPr txBox="1"/>
          <p:nvPr/>
        </p:nvSpPr>
        <p:spPr>
          <a:xfrm>
            <a:off x="467167" y="2278733"/>
            <a:ext cx="11158000" cy="3549649"/>
          </a:xfrm>
          <a:prstGeom prst="rect">
            <a:avLst/>
          </a:prstGeom>
          <a:solidFill>
            <a:schemeClr val="accent1">
              <a:lumMod val="40000"/>
              <a:lumOff val="60000"/>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2400" b="0" i="0" u="none" strike="noStrike" cap="none" dirty="0">
                <a:solidFill>
                  <a:srgbClr val="12375C"/>
                </a:solidFill>
                <a:latin typeface="Aptos"/>
                <a:ea typeface="Hepta Slab SemiBold"/>
                <a:cs typeface="Hepta Slab SemiBold"/>
                <a:sym typeface="Hepta Slab SemiBold"/>
              </a:rPr>
              <a:t>Final Recommendation</a:t>
            </a:r>
            <a:endParaRPr sz="2400" b="0" i="0" u="none" strike="noStrike" cap="none" dirty="0">
              <a:solidFill>
                <a:schemeClr val="dk1"/>
              </a:solidFill>
              <a:latin typeface="Hepta Slab SemiBold"/>
              <a:ea typeface="Hepta Slab SemiBold"/>
              <a:cs typeface="Hepta Slab SemiBold"/>
              <a:sym typeface="Hepta Slab SemiBold"/>
            </a:endParaRPr>
          </a:p>
          <a:p>
            <a:pPr marL="0" marR="0" lvl="0" indent="0" algn="l" rtl="0">
              <a:lnSpc>
                <a:spcPct val="100000"/>
              </a:lnSpc>
              <a:spcBef>
                <a:spcPts val="0"/>
              </a:spcBef>
              <a:spcAft>
                <a:spcPts val="0"/>
              </a:spcAft>
              <a:buClr>
                <a:srgbClr val="000000"/>
              </a:buClr>
              <a:buSzPts val="2400"/>
              <a:buFont typeface="Arial"/>
              <a:buNone/>
            </a:pPr>
            <a:endParaRPr sz="1733"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 sz="1733" b="0" i="0" u="none" strike="noStrike" cap="none" dirty="0">
                <a:solidFill>
                  <a:srgbClr val="475569"/>
                </a:solidFill>
                <a:latin typeface="Aptos"/>
                <a:ea typeface="Hepta Slab Medium"/>
                <a:cs typeface="Hepta Slab Medium"/>
                <a:sym typeface="Hepta Slab Medium"/>
              </a:rPr>
              <a:t>✅ Prioritize technology upgrades, automation, and process improvements to reduce resolution times.</a:t>
            </a:r>
          </a:p>
          <a:p>
            <a:pPr marL="0" marR="0" lvl="0" indent="0" algn="l" rtl="0">
              <a:lnSpc>
                <a:spcPct val="100000"/>
              </a:lnSpc>
              <a:spcBef>
                <a:spcPts val="0"/>
              </a:spcBef>
              <a:spcAft>
                <a:spcPts val="0"/>
              </a:spcAft>
              <a:buClr>
                <a:srgbClr val="000000"/>
              </a:buClr>
              <a:buSzPts val="2000"/>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00000"/>
              </a:lnSpc>
              <a:spcBef>
                <a:spcPts val="0"/>
              </a:spcBef>
              <a:spcAft>
                <a:spcPts val="0"/>
              </a:spcAft>
              <a:buClr>
                <a:srgbClr val="000000"/>
              </a:buClr>
              <a:buSzPts val="2000"/>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00000"/>
              </a:lnSpc>
              <a:spcBef>
                <a:spcPts val="0"/>
              </a:spcBef>
              <a:spcAft>
                <a:spcPts val="0"/>
              </a:spcAft>
              <a:buClr>
                <a:srgbClr val="000000"/>
              </a:buClr>
              <a:buSzPts val="2000"/>
              <a:buFont typeface="Arial"/>
              <a:buNone/>
            </a:pPr>
            <a:r>
              <a:rPr lang="en" sz="1733" b="0" i="0" u="none" strike="noStrike" cap="none" dirty="0">
                <a:solidFill>
                  <a:srgbClr val="475569"/>
                </a:solidFill>
                <a:latin typeface="Aptos"/>
                <a:ea typeface="Hepta Slab Medium"/>
                <a:cs typeface="Hepta Slab Medium"/>
                <a:sym typeface="Hepta Slab Medium"/>
              </a:rPr>
              <a:t>✅ Invest in targeted training and coaching for selected agents to improve customer satisfaction and service</a:t>
            </a:r>
          </a:p>
          <a:p>
            <a:pPr marL="0" marR="0" lvl="0" indent="0" algn="l" rtl="0">
              <a:lnSpc>
                <a:spcPct val="100000"/>
              </a:lnSpc>
              <a:spcBef>
                <a:spcPts val="0"/>
              </a:spcBef>
              <a:spcAft>
                <a:spcPts val="0"/>
              </a:spcAft>
              <a:buClr>
                <a:srgbClr val="000000"/>
              </a:buClr>
              <a:buSzPts val="2000"/>
              <a:buFont typeface="Arial"/>
              <a:buNone/>
            </a:pPr>
            <a:r>
              <a:rPr lang="en" sz="1733" b="0" i="0" u="none" strike="noStrike" cap="none" dirty="0">
                <a:solidFill>
                  <a:srgbClr val="475569"/>
                </a:solidFill>
                <a:latin typeface="Aptos"/>
                <a:ea typeface="Hepta Slab Medium"/>
                <a:cs typeface="Hepta Slab Medium"/>
                <a:sym typeface="Hepta Slab Medium"/>
              </a:rPr>
              <a:t> consistency.</a:t>
            </a:r>
          </a:p>
          <a:p>
            <a:pPr marL="0" marR="0" lvl="0" indent="0" algn="l" rtl="0">
              <a:lnSpc>
                <a:spcPct val="100000"/>
              </a:lnSpc>
              <a:spcBef>
                <a:spcPts val="0"/>
              </a:spcBef>
              <a:spcAft>
                <a:spcPts val="0"/>
              </a:spcAft>
              <a:buClr>
                <a:srgbClr val="000000"/>
              </a:buClr>
              <a:buSzPts val="2000"/>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00000"/>
              </a:lnSpc>
              <a:spcBef>
                <a:spcPts val="0"/>
              </a:spcBef>
              <a:spcAft>
                <a:spcPts val="0"/>
              </a:spcAft>
              <a:buClr>
                <a:srgbClr val="000000"/>
              </a:buClr>
              <a:buSzPts val="2000"/>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0" marR="0" lvl="0" indent="0" algn="l" rtl="0">
              <a:lnSpc>
                <a:spcPct val="100000"/>
              </a:lnSpc>
              <a:spcBef>
                <a:spcPts val="0"/>
              </a:spcBef>
              <a:spcAft>
                <a:spcPts val="0"/>
              </a:spcAft>
              <a:buClr>
                <a:srgbClr val="000000"/>
              </a:buClr>
              <a:buSzPts val="2000"/>
              <a:buFont typeface="Arial"/>
              <a:buNone/>
            </a:pPr>
            <a:r>
              <a:rPr lang="en" sz="1733" b="0" i="0" u="none" strike="noStrike" cap="none" dirty="0">
                <a:solidFill>
                  <a:srgbClr val="475569"/>
                </a:solidFill>
                <a:latin typeface="Aptos"/>
                <a:ea typeface="Hepta Slab Medium"/>
                <a:cs typeface="Hepta Slab Medium"/>
                <a:sym typeface="Hepta Slab Medium"/>
              </a:rPr>
              <a:t>✅ Continue monitoring key KPIs through the dashboard to support data-driven decision-making and continuous improvement.</a:t>
            </a:r>
            <a:br>
              <a:rPr lang="en" sz="1733" b="0" i="0" u="none" strike="noStrike" cap="none" dirty="0">
                <a:solidFill>
                  <a:schemeClr val="dk1"/>
                </a:solidFill>
                <a:latin typeface="Hepta Slab Medium"/>
                <a:ea typeface="Hepta Slab Medium"/>
                <a:cs typeface="Hepta Slab Medium"/>
                <a:sym typeface="Hepta Slab Medium"/>
              </a:rPr>
            </a:br>
            <a:endParaRPr sz="1733" b="0" i="0" u="none" strike="noStrike" cap="none" dirty="0">
              <a:solidFill>
                <a:schemeClr val="dk1"/>
              </a:solidFill>
              <a:latin typeface="Hepta Slab Medium"/>
              <a:ea typeface="Hepta Slab Medium"/>
              <a:cs typeface="Hepta Slab Medium"/>
              <a:sym typeface="Hepta Slab Medium"/>
            </a:endParaRPr>
          </a:p>
        </p:txBody>
      </p:sp>
      <p:sp>
        <p:nvSpPr>
          <p:cNvPr id="572" name="Google Shape;572;p30"/>
          <p:cNvSpPr txBox="1">
            <a:spLocks noGrp="1"/>
          </p:cNvSpPr>
          <p:nvPr>
            <p:ph type="title"/>
          </p:nvPr>
        </p:nvSpPr>
        <p:spPr>
          <a:xfrm>
            <a:off x="972467" y="94133"/>
            <a:ext cx="10332400" cy="75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ea typeface="Hepta Slab SemiBold"/>
                <a:cs typeface="Hepta Slab SemiBold"/>
                <a:sym typeface="Hepta Slab SemiBold"/>
              </a:rPr>
              <a:t>Closing Statement</a:t>
            </a:r>
            <a:endParaRPr sz="4000" b="1" dirty="0">
              <a:solidFill>
                <a:srgbClr val="FF0000"/>
              </a:solidFill>
              <a:latin typeface="Hepta Slab SemiBold"/>
              <a:ea typeface="Hepta Slab SemiBold"/>
              <a:cs typeface="Hepta Slab SemiBold"/>
              <a:sym typeface="Hepta Slab SemiBold"/>
            </a:endParaRPr>
          </a:p>
        </p:txBody>
      </p:sp>
      <p:sp>
        <p:nvSpPr>
          <p:cNvPr id="573" name="Google Shape;573;p30"/>
          <p:cNvSpPr txBox="1">
            <a:spLocks noGrp="1"/>
          </p:cNvSpPr>
          <p:nvPr>
            <p:ph type="title" idx="2"/>
          </p:nvPr>
        </p:nvSpPr>
        <p:spPr>
          <a:xfrm>
            <a:off x="929800" y="798667"/>
            <a:ext cx="10332400" cy="59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7067"/>
              <a:buNone/>
            </a:pPr>
            <a:r>
              <a:rPr lang="en" sz="1733" dirty="0">
                <a:solidFill>
                  <a:srgbClr val="475569"/>
                </a:solidFill>
                <a:latin typeface="Aptos"/>
              </a:rPr>
              <a:t>The analysis indicates that improving technology and operational processes will deliver greater business value than increasing headcount, enabling faster ticket resolution, sustained employee satisfaction, and more efficient IT support operations</a:t>
            </a:r>
            <a:r>
              <a:rPr lang="en" sz="1867" dirty="0">
                <a:solidFill>
                  <a:srgbClr val="475569"/>
                </a:solidFill>
                <a:latin typeface="Aptos"/>
              </a:rPr>
              <a:t>.</a:t>
            </a:r>
            <a:endParaRPr sz="1867" dirty="0"/>
          </a:p>
        </p:txBody>
      </p:sp>
      <p:sp>
        <p:nvSpPr>
          <p:cNvPr id="574" name="Rectangle 573"/>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7"/>
        <p:cNvGrpSpPr/>
        <p:nvPr/>
      </p:nvGrpSpPr>
      <p:grpSpPr>
        <a:xfrm>
          <a:off x="0" y="0"/>
          <a:ext cx="0" cy="0"/>
          <a:chOff x="0" y="0"/>
          <a:chExt cx="0" cy="0"/>
        </a:xfrm>
      </p:grpSpPr>
      <p:sp>
        <p:nvSpPr>
          <p:cNvPr id="578" name="Google Shape;578;p29"/>
          <p:cNvSpPr txBox="1">
            <a:spLocks noGrp="1"/>
          </p:cNvSpPr>
          <p:nvPr>
            <p:ph type="title"/>
          </p:nvPr>
        </p:nvSpPr>
        <p:spPr>
          <a:xfrm>
            <a:off x="965367" y="556533"/>
            <a:ext cx="10332400" cy="75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4000" b="1" dirty="0">
                <a:solidFill>
                  <a:srgbClr val="12375C"/>
                </a:solidFill>
                <a:latin typeface="Aptos"/>
                <a:ea typeface="Hepta Slab SemiBold"/>
                <a:cs typeface="Hepta Slab SemiBold"/>
                <a:sym typeface="Hepta Slab SemiBold"/>
              </a:rPr>
              <a:t>Conclusion</a:t>
            </a:r>
            <a:endParaRPr sz="4000" b="1" dirty="0">
              <a:solidFill>
                <a:srgbClr val="FF0000"/>
              </a:solidFill>
              <a:latin typeface="Hepta Slab SemiBold"/>
              <a:ea typeface="Hepta Slab SemiBold"/>
              <a:cs typeface="Hepta Slab SemiBold"/>
              <a:sym typeface="Hepta Slab SemiBold"/>
            </a:endParaRPr>
          </a:p>
        </p:txBody>
      </p:sp>
      <p:sp>
        <p:nvSpPr>
          <p:cNvPr id="581" name="Google Shape;581;p29"/>
          <p:cNvSpPr txBox="1">
            <a:spLocks noGrp="1"/>
          </p:cNvSpPr>
          <p:nvPr>
            <p:ph type="title" idx="2"/>
          </p:nvPr>
        </p:nvSpPr>
        <p:spPr>
          <a:xfrm>
            <a:off x="44567" y="0"/>
            <a:ext cx="10392000" cy="412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4800"/>
              <a:buNone/>
            </a:pPr>
            <a:r>
              <a:rPr lang="en" sz="1733" i="1" dirty="0">
                <a:latin typeface="Aptos"/>
              </a:rPr>
              <a:t>"What is the final recommendation based on the analysis?"</a:t>
            </a:r>
            <a:endParaRPr sz="1733" i="1" dirty="0"/>
          </a:p>
        </p:txBody>
      </p:sp>
      <p:sp>
        <p:nvSpPr>
          <p:cNvPr id="579" name="Google Shape;579;p29"/>
          <p:cNvSpPr txBox="1">
            <a:spLocks noGrp="1"/>
          </p:cNvSpPr>
          <p:nvPr>
            <p:ph type="title" idx="4294967295"/>
          </p:nvPr>
        </p:nvSpPr>
        <p:spPr>
          <a:xfrm>
            <a:off x="0" y="1198033"/>
            <a:ext cx="10333567" cy="590551"/>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7067"/>
              <a:buNone/>
            </a:pPr>
            <a:r>
              <a:rPr lang="en" sz="1733" dirty="0">
                <a:solidFill>
                  <a:srgbClr val="475569"/>
                </a:solidFill>
                <a:latin typeface="Aptos"/>
              </a:rPr>
              <a:t>The analysis successfully evaluated the performance of IT support operations using historical ticket data.</a:t>
            </a:r>
            <a:endParaRPr sz="1733" dirty="0"/>
          </a:p>
        </p:txBody>
      </p:sp>
      <p:sp>
        <p:nvSpPr>
          <p:cNvPr id="580" name="Google Shape;580;p29"/>
          <p:cNvSpPr txBox="1"/>
          <p:nvPr/>
        </p:nvSpPr>
        <p:spPr>
          <a:xfrm>
            <a:off x="474300" y="1880333"/>
            <a:ext cx="11158000" cy="4739719"/>
          </a:xfrm>
          <a:prstGeom prst="rect">
            <a:avLst/>
          </a:prstGeom>
          <a:solidFill>
            <a:schemeClr val="accent1">
              <a:lumMod val="40000"/>
              <a:lumOff val="60000"/>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 sz="1733" b="0" i="0" u="none" strike="noStrike" cap="none" dirty="0">
                <a:solidFill>
                  <a:srgbClr val="475569"/>
                </a:solidFill>
                <a:latin typeface="Aptos"/>
                <a:ea typeface="Hepta Slab SemiBold"/>
                <a:cs typeface="Hepta Slab SemiBold"/>
                <a:sym typeface="Hepta Slab SemiBold"/>
              </a:rPr>
              <a:t>Major Findings</a:t>
            </a:r>
            <a:endParaRPr sz="1733" b="0" i="0" u="none" strike="noStrike" cap="none" dirty="0">
              <a:solidFill>
                <a:schemeClr val="dk1"/>
              </a:solidFill>
              <a:latin typeface="Hepta Slab SemiBold"/>
              <a:ea typeface="Hepta Slab SemiBold"/>
              <a:cs typeface="Hepta Slab SemiBold"/>
              <a:sym typeface="Hepta Slab SemiBold"/>
            </a:endParaRPr>
          </a:p>
          <a:p>
            <a:pPr marL="0" marR="0" lvl="0" indent="0" algn="l" rtl="0">
              <a:lnSpc>
                <a:spcPct val="100000"/>
              </a:lnSpc>
              <a:spcBef>
                <a:spcPts val="0"/>
              </a:spcBef>
              <a:spcAft>
                <a:spcPts val="0"/>
              </a:spcAft>
              <a:buClr>
                <a:srgbClr val="000000"/>
              </a:buClr>
              <a:buSzPts val="1867"/>
              <a:buFont typeface="Arial"/>
              <a:buNone/>
            </a:pPr>
            <a:endParaRPr sz="1733" b="0" i="0" u="none" strike="noStrike" cap="none" dirty="0">
              <a:solidFill>
                <a:schemeClr val="dk1"/>
              </a:solidFill>
              <a:latin typeface="Arial"/>
              <a:ea typeface="Arial"/>
              <a:cs typeface="Arial"/>
              <a:sym typeface="Arial"/>
            </a:endParaRPr>
          </a:p>
          <a:p>
            <a:pPr marL="609600" marR="0" lvl="0" indent="-397933" algn="l" rtl="0">
              <a:lnSpc>
                <a:spcPct val="100000"/>
              </a:lnSpc>
              <a:spcBef>
                <a:spcPts val="0"/>
              </a:spcBef>
              <a:spcAft>
                <a:spcPts val="0"/>
              </a:spcAft>
              <a:buClr>
                <a:schemeClr val="dk1"/>
              </a:buClr>
              <a:buSzPts val="1467"/>
              <a:buFont typeface="Hepta Slab Medium"/>
              <a:buChar char="●"/>
            </a:pPr>
            <a:r>
              <a:rPr lang="en" sz="1733" b="0" i="0" u="none" strike="noStrike" cap="none" dirty="0">
                <a:solidFill>
                  <a:srgbClr val="475569"/>
                </a:solidFill>
                <a:latin typeface="Aptos"/>
                <a:ea typeface="Hepta Slab Medium"/>
                <a:cs typeface="Hepta Slab Medium"/>
                <a:sym typeface="Hepta Slab Medium"/>
              </a:rPr>
              <a:t>The IT support team handled 97,498 tickets while maintaining a strong average satisfaction score of approximately 4.1/5.</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0" algn="l" rtl="0">
              <a:lnSpc>
                <a:spcPct val="100000"/>
              </a:lnSpc>
              <a:spcBef>
                <a:spcPts val="0"/>
              </a:spcBef>
              <a:spcAft>
                <a:spcPts val="0"/>
              </a:spcAft>
              <a:buClr>
                <a:srgbClr val="000000"/>
              </a:buClr>
              <a:buSzPts val="1467"/>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609600" marR="0" lvl="0" indent="-397933" algn="l" rtl="0">
              <a:lnSpc>
                <a:spcPct val="100000"/>
              </a:lnSpc>
              <a:spcBef>
                <a:spcPts val="0"/>
              </a:spcBef>
              <a:spcAft>
                <a:spcPts val="0"/>
              </a:spcAft>
              <a:buClr>
                <a:schemeClr val="dk1"/>
              </a:buClr>
              <a:buSzPts val="1467"/>
              <a:buFont typeface="Hepta Slab Medium"/>
              <a:buChar char="●"/>
            </a:pPr>
            <a:r>
              <a:rPr lang="en" sz="1733" b="0" i="0" u="none" strike="noStrike" cap="none" dirty="0">
                <a:solidFill>
                  <a:srgbClr val="475569"/>
                </a:solidFill>
                <a:latin typeface="Aptos"/>
                <a:ea typeface="Hepta Slab Medium"/>
                <a:cs typeface="Hepta Slab Medium"/>
                <a:sym typeface="Hepta Slab Medium"/>
              </a:rPr>
              <a:t>Ticket volume increased over time, but service quality remained stable, demonstrating effective operational performance.</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0" algn="l" rtl="0">
              <a:lnSpc>
                <a:spcPct val="100000"/>
              </a:lnSpc>
              <a:spcBef>
                <a:spcPts val="0"/>
              </a:spcBef>
              <a:spcAft>
                <a:spcPts val="0"/>
              </a:spcAft>
              <a:buClr>
                <a:srgbClr val="000000"/>
              </a:buClr>
              <a:buSzPts val="1467"/>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609600" marR="0" lvl="0" indent="-397933" algn="l" rtl="0">
              <a:lnSpc>
                <a:spcPct val="100000"/>
              </a:lnSpc>
              <a:spcBef>
                <a:spcPts val="0"/>
              </a:spcBef>
              <a:spcAft>
                <a:spcPts val="0"/>
              </a:spcAft>
              <a:buClr>
                <a:schemeClr val="dk1"/>
              </a:buClr>
              <a:buSzPts val="1467"/>
              <a:buFont typeface="Hepta Slab Medium"/>
              <a:buChar char="●"/>
            </a:pPr>
            <a:r>
              <a:rPr lang="en" sz="1733" b="0" i="0" u="none" strike="noStrike" cap="none" dirty="0">
                <a:solidFill>
                  <a:srgbClr val="475569"/>
                </a:solidFill>
                <a:latin typeface="Aptos"/>
                <a:ea typeface="Hepta Slab Medium"/>
                <a:cs typeface="Hepta Slab Medium"/>
                <a:sym typeface="Hepta Slab Medium"/>
              </a:rPr>
              <a:t>Hardware and System requests consistently required the longest resolution times and represent the primary operational bottlenecks.</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0" algn="l" rtl="0">
              <a:lnSpc>
                <a:spcPct val="100000"/>
              </a:lnSpc>
              <a:spcBef>
                <a:spcPts val="0"/>
              </a:spcBef>
              <a:spcAft>
                <a:spcPts val="0"/>
              </a:spcAft>
              <a:buClr>
                <a:srgbClr val="000000"/>
              </a:buClr>
              <a:buSzPts val="1467"/>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609600" marR="0" lvl="0" indent="-397933" algn="l" rtl="0">
              <a:lnSpc>
                <a:spcPct val="100000"/>
              </a:lnSpc>
              <a:spcBef>
                <a:spcPts val="0"/>
              </a:spcBef>
              <a:spcAft>
                <a:spcPts val="0"/>
              </a:spcAft>
              <a:buClr>
                <a:schemeClr val="dk1"/>
              </a:buClr>
              <a:buSzPts val="1467"/>
              <a:buFont typeface="Hepta Slab Medium"/>
              <a:buChar char="●"/>
            </a:pPr>
            <a:r>
              <a:rPr lang="en" sz="1733" b="0" i="0" u="none" strike="noStrike" cap="none" dirty="0">
                <a:solidFill>
                  <a:srgbClr val="475569"/>
                </a:solidFill>
                <a:latin typeface="Aptos"/>
                <a:ea typeface="Hepta Slab Medium"/>
                <a:cs typeface="Hepta Slab Medium"/>
                <a:sym typeface="Hepta Slab Medium"/>
              </a:rPr>
              <a:t>Workload distribution across agents is balanced, indicating that current staffing levels are generally sufficient.</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0" algn="l" rtl="0">
              <a:lnSpc>
                <a:spcPct val="100000"/>
              </a:lnSpc>
              <a:spcBef>
                <a:spcPts val="0"/>
              </a:spcBef>
              <a:spcAft>
                <a:spcPts val="0"/>
              </a:spcAft>
              <a:buClr>
                <a:srgbClr val="000000"/>
              </a:buClr>
              <a:buSzPts val="1467"/>
              <a:buFont typeface="Arial"/>
              <a:buNone/>
            </a:pPr>
            <a:endParaRPr sz="1733" b="0" i="0" u="none" strike="noStrike" cap="none" dirty="0">
              <a:solidFill>
                <a:schemeClr val="dk1"/>
              </a:solidFill>
              <a:latin typeface="Hepta Slab Medium"/>
              <a:ea typeface="Hepta Slab Medium"/>
              <a:cs typeface="Hepta Slab Medium"/>
              <a:sym typeface="Hepta Slab Medium"/>
            </a:endParaRPr>
          </a:p>
          <a:p>
            <a:pPr marL="609600" marR="0" lvl="0" indent="-397933" algn="l" rtl="0">
              <a:lnSpc>
                <a:spcPct val="100000"/>
              </a:lnSpc>
              <a:spcBef>
                <a:spcPts val="0"/>
              </a:spcBef>
              <a:spcAft>
                <a:spcPts val="0"/>
              </a:spcAft>
              <a:buClr>
                <a:schemeClr val="dk1"/>
              </a:buClr>
              <a:buSzPts val="1467"/>
              <a:buFont typeface="Hepta Slab Medium"/>
              <a:buChar char="●"/>
            </a:pPr>
            <a:r>
              <a:rPr lang="en" sz="1733" b="0" i="0" u="none" strike="noStrike" cap="none" dirty="0">
                <a:solidFill>
                  <a:srgbClr val="475569"/>
                </a:solidFill>
                <a:latin typeface="Aptos"/>
                <a:ea typeface="Hepta Slab Medium"/>
                <a:cs typeface="Hepta Slab Medium"/>
                <a:sym typeface="Hepta Slab Medium"/>
              </a:rPr>
              <a:t>Employee demographics showed minimal impact on satisfaction and ticket outcomes compared to operational and process-related factors.</a:t>
            </a:r>
            <a:endParaRPr sz="1733" b="0" i="0" u="none" strike="noStrike" cap="none" dirty="0">
              <a:solidFill>
                <a:schemeClr val="dk1"/>
              </a:solidFill>
              <a:latin typeface="Hepta Slab Medium"/>
              <a:ea typeface="Hepta Slab Medium"/>
              <a:cs typeface="Hepta Slab Medium"/>
              <a:sym typeface="Hepta Slab Medium"/>
            </a:endParaRPr>
          </a:p>
          <a:p>
            <a:pPr marL="609600" marR="0" lvl="0" indent="0" algn="l" rtl="0">
              <a:lnSpc>
                <a:spcPct val="100000"/>
              </a:lnSpc>
              <a:spcBef>
                <a:spcPts val="0"/>
              </a:spcBef>
              <a:spcAft>
                <a:spcPts val="0"/>
              </a:spcAft>
              <a:buClr>
                <a:srgbClr val="000000"/>
              </a:buClr>
              <a:buSzPts val="1467"/>
              <a:buFont typeface="Arial"/>
              <a:buNone/>
            </a:pPr>
            <a:endParaRPr sz="1467" b="0" i="0" u="none" strike="noStrike" cap="none" dirty="0">
              <a:solidFill>
                <a:schemeClr val="dk1"/>
              </a:solidFill>
              <a:latin typeface="Hepta Slab Medium"/>
              <a:ea typeface="Hepta Slab Medium"/>
              <a:cs typeface="Hepta Slab Medium"/>
              <a:sym typeface="Hepta Slab Medium"/>
            </a:endParaRPr>
          </a:p>
        </p:txBody>
      </p:sp>
      <p:sp>
        <p:nvSpPr>
          <p:cNvPr id="582" name="Rectangle 581"/>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5"/>
        <p:cNvGrpSpPr/>
        <p:nvPr/>
      </p:nvGrpSpPr>
      <p:grpSpPr>
        <a:xfrm>
          <a:off x="0" y="0"/>
          <a:ext cx="0" cy="0"/>
          <a:chOff x="0" y="0"/>
          <a:chExt cx="0" cy="0"/>
        </a:xfrm>
      </p:grpSpPr>
      <p:sp>
        <p:nvSpPr>
          <p:cNvPr id="587" name="Google Shape;587;p31"/>
          <p:cNvSpPr txBox="1">
            <a:spLocks noGrp="1"/>
          </p:cNvSpPr>
          <p:nvPr>
            <p:ph type="title"/>
          </p:nvPr>
        </p:nvSpPr>
        <p:spPr>
          <a:xfrm>
            <a:off x="929800" y="338900"/>
            <a:ext cx="10332400" cy="1200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b="1" dirty="0">
                <a:solidFill>
                  <a:srgbClr val="475569"/>
                </a:solidFill>
                <a:latin typeface="Aptos"/>
              </a:rPr>
              <a:t>Acknowledgements &amp; References</a:t>
            </a:r>
            <a:endParaRPr b="1" dirty="0">
              <a:solidFill>
                <a:schemeClr val="dk2"/>
              </a:solidFill>
            </a:endParaRPr>
          </a:p>
        </p:txBody>
      </p:sp>
      <p:sp>
        <p:nvSpPr>
          <p:cNvPr id="590" name="Google Shape;590;p31"/>
          <p:cNvSpPr txBox="1">
            <a:spLocks noGrp="1"/>
          </p:cNvSpPr>
          <p:nvPr>
            <p:ph type="title" idx="2"/>
          </p:nvPr>
        </p:nvSpPr>
        <p:spPr>
          <a:xfrm>
            <a:off x="845800" y="5993433"/>
            <a:ext cx="10332400" cy="6412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4800"/>
              <a:buNone/>
            </a:pPr>
            <a:r>
              <a:rPr lang="en" sz="2533" b="1" dirty="0">
                <a:solidFill>
                  <a:schemeClr val="accent2"/>
                </a:solidFill>
                <a:latin typeface="Aptos"/>
              </a:rPr>
              <a:t>THANK YOU</a:t>
            </a:r>
            <a:endParaRPr sz="2533" b="1" dirty="0">
              <a:solidFill>
                <a:schemeClr val="accent2"/>
              </a:solidFill>
            </a:endParaRPr>
          </a:p>
        </p:txBody>
      </p:sp>
      <p:sp>
        <p:nvSpPr>
          <p:cNvPr id="588" name="Google Shape;588;p31"/>
          <p:cNvSpPr txBox="1"/>
          <p:nvPr/>
        </p:nvSpPr>
        <p:spPr>
          <a:xfrm>
            <a:off x="411800" y="2041000"/>
            <a:ext cx="10766400" cy="1970000"/>
          </a:xfrm>
          <a:prstGeom prst="rect">
            <a:avLst/>
          </a:prstGeom>
          <a:solidFill>
            <a:schemeClr val="accent1">
              <a:lumMod val="40000"/>
              <a:lumOff val="60000"/>
            </a:schemeClr>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67"/>
              <a:buFont typeface="Arial"/>
              <a:buNone/>
            </a:pPr>
            <a:r>
              <a:rPr lang="en" sz="1867" b="0" i="0" u="none" strike="noStrike" cap="none" dirty="0">
                <a:solidFill>
                  <a:srgbClr val="475569"/>
                </a:solidFill>
                <a:latin typeface="Aptos"/>
                <a:ea typeface="Hepta Slab SemiBold"/>
                <a:cs typeface="Hepta Slab SemiBold"/>
                <a:sym typeface="Hepta Slab SemiBold"/>
              </a:rPr>
              <a:t>    References</a:t>
            </a:r>
            <a:endParaRPr sz="1867" b="0" i="0" u="none" strike="noStrike" cap="none" dirty="0">
              <a:solidFill>
                <a:schemeClr val="dk1"/>
              </a:solidFill>
              <a:latin typeface="Hepta Slab SemiBold"/>
              <a:ea typeface="Hepta Slab SemiBold"/>
              <a:cs typeface="Hepta Slab SemiBold"/>
              <a:sym typeface="Hepta Slab SemiBold"/>
            </a:endParaRPr>
          </a:p>
          <a:p>
            <a:pPr marL="609600" marR="0" lvl="0" indent="-423333" algn="l" rtl="0">
              <a:lnSpc>
                <a:spcPct val="100000"/>
              </a:lnSpc>
              <a:spcBef>
                <a:spcPts val="0"/>
              </a:spcBef>
              <a:spcAft>
                <a:spcPts val="0"/>
              </a:spcAft>
              <a:buClr>
                <a:schemeClr val="dk1"/>
              </a:buClr>
              <a:buSzPts val="1867"/>
              <a:buFont typeface="Hepta Slab Medium"/>
              <a:buChar char="●"/>
            </a:pPr>
            <a:r>
              <a:rPr lang="en" sz="1867" b="0" i="0" u="none" strike="noStrike" cap="none" dirty="0">
                <a:solidFill>
                  <a:srgbClr val="475569"/>
                </a:solidFill>
                <a:latin typeface="Aptos"/>
                <a:ea typeface="Hepta Slab Medium"/>
                <a:cs typeface="Hepta Slab Medium"/>
                <a:sym typeface="Hepta Slab Medium"/>
              </a:rPr>
              <a:t>Project Dataset (Provided Dataset)</a:t>
            </a:r>
            <a:endParaRPr sz="1867" b="0" i="0" u="none" strike="noStrike" cap="none" dirty="0">
              <a:solidFill>
                <a:schemeClr val="dk1"/>
              </a:solidFill>
              <a:latin typeface="Hepta Slab Medium"/>
              <a:ea typeface="Hepta Slab Medium"/>
              <a:cs typeface="Hepta Slab Medium"/>
              <a:sym typeface="Hepta Slab Medium"/>
            </a:endParaRPr>
          </a:p>
          <a:p>
            <a:pPr marL="609600" marR="0" lvl="0" indent="-423333" algn="l" rtl="0">
              <a:lnSpc>
                <a:spcPct val="100000"/>
              </a:lnSpc>
              <a:spcBef>
                <a:spcPts val="0"/>
              </a:spcBef>
              <a:spcAft>
                <a:spcPts val="0"/>
              </a:spcAft>
              <a:buClr>
                <a:schemeClr val="dk1"/>
              </a:buClr>
              <a:buSzPts val="1867"/>
              <a:buFont typeface="Hepta Slab Medium"/>
              <a:buChar char="●"/>
            </a:pPr>
            <a:r>
              <a:rPr lang="en" sz="1867" b="0" i="0" u="none" strike="noStrike" cap="none" dirty="0">
                <a:solidFill>
                  <a:srgbClr val="475569"/>
                </a:solidFill>
                <a:latin typeface="Aptos"/>
                <a:ea typeface="Hepta Slab Medium"/>
                <a:cs typeface="Hepta Slab Medium"/>
                <a:sym typeface="Hepta Slab Medium"/>
              </a:rPr>
              <a:t>Microsoft Excel</a:t>
            </a:r>
            <a:endParaRPr sz="1867" b="0" i="0" u="none" strike="noStrike" cap="none" dirty="0">
              <a:solidFill>
                <a:schemeClr val="dk1"/>
              </a:solidFill>
              <a:latin typeface="Hepta Slab Medium"/>
              <a:ea typeface="Hepta Slab Medium"/>
              <a:cs typeface="Hepta Slab Medium"/>
              <a:sym typeface="Hepta Slab Medium"/>
            </a:endParaRPr>
          </a:p>
          <a:p>
            <a:pPr marL="609600" marR="0" lvl="0" indent="-423333" algn="l" rtl="0">
              <a:lnSpc>
                <a:spcPct val="100000"/>
              </a:lnSpc>
              <a:spcBef>
                <a:spcPts val="0"/>
              </a:spcBef>
              <a:spcAft>
                <a:spcPts val="0"/>
              </a:spcAft>
              <a:buClr>
                <a:schemeClr val="dk1"/>
              </a:buClr>
              <a:buSzPts val="1867"/>
              <a:buFont typeface="Hepta Slab Medium"/>
              <a:buChar char="●"/>
            </a:pPr>
            <a:r>
              <a:rPr lang="en" sz="1867" b="0" i="0" u="none" strike="noStrike" cap="none" dirty="0">
                <a:solidFill>
                  <a:srgbClr val="475569"/>
                </a:solidFill>
                <a:latin typeface="Aptos"/>
                <a:ea typeface="Hepta Slab Medium"/>
                <a:cs typeface="Hepta Slab Medium"/>
                <a:sym typeface="Hepta Slab Medium"/>
              </a:rPr>
              <a:t>Pivot Tables</a:t>
            </a:r>
            <a:endParaRPr sz="1867" b="0" i="0" u="none" strike="noStrike" cap="none" dirty="0">
              <a:solidFill>
                <a:schemeClr val="dk1"/>
              </a:solidFill>
              <a:latin typeface="Hepta Slab Medium"/>
              <a:ea typeface="Hepta Slab Medium"/>
              <a:cs typeface="Hepta Slab Medium"/>
              <a:sym typeface="Hepta Slab Medium"/>
            </a:endParaRPr>
          </a:p>
          <a:p>
            <a:pPr marL="186267" marR="0" lvl="0" algn="l" rtl="0">
              <a:lnSpc>
                <a:spcPct val="100000"/>
              </a:lnSpc>
              <a:spcBef>
                <a:spcPts val="0"/>
              </a:spcBef>
              <a:spcAft>
                <a:spcPts val="0"/>
              </a:spcAft>
              <a:buClr>
                <a:schemeClr val="dk1"/>
              </a:buClr>
              <a:buSzPts val="1867"/>
            </a:pPr>
            <a:r>
              <a:rPr lang="en" sz="1867" b="0" i="0" u="none" strike="noStrike" cap="none" dirty="0">
                <a:solidFill>
                  <a:srgbClr val="475569"/>
                </a:solidFill>
                <a:latin typeface="Aptos"/>
                <a:ea typeface="Hepta Slab Medium"/>
                <a:cs typeface="Hepta Slab Medium"/>
                <a:sym typeface="Hepta Slab Medium"/>
              </a:rPr>
              <a:t>Dashboard Visualizations</a:t>
            </a:r>
            <a:endParaRPr sz="1867" b="0" i="0" u="none" strike="noStrike" cap="none" dirty="0">
              <a:solidFill>
                <a:schemeClr val="dk1"/>
              </a:solidFill>
              <a:latin typeface="Hepta Slab Medium"/>
              <a:ea typeface="Hepta Slab Medium"/>
              <a:cs typeface="Hepta Slab Medium"/>
              <a:sym typeface="Hepta Slab Medium"/>
            </a:endParaRPr>
          </a:p>
          <a:p>
            <a:pPr marL="186267" marR="0" lvl="0" algn="l" rtl="0">
              <a:lnSpc>
                <a:spcPct val="100000"/>
              </a:lnSpc>
              <a:spcBef>
                <a:spcPts val="0"/>
              </a:spcBef>
              <a:spcAft>
                <a:spcPts val="0"/>
              </a:spcAft>
              <a:buClr>
                <a:schemeClr val="dk1"/>
              </a:buClr>
              <a:buSzPts val="1867"/>
            </a:pPr>
            <a:r>
              <a:rPr lang="en" sz="1867" b="0" i="0" u="none" strike="noStrike" cap="none" dirty="0">
                <a:solidFill>
                  <a:srgbClr val="475569"/>
                </a:solidFill>
                <a:latin typeface="Aptos"/>
                <a:ea typeface="Hepta Slab Medium"/>
                <a:cs typeface="Hepta Slab Medium"/>
                <a:sym typeface="Hepta Slab Medium"/>
              </a:rPr>
              <a:t>Spreadsheet Analytics Techniques</a:t>
            </a:r>
            <a:endParaRPr sz="1867" b="0" i="0" u="none" strike="noStrike" cap="none" dirty="0">
              <a:solidFill>
                <a:schemeClr val="dk1"/>
              </a:solidFill>
              <a:latin typeface="Hepta Slab Medium"/>
              <a:ea typeface="Hepta Slab Medium"/>
              <a:cs typeface="Hepta Slab Medium"/>
              <a:sym typeface="Hepta Slab Medium"/>
            </a:endParaRPr>
          </a:p>
        </p:txBody>
      </p:sp>
      <p:sp>
        <p:nvSpPr>
          <p:cNvPr id="589" name="Google Shape;589;p31"/>
          <p:cNvSpPr txBox="1"/>
          <p:nvPr/>
        </p:nvSpPr>
        <p:spPr>
          <a:xfrm>
            <a:off x="761800" y="4545733"/>
            <a:ext cx="10500400" cy="1354400"/>
          </a:xfrm>
          <a:prstGeom prst="rect">
            <a:avLst/>
          </a:prstGeom>
          <a:solidFill>
            <a:schemeClr val="tx2">
              <a:lumMod val="10000"/>
              <a:lumOff val="90000"/>
            </a:schemeClr>
          </a:solidFill>
          <a:ln w="12700" cap="flat" cmpd="sng">
            <a:solidFill>
              <a:srgbClr val="F2F2F3"/>
            </a:solidFill>
            <a:prstDash val="solid"/>
            <a:round/>
            <a:headEnd type="none" w="sm" len="sm"/>
            <a:tailEnd type="none" w="sm" len="sm"/>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67"/>
              <a:buFont typeface="Arial"/>
              <a:buNone/>
            </a:pPr>
            <a:r>
              <a:rPr lang="en" sz="1867" b="0" i="0" u="none" strike="noStrike" cap="none" dirty="0">
                <a:solidFill>
                  <a:srgbClr val="475569"/>
                </a:solidFill>
                <a:latin typeface="Aptos"/>
                <a:ea typeface="Hepta Slab SemiBold"/>
                <a:cs typeface="Hepta Slab SemiBold"/>
                <a:sym typeface="Hepta Slab SemiBold"/>
              </a:rPr>
              <a:t>Acknowledgements</a:t>
            </a:r>
            <a:endParaRPr sz="1867" b="0" i="0" u="none" strike="noStrike" cap="none" dirty="0">
              <a:solidFill>
                <a:srgbClr val="FF0000"/>
              </a:solidFill>
              <a:latin typeface="Hepta Slab SemiBold"/>
              <a:ea typeface="Hepta Slab SemiBold"/>
              <a:cs typeface="Hepta Slab SemiBold"/>
              <a:sym typeface="Hepta Slab SemiBold"/>
            </a:endParaRPr>
          </a:p>
          <a:p>
            <a:pPr marL="0" marR="0" lvl="0" indent="0" algn="l" rtl="0">
              <a:lnSpc>
                <a:spcPct val="100000"/>
              </a:lnSpc>
              <a:spcBef>
                <a:spcPts val="0"/>
              </a:spcBef>
              <a:spcAft>
                <a:spcPts val="0"/>
              </a:spcAft>
              <a:buClr>
                <a:srgbClr val="000000"/>
              </a:buClr>
              <a:buSzPts val="1867"/>
              <a:buFont typeface="Arial"/>
              <a:buNone/>
            </a:pPr>
            <a:endParaRPr sz="1867" b="0" i="0" u="none" strike="noStrike" cap="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733"/>
              <a:buFont typeface="Arial"/>
              <a:buNone/>
            </a:pPr>
            <a:r>
              <a:rPr lang="en" sz="1733" b="0" i="0" u="none" strike="noStrike" cap="none" dirty="0">
                <a:solidFill>
                  <a:srgbClr val="475569"/>
                </a:solidFill>
                <a:latin typeface="Aptos"/>
                <a:ea typeface="Hepta Slab Medium"/>
                <a:cs typeface="Hepta Slab Medium"/>
                <a:sym typeface="Hepta Slab Medium"/>
              </a:rPr>
              <a:t>Special thanks to the project creators and mentors for providing the dataset, project framework, and analytical guidelines.</a:t>
            </a:r>
            <a:endParaRPr sz="1733" b="0" i="0" u="none" strike="noStrike" cap="none" dirty="0">
              <a:solidFill>
                <a:schemeClr val="dk1"/>
              </a:solidFill>
              <a:latin typeface="Hepta Slab Medium"/>
              <a:ea typeface="Hepta Slab Medium"/>
              <a:cs typeface="Hepta Slab Medium"/>
              <a:sym typeface="Hepta Slab Medium"/>
            </a:endParaRPr>
          </a:p>
        </p:txBody>
      </p:sp>
      <p:sp>
        <p:nvSpPr>
          <p:cNvPr id="591" name="Rectangle 590"/>
          <p:cNvSpPr/>
          <p:nvPr/>
        </p:nvSpPr>
        <p:spPr>
          <a:xfrm>
            <a:off x="0" y="0"/>
            <a:ext cx="121920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657</TotalTime>
  <Words>1750</Words>
  <Application>Microsoft Office PowerPoint</Application>
  <PresentationFormat>Widescreen</PresentationFormat>
  <Paragraphs>277</Paragraphs>
  <Slides>22</Slides>
  <Notes>22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22</vt:i4>
      </vt:variant>
    </vt:vector>
  </HeadingPairs>
  <TitlesOfParts>
    <vt:vector size="35" baseType="lpstr">
      <vt:lpstr>Barlow Medium</vt:lpstr>
      <vt:lpstr>Barlow</vt:lpstr>
      <vt:lpstr>Hepta Slab SemiBold</vt:lpstr>
      <vt:lpstr>Aptos Display</vt:lpstr>
      <vt:lpstr>Barlow ExtraLight</vt:lpstr>
      <vt:lpstr>Hepta Slab</vt:lpstr>
      <vt:lpstr>Poppins Light</vt:lpstr>
      <vt:lpstr>Barlow Light</vt:lpstr>
      <vt:lpstr>Arial</vt:lpstr>
      <vt:lpstr>Aptos</vt:lpstr>
      <vt:lpstr>Hepta Slab Medium</vt:lpstr>
      <vt:lpstr>Roboto Light</vt:lpstr>
      <vt:lpstr>Office Theme</vt:lpstr>
      <vt:lpstr>PowerPoint Presentation</vt:lpstr>
      <vt:lpstr>Problem Statement  Organizations receive thousands of IT support requests across multiple categories, severity levels, and issue types. As ticket volumes increase, it becomes difficult to maintain fast resolution times, high employee satisfaction, and efficient resource utilization.  This analysis aims to evaluate IT support performance, identify operational bottlenecks, and determine where future investments should be focused to improve service quality and operational efficiency.</vt:lpstr>
      <vt:lpstr>Evaluate the effectiveness of IT support operations using historical ticket data and identify opportunities to improve service quality, operational efficiency, and resource utilization.</vt:lpstr>
      <vt:lpstr>"What data is available to help us answer these questions?"</vt:lpstr>
      <vt:lpstr>Data Quality Assessment</vt:lpstr>
      <vt:lpstr>"How did we prepare the data for reliable analysis?"</vt:lpstr>
      <vt:lpstr>"How was the data transformed into actionable insights?"</vt:lpstr>
      <vt:lpstr>"What does the current state of IT support operations look like?"</vt:lpstr>
      <vt:lpstr>Ticket Category Distribution Analysis</vt:lpstr>
      <vt:lpstr>Resolution Time Analysis - 1</vt:lpstr>
      <vt:lpstr>Resolution Time Analysis -2</vt:lpstr>
      <vt:lpstr>Ticket Volume Trend Analysis</vt:lpstr>
      <vt:lpstr>Customer Satisfaction Trend Analysis</vt:lpstr>
      <vt:lpstr>Workforce Demographics Analysis</vt:lpstr>
      <vt:lpstr>Severity &amp; Service Quality Analysis</vt:lpstr>
      <vt:lpstr>PowerPoint Presentation</vt:lpstr>
      <vt:lpstr>"What actions should the organization take to improve performance?"</vt:lpstr>
      <vt:lpstr>Dashboard</vt:lpstr>
      <vt:lpstr>Key Highlights  Provides an executive-level summary of IT support performance. Displays core operational KPIs and workload trends. Highlights overall ticket demand and top-performing agents. Tracks service quality and customer satisfaction trends. Identifies request categories with longer resolution times. Provides insights into ticket composition and workforce performance. Provides deeper visibility into service quality and resolution performance. Highlights workforce demographics and ticket handling patterns. Supports continuous monitoring and performance optimization. </vt:lpstr>
      <vt:lpstr>Closing Statement</vt:lpstr>
      <vt:lpstr>Conclusion</vt:lpstr>
      <vt:lpstr>Acknowledgements &amp;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Rajiv Kumar</cp:lastModifiedBy>
  <cp:revision>19</cp:revision>
  <dcterms:modified xsi:type="dcterms:W3CDTF">2026-09-10T18:38:55Z</dcterms:modified>
</cp:coreProperties>
</file>